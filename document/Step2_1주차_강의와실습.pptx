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351" r:id="rId14"/>
    <p:sldId id="269" r:id="rId15"/>
    <p:sldId id="270" r:id="rId16"/>
    <p:sldId id="271" r:id="rId17"/>
    <p:sldId id="272" r:id="rId18"/>
    <p:sldId id="350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44"/>
    <p:restoredTop sz="94610"/>
  </p:normalViewPr>
  <p:slideViewPr>
    <p:cSldViewPr snapToGrid="0" snapToObjects="1">
      <p:cViewPr varScale="1">
        <p:scale>
          <a:sx n="202" d="100"/>
          <a:sy n="202" d="100"/>
        </p:scale>
        <p:origin x="200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303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E6C2A-C23A-E014-8797-67325B420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76566B-3DCE-5862-3D69-023A3BA84A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6683A1-AAB6-AE99-DA87-39866535A7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8E029-845F-A9E1-30F7-4A6E199400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6577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B244D-FD42-BE2A-4A47-19E2D9E6D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>
            <a:extLst>
              <a:ext uri="{FF2B5EF4-FFF2-40B4-BE49-F238E27FC236}">
                <a16:creationId xmlns:a16="http://schemas.microsoft.com/office/drawing/2014/main" id="{4553ED44-7EEC-90A0-59C3-0D869DFAD68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73560" y="4748040"/>
            <a:ext cx="5388120" cy="3884400"/>
          </a:xfrm>
          <a:prstGeom prst="rect">
            <a:avLst/>
          </a:prstGeom>
        </p:spPr>
        <p:txBody>
          <a:bodyPr lIns="94680" tIns="47520" rIns="94680" bIns="47520"/>
          <a:lstStyle/>
          <a:p>
            <a:endParaRPr lang="en-US" sz="2000" b="0" strike="noStrike" spc="-1"/>
          </a:p>
        </p:txBody>
      </p:sp>
      <p:sp>
        <p:nvSpPr>
          <p:cNvPr id="336" name="PlaceHolder 2">
            <a:extLst>
              <a:ext uri="{FF2B5EF4-FFF2-40B4-BE49-F238E27FC236}">
                <a16:creationId xmlns:a16="http://schemas.microsoft.com/office/drawing/2014/main" id="{E58DD15D-63A0-3A5F-B53B-A33D403C86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7988" y="1231900"/>
            <a:ext cx="5919787" cy="3330575"/>
          </a:xfrm>
          <a:prstGeom prst="rect">
            <a:avLst/>
          </a:prstGeom>
        </p:spPr>
      </p:sp>
      <p:sp>
        <p:nvSpPr>
          <p:cNvPr id="337" name="TextShape 3">
            <a:extLst>
              <a:ext uri="{FF2B5EF4-FFF2-40B4-BE49-F238E27FC236}">
                <a16:creationId xmlns:a16="http://schemas.microsoft.com/office/drawing/2014/main" id="{BAECADD7-3475-57AB-8727-B1F203CF65B4}"/>
              </a:ext>
            </a:extLst>
          </p:cNvPr>
          <p:cNvSpPr txBox="1"/>
          <p:nvPr/>
        </p:nvSpPr>
        <p:spPr>
          <a:xfrm>
            <a:off x="3884760" y="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HY견고딕" panose="02030600000101010101" pitchFamily="18" charset="-127"/>
                <a:ea typeface="+mn-ea"/>
              </a:rPr>
              <a:t>2019년 4월 25일</a:t>
            </a:r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6535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5CF392A-7075-7860-5B40-1692E1448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17027-AEC7-402E-9E38-FDA70183B242}" type="datetime1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5156164-45EE-0F1D-E2D6-497A1A56D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4070D2-D670-FB48-B8CC-CAA90374D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5D6D1-097E-45BD-BB54-88CCC5BD27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770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hyperlink" Target="http://dil.cu.ac.k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>
            <a:extLst>
              <a:ext uri="{FF2B5EF4-FFF2-40B4-BE49-F238E27FC236}">
                <a16:creationId xmlns:a16="http://schemas.microsoft.com/office/drawing/2014/main" id="{6267AB01-CD7C-05BF-BA18-AFEA84D7D792}"/>
              </a:ext>
            </a:extLst>
          </p:cNvPr>
          <p:cNvSpPr/>
          <p:nvPr/>
        </p:nvSpPr>
        <p:spPr>
          <a:xfrm>
            <a:off x="731520" y="1280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7FB3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 ·  1주차</a:t>
            </a:r>
            <a:endParaRPr lang="en-US" sz="120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5E111B75-B23E-909C-3906-5E7370BBAB1E}"/>
              </a:ext>
            </a:extLst>
          </p:cNvPr>
          <p:cNvSpPr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정의와 데이터 이해</a:t>
            </a:r>
            <a:endParaRPr lang="en-US" sz="320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4ACC18D7-CF48-B750-1932-A93C12FE607E}"/>
              </a:ext>
            </a:extLst>
          </p:cNvPr>
          <p:cNvSpPr/>
          <p:nvPr/>
        </p:nvSpPr>
        <p:spPr>
          <a:xfrm>
            <a:off x="731520" y="24688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B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손동작과 팔꿈치 각도를 왜 함께 봐야 하는가</a:t>
            </a:r>
            <a:endParaRPr lang="en-US" sz="1400" dirty="0"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0BDF94F0-E3DC-4A2F-B219-67062177D3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320040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1335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DBA2A189-EF3F-782F-7389-A0DC728A4E2A}"/>
              </a:ext>
            </a:extLst>
          </p:cNvPr>
          <p:cNvSpPr/>
          <p:nvPr/>
        </p:nvSpPr>
        <p:spPr>
          <a:xfrm>
            <a:off x="731520" y="33101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50분</a:t>
            </a:r>
            <a:endParaRPr lang="en-US" sz="1200" dirty="0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B916DCE4-7A13-83D1-4C35-A8CFB74AA8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83280" y="320040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1335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E8C77673-299F-DADB-8FE8-02A0B30F411F}"/>
              </a:ext>
            </a:extLst>
          </p:cNvPr>
          <p:cNvSpPr/>
          <p:nvPr/>
        </p:nvSpPr>
        <p:spPr>
          <a:xfrm>
            <a:off x="3383280" y="33101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정리</a:t>
            </a:r>
            <a:endParaRPr lang="en-US" sz="1200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0E57966D-D476-0416-1C1C-00AF51E86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320040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1335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84AE2A1A-14FC-E9D7-5E34-16BD7DCE6D26}"/>
              </a:ext>
            </a:extLst>
          </p:cNvPr>
          <p:cNvSpPr/>
          <p:nvPr/>
        </p:nvSpPr>
        <p:spPr>
          <a:xfrm>
            <a:off x="6035040" y="33101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5단계</a:t>
            </a:r>
            <a:endParaRPr lang="en-US" sz="12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F0EF6A1-8DC6-CA98-7A33-E2501BCCDCA8}"/>
              </a:ext>
            </a:extLst>
          </p:cNvPr>
          <p:cNvSpPr/>
          <p:nvPr/>
        </p:nvSpPr>
        <p:spPr>
          <a:xfrm>
            <a:off x="731520" y="39776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6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주는 모델을 만들지 않는다. 8클래스가 무엇인지 이해하고 신호를 눈으로 보는 것이 전부다.</a:t>
            </a:r>
            <a:endParaRPr lang="en-US" sz="110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7FF2213E-FE91-AA37-BCBB-A8CD2F4EE14B}"/>
              </a:ext>
            </a:extLst>
          </p:cNvPr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 · 안내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진행 방식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설명을 듣고 바로 따라 하면 된다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25880"/>
            <a:ext cx="8046720" cy="676656"/>
          </a:xfrm>
          <a:prstGeom prst="roundRect">
            <a:avLst>
              <a:gd name="adj" fmla="val 8108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5270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강의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57400" y="15453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1536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정의와 배경 — 왜 동시 분류인가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0" y="15453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강의 자료 7~15페이지</a:t>
            </a:r>
            <a:endParaRPr lang="en-US" sz="90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075688"/>
            <a:ext cx="8046720" cy="676656"/>
          </a:xfrm>
          <a:prstGeom prst="roundRect">
            <a:avLst>
              <a:gd name="adj" fmla="val 8108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22768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용어 정리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57400" y="22951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나온 용어를 한 번에 정리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0" y="22951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자료 4~7페이지</a:t>
            </a:r>
            <a:endParaRPr lang="en-US" sz="90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825496"/>
            <a:ext cx="8046720" cy="676656"/>
          </a:xfrm>
          <a:prstGeom prst="roundRect">
            <a:avLst>
              <a:gd name="adj" fmla="val 8108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1520" y="3026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57400" y="3044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3035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확인 → 데이터 확인 → 채널별 신호 보기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0" y="3044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자료 9~13페이지</a:t>
            </a:r>
            <a:endParaRPr lang="en-US" sz="900" dirty="0"/>
          </a:p>
        </p:txBody>
      </p:sp>
      <p:sp>
        <p:nvSpPr>
          <p:cNvPr id="21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575304"/>
            <a:ext cx="8046720" cy="676656"/>
          </a:xfrm>
          <a:prstGeom prst="roundRect">
            <a:avLst>
              <a:gd name="adj" fmla="val 8108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31520" y="37764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과제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057400" y="37947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 주까지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0" y="37856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실습을 마치고 클래스 설계안 제출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0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자료 16페이지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1에서 만든 환경을 그대로 쓴다. 새로 설치할 것은 거의 없다.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 · 강의 요약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강의에서 기억할 여섯 가지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전에 다시 확인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25880"/>
            <a:ext cx="8046720" cy="429768"/>
          </a:xfrm>
          <a:prstGeom prst="roundRect">
            <a:avLst>
              <a:gd name="adj" fmla="val 12766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3944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3944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다차원 의도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40360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손동작만 알아서는 부족하다. 팔이 어느 자세인지도 함께 알아야 기기를 제어할 수 있다</a:t>
            </a:r>
            <a:endParaRPr lang="en-US" sz="95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828800"/>
            <a:ext cx="8046720" cy="429768"/>
          </a:xfrm>
          <a:prstGeom prst="roundRect">
            <a:avLst>
              <a:gd name="adj" fmla="val 12766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31520" y="18973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18973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추가의 대가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190652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IMU 추가는 비용·동기화·착용 부담을 늘릴 수 있다</a:t>
            </a:r>
            <a:endParaRPr lang="en-US" sz="950" dirty="0"/>
          </a:p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331720"/>
            <a:ext cx="8046720" cy="429768"/>
          </a:xfrm>
          <a:prstGeom prst="roundRect">
            <a:avLst>
              <a:gd name="adj" fmla="val 12766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31520" y="24003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24003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8클래스 설계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240944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손동작 4종 × 팔꿈치 각도 2종을 하나의 클래스 집합으로 묶는다</a:t>
            </a:r>
            <a:endParaRPr lang="en-US" sz="950" dirty="0"/>
          </a:p>
        </p:txBody>
      </p:sp>
      <p:sp>
        <p:nvSpPr>
          <p:cNvPr id="18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834640"/>
            <a:ext cx="8046720" cy="429768"/>
          </a:xfrm>
          <a:prstGeom prst="roundRect">
            <a:avLst>
              <a:gd name="adj" fmla="val 12766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31520" y="29032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29032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5채널 배치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291236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전완 3채널과 상완 2채널의 신호로 동작과 각도를 함께 분류한다</a:t>
            </a:r>
            <a:endParaRPr lang="en-US" sz="950" dirty="0"/>
          </a:p>
        </p:txBody>
      </p:sp>
      <p:sp>
        <p:nvSpPr>
          <p:cNvPr id="22" name="Shap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337560"/>
            <a:ext cx="8046720" cy="429768"/>
          </a:xfrm>
          <a:prstGeom prst="roundRect">
            <a:avLst>
              <a:gd name="adj" fmla="val 12766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31520" y="34061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34061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경량 ML 선택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341528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 대신 SVM·RF·XGBoost를 쓴 이유는 예비 타당성 검증이 목적이기 때문이다</a:t>
            </a:r>
            <a:endParaRPr lang="en-US" sz="950" dirty="0"/>
          </a:p>
        </p:txBody>
      </p:sp>
      <p:sp>
        <p:nvSpPr>
          <p:cNvPr id="26" name="Shap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840480"/>
            <a:ext cx="8046720" cy="429768"/>
          </a:xfrm>
          <a:prstGeom prst="roundRect">
            <a:avLst>
              <a:gd name="adj" fmla="val 12766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31520" y="39090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88720" y="39090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1과의 차이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0" y="391820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인증에서는 개인차가 자산이지만, 동작 인식에서는 일반화의 장애물이 된다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455371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문장이 핵심이다. 같은 신호라도 무엇을 묻느냐에 따라 설계가 정반대가 된다.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 · 용어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정리 ① 동작 의도 인식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프로젝트가 푸는 문제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25880"/>
            <a:ext cx="8046720" cy="524866"/>
          </a:xfrm>
          <a:prstGeom prst="roundRect">
            <a:avLst>
              <a:gd name="adj" fmla="val 10453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인간–기계 인터페이스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HMI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926080" y="138074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기계를 조작하는 접점 기술 전반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26080" y="16276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근전 의수·재활 로봇·VR 컨트롤러</a:t>
            </a:r>
            <a:endParaRPr lang="en-US" sz="90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923898"/>
            <a:ext cx="8046720" cy="524866"/>
          </a:xfrm>
          <a:prstGeom prst="roundRect">
            <a:avLst>
              <a:gd name="adj" fmla="val 10453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196961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의도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20736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 intent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926080" y="197876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무엇을 하려는지에 관한 정보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26080" y="222565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근전도에서 읽어내려는 대상</a:t>
            </a:r>
            <a:endParaRPr lang="en-US" sz="90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521915"/>
            <a:ext cx="8046720" cy="524866"/>
          </a:xfrm>
          <a:prstGeom prst="roundRect">
            <a:avLst>
              <a:gd name="adj" fmla="val 10453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1520" y="2567635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2805379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DOF · Degree of freedom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26080" y="2576779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독립적으로 움직일 수 있는 축의 개수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926080" y="2823667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손동작·각도는 두 분류 요인 (해부학적 DOF와 구분)</a:t>
            </a:r>
            <a:endParaRPr lang="en-US" sz="900" dirty="0"/>
          </a:p>
        </p:txBody>
      </p:sp>
      <p:sp>
        <p:nvSpPr>
          <p:cNvPr id="21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119933"/>
            <a:ext cx="8046720" cy="524866"/>
          </a:xfrm>
          <a:prstGeom prst="roundRect">
            <a:avLst>
              <a:gd name="adj" fmla="val 10453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31520" y="3165653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클래스 분류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403397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Multi-class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926080" y="3174797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 이상의 정답 중 하나를 고르는 문제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926080" y="3421685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8클래스 = 4동작 × 2각도</a:t>
            </a:r>
            <a:endParaRPr lang="en-US" sz="900" dirty="0"/>
          </a:p>
        </p:txBody>
      </p:sp>
      <p:sp>
        <p:nvSpPr>
          <p:cNvPr id="26" name="Shap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717950"/>
            <a:ext cx="8046720" cy="524866"/>
          </a:xfrm>
          <a:prstGeom prst="roundRect">
            <a:avLst>
              <a:gd name="adj" fmla="val 10453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31520" y="376367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분류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400141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Simultaneous classification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926080" y="377281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 정보를 한 번에 예측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926080" y="401970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두 축을 곱해 하나의 집합으로 만든다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440740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HMI는 사람이 기계에 의도를 전달하는 모든 통로를 가리킨다. sEMG는 그중 하나다.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 · 용어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정리 ② 근육과 채널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논문에 나온 해부학 용어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25880"/>
            <a:ext cx="5216893" cy="524866"/>
          </a:xfrm>
          <a:prstGeom prst="roundRect">
            <a:avLst>
              <a:gd name="adj" fmla="val 10453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요측수근신근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Extensor Carpi Radialis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926080" y="1380744"/>
            <a:ext cx="22330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손목을 젖히는 근육 (전완 후면)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26080" y="1627632"/>
            <a:ext cx="22330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채널 1</a:t>
            </a:r>
            <a:endParaRPr lang="en-US" sz="90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923898"/>
            <a:ext cx="5216893" cy="524866"/>
          </a:xfrm>
          <a:prstGeom prst="roundRect">
            <a:avLst>
              <a:gd name="adj" fmla="val 10453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196961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총지신근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20736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Extensor Digitorum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926080" y="1978762"/>
            <a:ext cx="22330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손가락을 펴는 근육 (전완 후면)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26080" y="2225650"/>
            <a:ext cx="22330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채널 2</a:t>
            </a:r>
            <a:endParaRPr lang="en-US" sz="90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521915"/>
            <a:ext cx="5216893" cy="524866"/>
          </a:xfrm>
          <a:prstGeom prst="roundRect">
            <a:avLst>
              <a:gd name="adj" fmla="val 10453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1520" y="2567635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천지굴근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2805379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Flexor Digitorum Superficialis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26080" y="2576779"/>
            <a:ext cx="22330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손가락을 굽히는 근육 (전완 전면)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926080" y="2823667"/>
            <a:ext cx="22330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채널 3</a:t>
            </a:r>
            <a:endParaRPr lang="en-US" sz="900" dirty="0"/>
          </a:p>
        </p:txBody>
      </p:sp>
      <p:sp>
        <p:nvSpPr>
          <p:cNvPr id="21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119933"/>
            <a:ext cx="5216893" cy="524866"/>
          </a:xfrm>
          <a:prstGeom prst="roundRect">
            <a:avLst>
              <a:gd name="adj" fmla="val 10453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31520" y="3165653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상완이두근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403397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Biceps Brachii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926080" y="3174797"/>
            <a:ext cx="22330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팔꿈치를 굽히는 근육 (상완 전면)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926080" y="3421685"/>
            <a:ext cx="22330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채널 4</a:t>
            </a:r>
            <a:endParaRPr lang="en-US" sz="900" dirty="0"/>
          </a:p>
        </p:txBody>
      </p:sp>
      <p:sp>
        <p:nvSpPr>
          <p:cNvPr id="26" name="Shap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717950"/>
            <a:ext cx="5216893" cy="524866"/>
          </a:xfrm>
          <a:prstGeom prst="roundRect">
            <a:avLst>
              <a:gd name="adj" fmla="val 10453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31520" y="376367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상완삼두근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400141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Triceps Brachii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926080" y="3772814"/>
            <a:ext cx="22330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팔꿈치를 펴는 근육 (상완 후면)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926080" y="4019702"/>
            <a:ext cx="22330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채널 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440740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근육 기능은 해부학적 설명이다. 논문은 채널별 분류 기여도를 따로 검증하지 않았다.</a:t>
            </a:r>
            <a:endParaRPr lang="en-US" sz="1050" dirty="0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A841FAF7-B13D-92A6-4BE2-EC52E6038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51389" y="1333500"/>
            <a:ext cx="2527623" cy="2914650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EB99C927-F736-1A59-F336-36AD80BA319F}"/>
              </a:ext>
            </a:extLst>
          </p:cNvPr>
          <p:cNvSpPr>
            <a:spLocks noGrp="1"/>
          </p:cNvSpPr>
          <p:nvPr/>
        </p:nvSpPr>
        <p:spPr>
          <a:xfrm>
            <a:off x="6076950" y="4257675"/>
            <a:ext cx="24765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825" b="0">
                <a:solidFill>
                  <a:srgbClr val="5A7184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Fig. 2  논문 전극 배치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 · 용어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정리 ③ 동작 이름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손동작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1" y="1325880"/>
            <a:ext cx="5289082" cy="524866"/>
          </a:xfrm>
          <a:prstGeom prst="roundRect">
            <a:avLst>
              <a:gd name="adj" fmla="val 10453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주먹 쥐기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Fist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926080" y="1380744"/>
            <a:ext cx="24929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손가락을 모두 굽힌 상태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26080" y="1627632"/>
            <a:ext cx="24929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굴근이 강하게 활성</a:t>
            </a:r>
            <a:endParaRPr lang="en-US" sz="90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1" y="1923898"/>
            <a:ext cx="5289082" cy="524866"/>
          </a:xfrm>
          <a:prstGeom prst="roundRect">
            <a:avLst>
              <a:gd name="adj" fmla="val 10453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196961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펴기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20736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926080" y="1978762"/>
            <a:ext cx="24929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손가락을 모두 편 상태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26080" y="2225650"/>
            <a:ext cx="24929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손가락을 펴는 동작</a:t>
            </a:r>
            <a:endParaRPr lang="en-US" sz="90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1" y="2521915"/>
            <a:ext cx="5289082" cy="524866"/>
          </a:xfrm>
          <a:prstGeom prst="roundRect">
            <a:avLst>
              <a:gd name="adj" fmla="val 10453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1520" y="2567635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회내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2805379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Pronation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26080" y="2576779"/>
            <a:ext cx="24929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손등이 위로 오도록 전완 회전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926080" y="2823667"/>
            <a:ext cx="24929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전완을 안쪽으로 회전</a:t>
            </a:r>
            <a:endParaRPr lang="en-US" sz="900" dirty="0"/>
          </a:p>
        </p:txBody>
      </p:sp>
      <p:sp>
        <p:nvSpPr>
          <p:cNvPr id="21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1" y="3119933"/>
            <a:ext cx="5289082" cy="524866"/>
          </a:xfrm>
          <a:prstGeom prst="roundRect">
            <a:avLst>
              <a:gd name="adj" fmla="val 10453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31520" y="3165653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403397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Supination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926080" y="3174797"/>
            <a:ext cx="24929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손바닥이 위로 오도록 전완 회전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926080" y="3421685"/>
            <a:ext cx="24929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상완이두근이 관여</a:t>
            </a:r>
            <a:endParaRPr lang="en-US" sz="900" dirty="0"/>
          </a:p>
        </p:txBody>
      </p:sp>
      <p:sp>
        <p:nvSpPr>
          <p:cNvPr id="26" name="Shap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1" y="3717950"/>
            <a:ext cx="5289082" cy="524866"/>
          </a:xfrm>
          <a:prstGeom prst="roundRect">
            <a:avLst>
              <a:gd name="adj" fmla="val 10453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31520" y="376367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팔꿈치 각도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400141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Elbow angle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926080" y="3772814"/>
            <a:ext cx="24929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30° · 60° 두 조건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926080" y="4019702"/>
            <a:ext cx="24929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플레이트로 자세를 고정해 측정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440740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회내와 회외는 전완을 비트는 동작이다. 논문은 낮은 근활성을 오류 원인으로 입증하지 않았다.</a:t>
            </a:r>
            <a:endParaRPr lang="en-US" sz="1050" dirty="0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87BB7D2F-FBCA-1415-E7FB-B4D7A122A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72175" y="1343151"/>
            <a:ext cx="2647950" cy="2152398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AB825115-B13B-4F30-4A74-F878C4B6EEE8}"/>
              </a:ext>
            </a:extLst>
          </p:cNvPr>
          <p:cNvSpPr>
            <a:spLocks noGrp="1"/>
          </p:cNvSpPr>
          <p:nvPr/>
        </p:nvSpPr>
        <p:spPr>
          <a:xfrm>
            <a:off x="6048375" y="3562350"/>
            <a:ext cx="25336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00" b="0">
                <a:solidFill>
                  <a:srgbClr val="5A718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Fig. 3  (a) Fist · (b) Open</a:t>
            </a:r>
          </a:p>
          <a:p>
            <a:pPr>
              <a:defRPr sz="900" b="0">
                <a:solidFill>
                  <a:srgbClr val="5A718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(c) Pronation · (d) Supination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ADF0D0E-D9B0-6B19-5CD9-0DBE493A2685}"/>
              </a:ext>
            </a:extLst>
          </p:cNvPr>
          <p:cNvSpPr>
            <a:spLocks noGrp="1"/>
          </p:cNvSpPr>
          <p:nvPr/>
        </p:nvSpPr>
        <p:spPr>
          <a:xfrm>
            <a:off x="6048375" y="4067175"/>
            <a:ext cx="253365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각 동작을 30° / 60°에서 측정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 · 용어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정리 ④ 실험 설계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통제된 실험을 만드는 말들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25880"/>
            <a:ext cx="5140127" cy="524866"/>
          </a:xfrm>
          <a:prstGeom prst="roundRect">
            <a:avLst>
              <a:gd name="adj" fmla="val 10453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926080" y="1380744"/>
            <a:ext cx="26502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동작 수행 단위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26080" y="1627632"/>
            <a:ext cx="26502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5초 = 휴식 2 + 동작 1 + 휴식 2</a:t>
            </a:r>
            <a:endParaRPr lang="en-US" sz="90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923898"/>
            <a:ext cx="5140127" cy="524866"/>
          </a:xfrm>
          <a:prstGeom prst="roundRect">
            <a:avLst>
              <a:gd name="adj" fmla="val 10453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196961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 변수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20736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variable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926080" y="1978762"/>
            <a:ext cx="26502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일부러 고정해 두는 조건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26080" y="2225650"/>
            <a:ext cx="26502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메트로놈 60bpm으로 속도 통제</a:t>
            </a:r>
            <a:endParaRPr lang="en-US" sz="90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521915"/>
            <a:ext cx="5140127" cy="524866"/>
          </a:xfrm>
          <a:prstGeom prst="roundRect">
            <a:avLst>
              <a:gd name="adj" fmla="val 10453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1520" y="2567635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교란 변수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2805379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Confounding variable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26080" y="2576779"/>
            <a:ext cx="26502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흐리는 숨은 요인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926080" y="2823667"/>
            <a:ext cx="26502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자세가 매번 달라지면 교란이 된다</a:t>
            </a:r>
            <a:endParaRPr lang="en-US" sz="900" dirty="0"/>
          </a:p>
        </p:txBody>
      </p:sp>
      <p:sp>
        <p:nvSpPr>
          <p:cNvPr id="21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119933"/>
            <a:ext cx="5140127" cy="524866"/>
          </a:xfrm>
          <a:prstGeom prst="roundRect">
            <a:avLst>
              <a:gd name="adj" fmla="val 10453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31520" y="3165653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세그먼트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403397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926080" y="3174797"/>
            <a:ext cx="26502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분석에 쓰는 잘라낸 구간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926080" y="3421685"/>
            <a:ext cx="26502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분석 구간 2초 = 2,000샘플 (동작 수행은 1초)</a:t>
            </a:r>
            <a:endParaRPr lang="en-US" sz="900" dirty="0"/>
          </a:p>
        </p:txBody>
      </p:sp>
      <p:sp>
        <p:nvSpPr>
          <p:cNvPr id="26" name="Shap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717950"/>
            <a:ext cx="5140127" cy="524866"/>
          </a:xfrm>
          <a:prstGeom prst="roundRect">
            <a:avLst>
              <a:gd name="adj" fmla="val 10453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31520" y="376367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세그먼트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400141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Labeled segment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926080" y="3772814"/>
            <a:ext cx="26502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정답이 붙은 데이터 단위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926080" y="4019702"/>
            <a:ext cx="26502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총 1,920개 (8명 × 8클래스 × 30회)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440740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변수를 하나만 바꾸고 나머지를 고정하는 것 — 이것이 실험 설계의 전부다.</a:t>
            </a:r>
            <a:endParaRPr lang="en-US" sz="1050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998A3396-D242-299E-4C25-6A616D0E9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637" y="1086786"/>
            <a:ext cx="2625458" cy="32966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 · 실습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실습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단계, 각 10~15분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25880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37360" y="1463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점검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147218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환경을 그대로 쓰되 추가 패키지만 설치</a:t>
            </a:r>
            <a:endParaRPr lang="en-US" sz="95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947672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31520" y="20848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737360" y="20848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확보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0" y="209397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데이터 또는 대체 공개 데이터 준비</a:t>
            </a:r>
            <a:endParaRPr lang="en-US" sz="950" dirty="0"/>
          </a:p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569464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31520" y="27066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737360" y="27066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구조 파악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27157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클래스별 시행 수와 신호 길이를 숫자로 확인</a:t>
            </a:r>
            <a:endParaRPr lang="en-US" sz="950" dirty="0"/>
          </a:p>
        </p:txBody>
      </p:sp>
      <p:sp>
        <p:nvSpPr>
          <p:cNvPr id="18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191256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31520" y="33284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737360" y="33284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채널별 신호 그리기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0" y="33375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5채널을 나란히 그려 동작 구간을 확인</a:t>
            </a:r>
            <a:endParaRPr lang="en-US" sz="950" dirty="0"/>
          </a:p>
        </p:txBody>
      </p:sp>
      <p:sp>
        <p:nvSpPr>
          <p:cNvPr id="22" name="Shap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813048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31520" y="39502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737360" y="3950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 설계안 작성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0" y="39593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8클래스 구성을 표로 정리하고 근거를 적는다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455371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1과 같은 순서다. 환경 확인 → 데이터 확인 → 눈으로 보기.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 실습 · 단계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점검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설치할 것은 xgboost 하나뿐이다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298448"/>
            <a:ext cx="8046720" cy="502920"/>
          </a:xfrm>
          <a:prstGeom prst="roundRect">
            <a:avLst>
              <a:gd name="adj" fmla="val 10909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13232" y="13898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25880" y="13898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가상환경을 활성화하고 이번 주에 필요한 패키지를 확인한다</a:t>
            </a:r>
            <a:endParaRPr lang="en-US" sz="1100" dirty="0"/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901952"/>
            <a:ext cx="5394960" cy="2688336"/>
          </a:xfrm>
          <a:prstGeom prst="roundRect">
            <a:avLst>
              <a:gd name="adj" fmla="val 204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2029968"/>
            <a:ext cx="512064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5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 프로젝트 폴더에서</a:t>
            </a:r>
            <a:endParaRPr lang="en-US" sz="95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.venv/bin/activate     # Windows: .venv\Scripts\activate</a:t>
            </a:r>
            <a:endParaRPr lang="en-US" sz="950" dirty="0"/>
          </a:p>
          <a:p>
            <a:pPr marL="0" indent="0">
              <a:lnSpc>
                <a:spcPts val="1305"/>
              </a:lnSpc>
              <a:buNone/>
            </a:pPr>
            <a:endParaRPr lang="en-US" sz="95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이번 주 추가 패키지</a:t>
            </a:r>
            <a:endParaRPr lang="en-US" sz="95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xgboost</a:t>
            </a:r>
            <a:endParaRPr lang="en-US" sz="950" dirty="0"/>
          </a:p>
          <a:p>
            <a:pPr marL="0" indent="0">
              <a:lnSpc>
                <a:spcPts val="1305"/>
              </a:lnSpc>
              <a:buNone/>
            </a:pPr>
            <a:endParaRPr lang="en-US" sz="95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확인</a:t>
            </a:r>
            <a:endParaRPr lang="en-US" sz="95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 &lt;&lt;'EOF'</a:t>
            </a:r>
            <a:endParaRPr lang="en-US" sz="95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numpy, scipy, sklearn, xgboost</a:t>
            </a:r>
            <a:endParaRPr lang="en-US" sz="95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print('numpy   ', numpy.__version__)</a:t>
            </a:r>
            <a:endParaRPr lang="en-US" sz="95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print('scipy   ', scipy.__version__)</a:t>
            </a:r>
            <a:endParaRPr lang="en-US" sz="95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print('sklearn ', sklearn.__version__)</a:t>
            </a:r>
            <a:endParaRPr lang="en-US" sz="95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print('xgboost ', xgboost.__version__)</a:t>
            </a:r>
            <a:endParaRPr lang="en-US" sz="95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EOF</a:t>
            </a:r>
            <a:endParaRPr lang="en-US" sz="95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1901952"/>
            <a:ext cx="2468880" cy="2688336"/>
          </a:xfrm>
          <a:prstGeom prst="roundRect">
            <a:avLst>
              <a:gd name="adj" fmla="val 2222"/>
            </a:avLst>
          </a:prstGeom>
          <a:solidFill>
            <a:srgbClr val="E7F1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91072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방법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91072" y="2249424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줄의 버전이 모두 출력되면 성공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xgboost 설치가 실패하면 pip를 최신으로 올릴 것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딥러닝은 이번 주에 쓰지 않는다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환경을 지우지 말 것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 실습 · 단계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확보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 논문 데이터는 요청 기반이므로 대체 경로를 함께 안내한다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298448"/>
            <a:ext cx="8046720" cy="502920"/>
          </a:xfrm>
          <a:prstGeom prst="roundRect">
            <a:avLst>
              <a:gd name="adj" fmla="val 10909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13232" y="13898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25880" y="13898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8클래스 구조를 만들 수 있는 다채널 sEMG 데이터를 확보한다</a:t>
            </a:r>
            <a:endParaRPr lang="en-US" sz="1100" dirty="0"/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901952"/>
            <a:ext cx="5394960" cy="2688336"/>
          </a:xfrm>
          <a:prstGeom prst="roundRect">
            <a:avLst>
              <a:gd name="adj" fmla="val 204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2029968"/>
            <a:ext cx="512064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방법 A: 담당 교수 제공 데이터 (권장)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data/ 폴더에 압축 해제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방법 B: 공개 데이터로 축소 구성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Ninapro DB2 등에서 손동작 4종만 선택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각도 조건이 없으므로 4클래스로 축소해 진행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glob, numpy as np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 = sorted(glob.glob('data/**/*.csv', recursive=True))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print('파일 수:', len(files))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print('예시:', files[0])</a:t>
            </a:r>
            <a:endParaRPr lang="en-US" sz="95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1901952"/>
            <a:ext cx="2468880" cy="2688336"/>
          </a:xfrm>
          <a:prstGeom prst="roundRect">
            <a:avLst>
              <a:gd name="adj" fmla="val 2222"/>
            </a:avLst>
          </a:prstGeom>
          <a:solidFill>
            <a:srgbClr val="E7F1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91072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방법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91072" y="2249424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 B로 진행하는 경우 리포트에 그 사실을 명시할 것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각도 조건이 없으면 4클래스로 축소해도 된다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이름에 클래스 정보가 들어 있는지 확인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구조를 먼저 종이에 그려볼 것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 실습 · 단계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구조 파악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짜기 전에 숫자부터 센다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298448"/>
            <a:ext cx="8046720" cy="502920"/>
          </a:xfrm>
          <a:prstGeom prst="roundRect">
            <a:avLst>
              <a:gd name="adj" fmla="val 10909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13232" y="13898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25880" y="13898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8클래스가 고르게 들어 있는지, 신호 길이가 일정한지 확인한다</a:t>
            </a:r>
            <a:endParaRPr lang="en-US" sz="1100" dirty="0"/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901952"/>
            <a:ext cx="5394960" cy="2688336"/>
          </a:xfrm>
          <a:prstGeom prst="roundRect">
            <a:avLst>
              <a:gd name="adj" fmla="val 204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2029968"/>
            <a:ext cx="512064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Counter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label_of(path):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예: 30_fist_trial01.csv -&gt; '30_fist'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'_'.join(os.path.basename(path).split('_')[:2])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 = [label_of(f) for f in files]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print(Counter(labels))              # 클래스별 개수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np.loadtxt(files[0], delimiter=',')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print('배열 모양:', x.shape)         # 예: (5000, 5)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print('채널 수:', x.shape[1])</a:t>
            </a:r>
            <a:endParaRPr lang="en-US" sz="95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1901952"/>
            <a:ext cx="2468880" cy="2688336"/>
          </a:xfrm>
          <a:prstGeom prst="roundRect">
            <a:avLst>
              <a:gd name="adj" fmla="val 2222"/>
            </a:avLst>
          </a:prstGeom>
          <a:solidFill>
            <a:srgbClr val="E7F1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91072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방법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91072" y="2249424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8클래스가 각각 비슷한 개수여야 정상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5초 시행 파일: 5000샘플, 2초 분석 파일: 2000샘플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클래스별 개수가 크게 다르면 불균형 문제를 기록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 규칙이 다르면 label_of 를 수정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 실습 · 단계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채널별 신호 그리기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실습의 핵심 — 데이터를 눈으로 본다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298448"/>
            <a:ext cx="8046720" cy="502920"/>
          </a:xfrm>
          <a:prstGeom prst="roundRect">
            <a:avLst>
              <a:gd name="adj" fmla="val 10909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13232" y="13898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25880" y="13898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휴식–동작–휴식 3구간이 보이는지, 채널마다 다르게 반응하는지 확인한다</a:t>
            </a:r>
            <a:endParaRPr lang="en-US" sz="1100" dirty="0"/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901952"/>
            <a:ext cx="5394960" cy="2688336"/>
          </a:xfrm>
          <a:prstGeom prst="roundRect">
            <a:avLst>
              <a:gd name="adj" fmla="val 204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2029968"/>
            <a:ext cx="512064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5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950" dirty="0"/>
          </a:p>
          <a:p>
            <a:pPr marL="0" indent="0">
              <a:lnSpc>
                <a:spcPts val="1305"/>
              </a:lnSpc>
              <a:buNone/>
            </a:pPr>
            <a:endParaRPr lang="en-US" sz="95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np.loadtxt(files[0], delimiter=',')</a:t>
            </a:r>
            <a:endParaRPr lang="en-US" sz="95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np.arange(len(x)) / 1000.0</a:t>
            </a:r>
            <a:endParaRPr lang="en-US" sz="95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 = ['ECR','ED','FDS','Biceps','Triceps']</a:t>
            </a:r>
            <a:endParaRPr lang="en-US" sz="950" dirty="0"/>
          </a:p>
          <a:p>
            <a:pPr marL="0" indent="0">
              <a:lnSpc>
                <a:spcPts val="1305"/>
              </a:lnSpc>
              <a:buNone/>
            </a:pPr>
            <a:endParaRPr lang="en-US" sz="95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 = plt.subplots(5, 1, figsize=(10, 7), sharex=True)</a:t>
            </a:r>
            <a:endParaRPr lang="en-US" sz="95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ch in range(5):</a:t>
            </a:r>
            <a:endParaRPr lang="en-US" sz="95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ax[ch].plot(t, x[:, ch], lw=0.5)</a:t>
            </a:r>
            <a:endParaRPr lang="en-US" sz="95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ax[ch].set_ylabel(names[ch], fontsize=8)</a:t>
            </a:r>
            <a:endParaRPr lang="en-US" sz="95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ax[ch].axvline(2.0, color='r', ls='--')</a:t>
            </a:r>
            <a:endParaRPr lang="en-US" sz="95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ax[ch].axvline(3.0, color='r', ls='--')</a:t>
            </a:r>
            <a:endParaRPr lang="en-US" sz="95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ax[4].set_xlabel('time (s)')</a:t>
            </a:r>
            <a:endParaRPr lang="en-US" sz="95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plt.tight_layout(); plt.savefig('ch5_example.png', dpi=120)</a:t>
            </a:r>
            <a:endParaRPr lang="en-US" sz="95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1901952"/>
            <a:ext cx="2468880" cy="2688336"/>
          </a:xfrm>
          <a:prstGeom prst="roundRect">
            <a:avLst>
              <a:gd name="adj" fmla="val 2222"/>
            </a:avLst>
          </a:prstGeom>
          <a:solidFill>
            <a:srgbClr val="E7F1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91072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방법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91072" y="2249424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2~3초 표시는 시행 시작에 정렬된 5초 파일 기준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동작별 채널 진폭을 관찰해 기록한다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30°와 60°에서 채널별 차이를 관찰한다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동작의 두 각도를 나란히 그려볼 것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AFE32-9A71-6767-7EEE-7417FEF78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3CD8D5E-27EE-C69D-4880-FA28BD565319}"/>
              </a:ext>
            </a:extLst>
          </p:cNvPr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 </a:t>
            </a:r>
            <a:r>
              <a:rPr lang="en-US" sz="1000" kern="0" spc="100" dirty="0" err="1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r>
              <a:rPr lang="en-US" altLang="ko-KR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</a:t>
            </a:r>
            <a:r>
              <a:rPr lang="ko-KR" alt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단계 </a:t>
            </a:r>
            <a:r>
              <a:rPr lang="en-US" altLang="ko-KR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43D5C5-8509-2F04-8405-201E9174A216}"/>
              </a:ext>
            </a:extLst>
          </p:cNvPr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</a:rPr>
              <a:t>클래스 </a:t>
            </a:r>
            <a:r>
              <a:rPr lang="ko-KR" altLang="en-US" sz="2600" b="1" dirty="0" err="1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</a:rPr>
              <a:t>설계안</a:t>
            </a:r>
            <a:r>
              <a:rPr lang="ko-KR" alt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</a:rPr>
              <a:t> 작성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0A67F1C-645A-76F2-C5CE-8F4AAF1A142E}"/>
              </a:ext>
            </a:extLst>
          </p:cNvPr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아니라 문서로 남기는 과제</a:t>
            </a:r>
            <a:endParaRPr lang="en-US" sz="1200" dirty="0"/>
          </a:p>
        </p:txBody>
      </p:sp>
      <p:sp>
        <p:nvSpPr>
          <p:cNvPr id="42" name="Shape 4">
            <a:extLst>
              <a:ext uri="{FF2B5EF4-FFF2-40B4-BE49-F238E27FC236}">
                <a16:creationId xmlns:a16="http://schemas.microsoft.com/office/drawing/2014/main" id="{2D611B9A-2A58-8A0A-C778-15134A8524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298448"/>
            <a:ext cx="8046720" cy="502920"/>
          </a:xfrm>
          <a:prstGeom prst="roundRect">
            <a:avLst>
              <a:gd name="adj" fmla="val 10909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5">
            <a:extLst>
              <a:ext uri="{FF2B5EF4-FFF2-40B4-BE49-F238E27FC236}">
                <a16:creationId xmlns:a16="http://schemas.microsoft.com/office/drawing/2014/main" id="{FDBE6C35-4518-6679-7583-908A7839A89E}"/>
              </a:ext>
            </a:extLst>
          </p:cNvPr>
          <p:cNvSpPr/>
          <p:nvPr/>
        </p:nvSpPr>
        <p:spPr>
          <a:xfrm>
            <a:off x="713232" y="13898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950" dirty="0"/>
          </a:p>
        </p:txBody>
      </p:sp>
      <p:sp>
        <p:nvSpPr>
          <p:cNvPr id="44" name="Text 6">
            <a:extLst>
              <a:ext uri="{FF2B5EF4-FFF2-40B4-BE49-F238E27FC236}">
                <a16:creationId xmlns:a16="http://schemas.microsoft.com/office/drawing/2014/main" id="{07643748-A146-86EF-55DA-7438DA36A81B}"/>
              </a:ext>
            </a:extLst>
          </p:cNvPr>
          <p:cNvSpPr/>
          <p:nvPr/>
        </p:nvSpPr>
        <p:spPr>
          <a:xfrm>
            <a:off x="1325880" y="13898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이렇게 클래스를 나누었는지 설명하는 한 페이지를 만든다</a:t>
            </a:r>
            <a:endParaRPr lang="en-US" sz="11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C167010E-1A6D-440A-DFD1-42694E45B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6027" y="1895015"/>
            <a:ext cx="8046720" cy="466344"/>
          </a:xfrm>
          <a:prstGeom prst="roundRect">
            <a:avLst>
              <a:gd name="adj" fmla="val 11765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8CA1E225-722A-017C-5867-4DE5797DACB5}"/>
              </a:ext>
            </a:extLst>
          </p:cNvPr>
          <p:cNvSpPr/>
          <p:nvPr/>
        </p:nvSpPr>
        <p:spPr>
          <a:xfrm>
            <a:off x="673187" y="1968167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r>
              <a:rPr lang="en-US" altLang="ko-KR" sz="100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</a:t>
            </a:r>
            <a:r>
              <a:rPr lang="en-US" altLang="ko-KR" sz="10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</a:t>
            </a:r>
            <a:endParaRPr lang="en-US" altLang="ko-KR" sz="10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31F34631-8CE3-E61A-E0A7-1E27ED7A30B0}"/>
              </a:ext>
            </a:extLst>
          </p:cNvPr>
          <p:cNvSpPr/>
          <p:nvPr/>
        </p:nvSpPr>
        <p:spPr>
          <a:xfrm>
            <a:off x="2639147" y="1968167"/>
            <a:ext cx="5669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8개 </a:t>
            </a:r>
            <a:r>
              <a:rPr lang="en-US" altLang="ko-KR" sz="1000" dirty="0" err="1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</a:t>
            </a:r>
            <a:r>
              <a:rPr lang="en-US" altLang="ko-KR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이름과</a:t>
            </a:r>
            <a:r>
              <a:rPr lang="en-US" altLang="ko-KR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각각의</a:t>
            </a:r>
            <a:r>
              <a:rPr lang="en-US" altLang="ko-KR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정의를</a:t>
            </a:r>
            <a:r>
              <a:rPr lang="en-US" altLang="ko-KR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표로</a:t>
            </a:r>
            <a:endParaRPr lang="en-US" altLang="ko-KR" sz="10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E49256AE-87DB-FE49-8DCC-F1037326D511}"/>
              </a:ext>
            </a:extLst>
          </p:cNvPr>
          <p:cNvSpPr/>
          <p:nvPr/>
        </p:nvSpPr>
        <p:spPr>
          <a:xfrm>
            <a:off x="673187" y="2471087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</a:t>
            </a:r>
            <a:r>
              <a:rPr lang="en-US" altLang="ko-KR" sz="100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</a:t>
            </a:r>
            <a:r>
              <a:rPr lang="en-US" altLang="ko-KR" sz="10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</a:t>
            </a:r>
            <a:endParaRPr lang="en-US" altLang="ko-KR" sz="10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38F97937-CAD0-AD94-BEEC-18164CBB6DD7}"/>
              </a:ext>
            </a:extLst>
          </p:cNvPr>
          <p:cNvSpPr/>
          <p:nvPr/>
        </p:nvSpPr>
        <p:spPr>
          <a:xfrm>
            <a:off x="2639147" y="2471087"/>
            <a:ext cx="5669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 err="1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채널별</a:t>
            </a:r>
            <a:r>
              <a:rPr lang="en-US" altLang="ko-KR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</a:t>
            </a:r>
            <a:r>
              <a:rPr lang="en-US" altLang="ko-KR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근육과</a:t>
            </a:r>
            <a:r>
              <a:rPr lang="en-US" altLang="ko-KR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부착</a:t>
            </a:r>
            <a:r>
              <a:rPr lang="en-US" altLang="ko-KR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위치를</a:t>
            </a:r>
            <a:r>
              <a:rPr lang="en-US" altLang="ko-KR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표로</a:t>
            </a:r>
            <a:endParaRPr lang="en-US" altLang="ko-KR" sz="1000" dirty="0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3957926-71BD-DACA-9DF9-5319F6BE2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6027" y="2900855"/>
            <a:ext cx="8046720" cy="466344"/>
          </a:xfrm>
          <a:prstGeom prst="roundRect">
            <a:avLst>
              <a:gd name="adj" fmla="val 11765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7081301E-2A5F-CDEA-9E36-7FABB5B4C257}"/>
              </a:ext>
            </a:extLst>
          </p:cNvPr>
          <p:cNvSpPr/>
          <p:nvPr/>
        </p:nvSpPr>
        <p:spPr>
          <a:xfrm>
            <a:off x="673187" y="2974007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</a:t>
            </a:r>
            <a:r>
              <a:rPr lang="en-US" altLang="ko-KR" sz="100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r>
              <a:rPr lang="en-US" altLang="ko-KR" sz="10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altLang="ko-KR" sz="10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345785B-DB8C-3AA3-3707-667D8464126E}"/>
              </a:ext>
            </a:extLst>
          </p:cNvPr>
          <p:cNvSpPr/>
          <p:nvPr/>
        </p:nvSpPr>
        <p:spPr>
          <a:xfrm>
            <a:off x="2639147" y="2974007"/>
            <a:ext cx="5669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 err="1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</a:t>
            </a:r>
            <a:r>
              <a:rPr lang="en-US" altLang="ko-KR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</a:t>
            </a:r>
            <a:r>
              <a:rPr lang="en-US" altLang="ko-KR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축을</a:t>
            </a:r>
            <a:r>
              <a:rPr lang="en-US" altLang="ko-KR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곱해</a:t>
            </a:r>
            <a:r>
              <a:rPr lang="en-US" altLang="ko-KR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하나로</a:t>
            </a:r>
            <a:r>
              <a:rPr lang="en-US" altLang="ko-KR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묶었는지</a:t>
            </a:r>
            <a:r>
              <a:rPr lang="en-US" altLang="ko-KR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</a:t>
            </a:r>
            <a:r>
              <a:rPr lang="en-US" altLang="ko-KR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</a:t>
            </a:r>
            <a:endParaRPr lang="en-US" altLang="ko-KR" sz="10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94584D43-FEB6-69C2-4B0F-969981341237}"/>
              </a:ext>
            </a:extLst>
          </p:cNvPr>
          <p:cNvSpPr/>
          <p:nvPr/>
        </p:nvSpPr>
        <p:spPr>
          <a:xfrm>
            <a:off x="673187" y="3476927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</a:t>
            </a:r>
            <a:r>
              <a:rPr lang="en-US" altLang="ko-KR" sz="100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대안</a:t>
            </a:r>
            <a:r>
              <a:rPr lang="en-US" altLang="ko-KR" sz="10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</a:t>
            </a:r>
            <a:endParaRPr lang="en-US" altLang="ko-KR" sz="10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36937BEE-139D-FFA5-D855-81B880F6D4BD}"/>
              </a:ext>
            </a:extLst>
          </p:cNvPr>
          <p:cNvSpPr/>
          <p:nvPr/>
        </p:nvSpPr>
        <p:spPr>
          <a:xfrm>
            <a:off x="2639147" y="3476927"/>
            <a:ext cx="5669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 err="1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동작과</a:t>
            </a:r>
            <a:r>
              <a:rPr lang="en-US" altLang="ko-KR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각도를</a:t>
            </a:r>
            <a:r>
              <a:rPr lang="en-US" altLang="ko-KR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</a:t>
            </a:r>
            <a:r>
              <a:rPr lang="en-US" altLang="ko-KR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예측하는</a:t>
            </a:r>
            <a:r>
              <a:rPr lang="en-US" altLang="ko-KR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방식과</a:t>
            </a:r>
            <a:r>
              <a:rPr lang="en-US" altLang="ko-KR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비교해</a:t>
            </a:r>
            <a:r>
              <a:rPr lang="en-US" altLang="ko-KR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장단점</a:t>
            </a:r>
            <a:endParaRPr lang="en-US" altLang="ko-KR" sz="1000" dirty="0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1C04A6A5-444D-62CD-D6A0-E6A0EEB2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6027" y="3906695"/>
            <a:ext cx="8046720" cy="466344"/>
          </a:xfrm>
          <a:prstGeom prst="roundRect">
            <a:avLst>
              <a:gd name="adj" fmla="val 11765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869619C2-12AC-250B-812D-B47B8E3F03CC}"/>
              </a:ext>
            </a:extLst>
          </p:cNvPr>
          <p:cNvSpPr/>
          <p:nvPr/>
        </p:nvSpPr>
        <p:spPr>
          <a:xfrm>
            <a:off x="673187" y="3979847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</a:t>
            </a:r>
            <a:r>
              <a:rPr lang="en-US" altLang="ko-KR" sz="100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r>
              <a:rPr lang="en-US" altLang="ko-KR" sz="10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</a:t>
            </a:r>
            <a:r>
              <a:rPr lang="en-US" altLang="ko-KR" sz="10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altLang="ko-KR" sz="1000" dirty="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5180F239-AAEF-CDC4-27A7-390D7DBAE190}"/>
              </a:ext>
            </a:extLst>
          </p:cNvPr>
          <p:cNvSpPr/>
          <p:nvPr/>
        </p:nvSpPr>
        <p:spPr>
          <a:xfrm>
            <a:off x="2639147" y="3979847"/>
            <a:ext cx="5669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 err="1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각도를</a:t>
            </a:r>
            <a:r>
              <a:rPr lang="en-US" altLang="ko-KR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3종·4종으로 </a:t>
            </a:r>
            <a:r>
              <a:rPr lang="en-US" altLang="ko-KR" sz="1000" dirty="0" err="1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늘리면</a:t>
            </a:r>
            <a:r>
              <a:rPr lang="en-US" altLang="ko-KR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</a:t>
            </a:r>
            <a:r>
              <a:rPr lang="en-US" altLang="ko-KR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문제가</a:t>
            </a:r>
            <a:r>
              <a:rPr lang="en-US" altLang="ko-KR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되는가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524238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 · 점검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여기까지 됐으면 정상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확인하는 체크포인트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25880"/>
            <a:ext cx="8046720" cy="2157984"/>
          </a:xfrm>
          <a:prstGeom prst="roundRect">
            <a:avLst>
              <a:gd name="adj" fmla="val 2542"/>
            </a:avLst>
          </a:prstGeom>
          <a:solidFill>
            <a:srgbClr val="E7F1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4447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안에 확인할 것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773936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가상환경에서 xgboost import 가 된다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파일 개수와 클래스별 분포를 셌다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파일의 신호 길이와 5채널 구성을 확인했다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ch5_example.png 에서 5채널 파형을 확인했다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구간의 채널별 파형을 관찰했다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 설계안 한 페이지를 작성했다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62102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구하지 못했다면 이번 주 안에 반드시 질문할 것. 다음 주 실습이 막힌다.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 · 문제 해결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나는 오류와 해결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 여기서 막힌다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4356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</a:t>
            </a:r>
            <a:endParaRPr lang="en-US" sz="95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137160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743200" y="1435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</a:t>
            </a:r>
            <a:endParaRPr lang="en-US" sz="95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4880" y="1371600"/>
            <a:ext cx="384048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754880" y="14356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95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773936"/>
            <a:ext cx="8046720" cy="431597"/>
          </a:xfrm>
          <a:prstGeom prst="roundRect">
            <a:avLst>
              <a:gd name="adj" fmla="val 12712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58368" y="1837944"/>
            <a:ext cx="197510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xgboost 설치 실패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852928" y="1837944"/>
            <a:ext cx="179222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 버전이 낮음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64608" y="1837944"/>
            <a:ext cx="362102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 install --upgrade pip 후 재시도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8368" y="2306117"/>
            <a:ext cx="197510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 개수가 안 맞음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852928" y="2306117"/>
            <a:ext cx="179222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 규칙이 예상과 다름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64608" y="2306117"/>
            <a:ext cx="362102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label_of 함수를 데이터에 맞게 수정</a:t>
            </a:r>
            <a:endParaRPr lang="en-US" sz="950" dirty="0"/>
          </a:p>
        </p:txBody>
      </p:sp>
      <p:sp>
        <p:nvSpPr>
          <p:cNvPr id="19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710282"/>
            <a:ext cx="8046720" cy="431597"/>
          </a:xfrm>
          <a:prstGeom prst="roundRect">
            <a:avLst>
              <a:gd name="adj" fmla="val 12712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58368" y="2774290"/>
            <a:ext cx="197510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수가 5가 아님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852928" y="2774290"/>
            <a:ext cx="179222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전치되어 저장된 경우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64608" y="2774290"/>
            <a:ext cx="362102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x.shape 확인 후 x.T 로 변환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8368" y="3242462"/>
            <a:ext cx="197510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구간이 안 보임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852928" y="3242462"/>
            <a:ext cx="179222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 길이나 구간 위치가 다름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64608" y="3242462"/>
            <a:ext cx="362102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전체를 그려보고 경계 위치를 눈으로 찾기</a:t>
            </a:r>
            <a:endParaRPr lang="en-US" sz="950" dirty="0"/>
          </a:p>
        </p:txBody>
      </p:sp>
      <p:sp>
        <p:nvSpPr>
          <p:cNvPr id="26" name="Shap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646627"/>
            <a:ext cx="8046720" cy="431597"/>
          </a:xfrm>
          <a:prstGeom prst="roundRect">
            <a:avLst>
              <a:gd name="adj" fmla="val 12712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58368" y="3710635"/>
            <a:ext cx="197510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클래스별 개수가 크게 다름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852928" y="3710635"/>
            <a:ext cx="179222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과정의 누락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64608" y="3710635"/>
            <a:ext cx="362102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불균형 사실을 리포트에 기록하고 진행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논문과 다르면 그 차이를 기록하는 것까지가 과제다. 억지로 맞추려 하지 말 것.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 · 과제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제출물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 강의 전까지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8046720" cy="466344"/>
          </a:xfrm>
          <a:prstGeom prst="roundRect">
            <a:avLst>
              <a:gd name="adj" fmla="val 11765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1444752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환경 확인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51760" y="1444752"/>
            <a:ext cx="5669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 버전 출력 화면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947672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데이터 요약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51760" y="1947672"/>
            <a:ext cx="5669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클래스별 시행 수 · 배열 모양 · 채널 수 표</a:t>
            </a:r>
            <a:endParaRPr lang="en-US" sz="100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377440"/>
            <a:ext cx="8046720" cy="466344"/>
          </a:xfrm>
          <a:prstGeom prst="roundRect">
            <a:avLst>
              <a:gd name="adj" fmla="val 11765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85800" y="2450592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신호 그림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51760" y="2450592"/>
            <a:ext cx="5669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5채널 파형 그림 (동작 구간 표시)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953512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비교 관찰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51760" y="2953512"/>
            <a:ext cx="5669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동작의 30°와 60° 신호 비교 + 차이점 서술</a:t>
            </a:r>
            <a:endParaRPr lang="en-US" sz="100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383280"/>
            <a:ext cx="8046720" cy="466344"/>
          </a:xfrm>
          <a:prstGeom prst="roundRect">
            <a:avLst>
              <a:gd name="adj" fmla="val 11765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85800" y="3456432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클래스 설계안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51760" y="3456432"/>
            <a:ext cx="5669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항목을 채운 한 페이지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3959352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형식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51760" y="3959352"/>
            <a:ext cx="5669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노트북(.ipynb) 또는 PDF 1개 · 저장소 링크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55371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④번이 핵심이다. 각도가 바뀌면 신호가 어떻게 달라지는지 자기 눈으로 확인한 기록이 필요하다.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 · 마무리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주에 할 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미리보기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3931920" cy="1920240"/>
          </a:xfrm>
          <a:prstGeom prst="roundRect">
            <a:avLst>
              <a:gd name="adj" fmla="val 2857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481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 강의 내용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810512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 — 노치와 대역통과 필터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2초 세그먼트와 200ms 윈도우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시간영역 특징 5종의 수식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25차원 특징 벡터와 표준화</a:t>
            </a:r>
            <a:endParaRPr lang="en-US" sz="1050" dirty="0"/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371600"/>
            <a:ext cx="3931920" cy="1920240"/>
          </a:xfrm>
          <a:prstGeom prst="roundRect">
            <a:avLst>
              <a:gd name="adj" fmla="val 2857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846320" y="1481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 실습에서 만들 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810512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필터를 적용한 신호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200ms 단위 윈도우들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RMS·MAV·WL·ZC·SSC 구현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25차원 특징 데이터셋</a:t>
            </a:r>
            <a:endParaRPr lang="en-US" sz="105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520440"/>
            <a:ext cx="8046720" cy="1051560"/>
          </a:xfrm>
          <a:prstGeom prst="roundRect">
            <a:avLst>
              <a:gd name="adj" fmla="val 5217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6301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 해두면 좋은 것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주에 그린 5채널 그림을 저장해 둘 것 — 다음 주 필터 전후 비교에 쓴다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1의 필터 코드를 찾아둘 것. 대역만 바꾸면 그대로 쓸 수 있다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정리 4~7페이지를 한 번 더 읽으면 다음 주 강의가 쉬워진다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AF05A-210D-B1B3-EC1D-E80ACA546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871;p82">
            <a:extLst>
              <a:ext uri="{FF2B5EF4-FFF2-40B4-BE49-F238E27FC236}">
                <a16:creationId xmlns:a16="http://schemas.microsoft.com/office/drawing/2014/main" id="{570111DA-86E2-BC5C-C36B-8613C42EF54D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0" y="0"/>
            <a:ext cx="9143820" cy="5143230"/>
          </a:xfrm>
          <a:prstGeom prst="rect">
            <a:avLst/>
          </a:prstGeom>
          <a:ln>
            <a:noFill/>
          </a:ln>
        </p:spPr>
      </p:pic>
      <p:sp>
        <p:nvSpPr>
          <p:cNvPr id="140" name="CustomShape 1">
            <a:extLst>
              <a:ext uri="{FF2B5EF4-FFF2-40B4-BE49-F238E27FC236}">
                <a16:creationId xmlns:a16="http://schemas.microsoft.com/office/drawing/2014/main" id="{0877C4FB-95EF-23EC-F478-7A00E0331363}"/>
              </a:ext>
            </a:extLst>
          </p:cNvPr>
          <p:cNvSpPr/>
          <p:nvPr/>
        </p:nvSpPr>
        <p:spPr>
          <a:xfrm>
            <a:off x="3800266" y="1220966"/>
            <a:ext cx="5219910" cy="70767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530" tIns="45630" rIns="91530" bIns="45630"/>
          <a:lstStyle/>
          <a:p>
            <a:pPr algn="ctr">
              <a:lnSpc>
                <a:spcPct val="100000"/>
              </a:lnSpc>
            </a:pPr>
            <a:r>
              <a:rPr lang="en-US" altLang="ko-KR" sz="4005" b="1" spc="-1" dirty="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Thank you</a:t>
            </a:r>
            <a:endParaRPr lang="ko-KR" altLang="en-US" sz="4005" b="1" spc="-1" dirty="0">
              <a:solidFill>
                <a:srgbClr val="FFFFFF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5013E9-8E74-7C2D-60BA-34BEA517D45F}"/>
              </a:ext>
            </a:extLst>
          </p:cNvPr>
          <p:cNvSpPr txBox="1"/>
          <p:nvPr/>
        </p:nvSpPr>
        <p:spPr>
          <a:xfrm>
            <a:off x="4770436" y="3876675"/>
            <a:ext cx="358457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5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Http://dil.cu.ac.kr/</a:t>
            </a:r>
            <a:r>
              <a:rPr lang="en-US" altLang="ko-KR" sz="1350" dirty="0">
                <a:solidFill>
                  <a:schemeClr val="bg1"/>
                </a:solidFill>
              </a:rPr>
              <a:t> </a:t>
            </a:r>
            <a:r>
              <a:rPr lang="ko-KR" altLang="en-US" sz="1350" dirty="0">
                <a:solidFill>
                  <a:schemeClr val="bg1"/>
                </a:solidFill>
              </a:rPr>
              <a:t>데이터 지능 연구실</a:t>
            </a:r>
          </a:p>
        </p:txBody>
      </p:sp>
      <p:pic>
        <p:nvPicPr>
          <p:cNvPr id="5" name="그림 4" descr="텍스트, 폰트, 그래픽, 그래픽 디자인이(가) 표시된 사진&#10;&#10;자동 생성된 설명">
            <a:extLst>
              <a:ext uri="{FF2B5EF4-FFF2-40B4-BE49-F238E27FC236}">
                <a16:creationId xmlns:a16="http://schemas.microsoft.com/office/drawing/2014/main" id="{5A6F3B02-DD84-057E-71AF-CF4DB78CDE1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975" y="2037364"/>
            <a:ext cx="3619499" cy="1812304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FE24B2-CE09-C44F-9363-2B82CBF01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5D6D1-097E-45BD-BB54-88CCC5BD276E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5063457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1963</Words>
  <Application>Microsoft Macintosh PowerPoint</Application>
  <PresentationFormat>화면 슬라이드 쇼(16:9)</PresentationFormat>
  <Paragraphs>378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Malgun Gothic</vt:lpstr>
      <vt:lpstr>HY견고딕</vt:lpstr>
      <vt:lpstr>Arial</vt:lpstr>
      <vt:lpstr>Consolas</vt:lpstr>
      <vt:lpstr>Times New Roman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대희 김</cp:lastModifiedBy>
  <cp:revision>33</cp:revision>
  <dcterms:created xsi:type="dcterms:W3CDTF">2026-08-21T14:45:25Z</dcterms:created>
  <dcterms:modified xsi:type="dcterms:W3CDTF">2026-10-06T08:07:31Z</dcterms:modified>
</cp:coreProperties>
</file>