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350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676F17-1B9A-47A8-94D3-3D9CFA6B1A2C}" v="6" dt="2026-10-06T06:29:22.3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88"/>
    <p:restoredTop sz="94610"/>
  </p:normalViewPr>
  <p:slideViewPr>
    <p:cSldViewPr snapToGrid="0" snapToObjects="1">
      <p:cViewPr varScale="1">
        <p:scale>
          <a:sx n="209" d="100"/>
          <a:sy n="209" d="100"/>
        </p:scale>
        <p:origin x="604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8947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B244D-FD42-BE2A-4A47-19E2D9E6D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>
            <a:extLst>
              <a:ext uri="{FF2B5EF4-FFF2-40B4-BE49-F238E27FC236}">
                <a16:creationId xmlns:a16="http://schemas.microsoft.com/office/drawing/2014/main" id="{4553ED44-7EEC-90A0-59C3-0D869DFAD68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73560" y="4748040"/>
            <a:ext cx="5388120" cy="3884400"/>
          </a:xfrm>
          <a:prstGeom prst="rect">
            <a:avLst/>
          </a:prstGeom>
        </p:spPr>
        <p:txBody>
          <a:bodyPr lIns="94680" tIns="47520" rIns="94680" bIns="47520"/>
          <a:lstStyle/>
          <a:p>
            <a:endParaRPr lang="en-US" sz="2000" b="0" strike="noStrike" spc="-1"/>
          </a:p>
        </p:txBody>
      </p:sp>
      <p:sp>
        <p:nvSpPr>
          <p:cNvPr id="336" name="PlaceHolder 2">
            <a:extLst>
              <a:ext uri="{FF2B5EF4-FFF2-40B4-BE49-F238E27FC236}">
                <a16:creationId xmlns:a16="http://schemas.microsoft.com/office/drawing/2014/main" id="{E58DD15D-63A0-3A5F-B53B-A33D403C8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7988" y="1231900"/>
            <a:ext cx="5919787" cy="3330575"/>
          </a:xfrm>
          <a:prstGeom prst="rect">
            <a:avLst/>
          </a:prstGeom>
        </p:spPr>
      </p:sp>
      <p:sp>
        <p:nvSpPr>
          <p:cNvPr id="337" name="TextShape 3">
            <a:extLst>
              <a:ext uri="{FF2B5EF4-FFF2-40B4-BE49-F238E27FC236}">
                <a16:creationId xmlns:a16="http://schemas.microsoft.com/office/drawing/2014/main" id="{BAECADD7-3475-57AB-8727-B1F203CF65B4}"/>
              </a:ext>
            </a:extLst>
          </p:cNvPr>
          <p:cNvSpPr txBox="1"/>
          <p:nvPr/>
        </p:nvSpPr>
        <p:spPr>
          <a:xfrm>
            <a:off x="3884760" y="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HY견고딕" panose="02030600000101010101" pitchFamily="18" charset="-127"/>
                <a:ea typeface="+mn-ea"/>
              </a:rPr>
              <a:t>2019년 4월 25일</a:t>
            </a:r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6535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5CF392A-7075-7860-5B40-1692E1448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17027-AEC7-402E-9E38-FDA70183B242}" type="datetime1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5156164-45EE-0F1D-E2D6-497A1A56D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4070D2-D670-FB48-B8CC-CAA90374D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5D6D1-097E-45BD-BB54-88CCC5BD27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821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hyperlink" Target="http://dil.cu.ac.k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7FB3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 ·  3주차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비교와 통계 검정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B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모델을 같은 조건에서 겨루게 하고 차이를 검정한다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1335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33101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50분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320040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1335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383280" y="33101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정리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320040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1335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035040" y="33101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6단계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9776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6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주의 핵심 문장 — 수치가 높다고 더 좋은 모델이라고 말할 수는 없다.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· 안내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진행 방식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8046720" cy="676656"/>
          </a:xfrm>
          <a:prstGeom prst="roundRect">
            <a:avLst>
              <a:gd name="adj" fmla="val 8108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527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강의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57400" y="15453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1536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SVM · RF · XGBoost · 검증 · 검정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0" y="1545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강의 자료 31~52페이지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075688"/>
            <a:ext cx="8046720" cy="676656"/>
          </a:xfrm>
          <a:prstGeom prst="roundRect">
            <a:avLst>
              <a:gd name="adj" fmla="val 8108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22768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용어 정리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57400" y="22951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모델과 검증 용어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0" y="22951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자료 4~7페이지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825496"/>
            <a:ext cx="8046720" cy="676656"/>
          </a:xfrm>
          <a:prstGeom prst="roundRect">
            <a:avLst>
              <a:gd name="adj" fmla="val 8108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026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57400" y="3044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3035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→ 평가 → 교차검증 → 검정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0" y="3044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자료 9~15페이지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575304"/>
            <a:ext cx="8046720" cy="676656"/>
          </a:xfrm>
          <a:prstGeom prst="roundRect">
            <a:avLst>
              <a:gd name="adj" fmla="val 8108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1520" y="37764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최종 제출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57400" y="37947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3주차 자정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0" y="37856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리포트와 코드 저장소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자료 18페이지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지난주 dataset.npz 를 만들어 두었다면 오늘 실습은 그 파일을 불러오는 것부터 시작한다.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· 강의 요약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강의에서 기억할 여섯 가지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전에 다시 확인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8046720" cy="429768"/>
          </a:xfrm>
          <a:prstGeom prst="roundRect">
            <a:avLst>
              <a:gd name="adj" fmla="val 12766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394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3944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40360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RBF 커널로 비선형 경계를 그린다. 표준화가 반드시 필요하다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8046720" cy="429768"/>
          </a:xfrm>
          <a:prstGeom prst="roundRect">
            <a:avLst>
              <a:gd name="adj" fmla="val 12766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18973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18973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190652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트리 100개의 다수결. 분산을 줄여 과적합에 강하다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331720"/>
            <a:ext cx="8046720" cy="429768"/>
          </a:xfrm>
          <a:prstGeom prst="roundRect">
            <a:avLst>
              <a:gd name="adj" fmla="val 12766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31520" y="24003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4003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XGBoost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240944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앞선 트리의 오차를 다음 트리가 보정한다. 학습이 느리다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834640"/>
            <a:ext cx="8046720" cy="429768"/>
          </a:xfrm>
          <a:prstGeom prst="roundRect">
            <a:avLst>
              <a:gd name="adj" fmla="val 12766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31520" y="29032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29032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검증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291236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hold-out으로 빠르게, 5-fold로 안정성까지 본다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337560"/>
            <a:ext cx="8046720" cy="429768"/>
          </a:xfrm>
          <a:prstGeom prst="roundRect">
            <a:avLst>
              <a:gd name="adj" fmla="val 12766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31520" y="34061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34061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검정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341528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모델의 차이가 우연인지 대응표본 t-검정으로 판단한다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840480"/>
            <a:ext cx="8046720" cy="429768"/>
          </a:xfrm>
          <a:prstGeom prst="roundRect">
            <a:avLst>
              <a:gd name="adj" fmla="val 12766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" y="39090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39090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논문의 결론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391820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RF가 96.72%로 1위였지만 세 모델 간 차이는 유의하지 않았다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45537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줄이 이 논문에서 가장 중요한 교훈이다. 1위라는 사실만으로는 주장이 되지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· 용어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정리 ① 세 가지 모델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각각 무엇이 다른가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364980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서포트 벡터 머신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26080" y="1380744"/>
            <a:ext cx="30924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클래스를 가르는 최대 마진 경계를 찾는다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6080" y="1627632"/>
            <a:ext cx="30924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RBF 커널 · 표준화 필수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923898"/>
            <a:ext cx="5364980" cy="524866"/>
          </a:xfrm>
          <a:prstGeom prst="roundRect">
            <a:avLst>
              <a:gd name="adj" fmla="val 10453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196961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20736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926080" y="1978762"/>
            <a:ext cx="30924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고차원으로 보내 비선형 경계를 만드는 기법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26080" y="2225650"/>
            <a:ext cx="30924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rbf = 가장 널리 쓰이는 기본값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521915"/>
            <a:ext cx="5364980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2567635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랜덤 포레스트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805379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Forest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26080" y="2576779"/>
            <a:ext cx="30924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결정 트리의 다수결 (앙상블)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26080" y="2823667"/>
            <a:ext cx="30924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트리 100개 · 분산 감소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119933"/>
            <a:ext cx="5364980" cy="524866"/>
          </a:xfrm>
          <a:prstGeom prst="roundRect">
            <a:avLst>
              <a:gd name="adj" fmla="val 10453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1520" y="3165653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403397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Boosting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926080" y="3174797"/>
            <a:ext cx="30924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모델의 오차를 다음 모델이 보정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26080" y="3421685"/>
            <a:ext cx="30924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XGBoost의 학습 방식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717950"/>
            <a:ext cx="5364980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" y="376367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앙상블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00141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Ensemble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926080" y="3772814"/>
            <a:ext cx="30924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모델을 묶어 하나처럼 쓰는 것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926080" y="4019702"/>
            <a:ext cx="30924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RF와 XGBoost 모두 앙상블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4074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모델은 데이터를 나누는 방식이 근본적으로 다르다. 그래서 같은 데이터에서도 결과가 달라진다.</a:t>
            </a:r>
            <a:endParaRPr lang="en-US" sz="1050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AAAC8833-DBBB-4C97-B68B-218C2B686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012" y="1087619"/>
            <a:ext cx="2687959" cy="33644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· 용어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정리 ② 하이퍼파라미터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모델마다 정해줘야 하는 값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035196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하이퍼파라미터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Hyperparameter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26080" y="1380744"/>
            <a:ext cx="25078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전에 사람이 정하는 값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6080" y="1627632"/>
            <a:ext cx="25078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트리 개수 · 커널 종류 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923898"/>
            <a:ext cx="5035196" cy="524866"/>
          </a:xfrm>
          <a:prstGeom prst="roundRect">
            <a:avLst>
              <a:gd name="adj" fmla="val 10453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196961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n_estimators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20736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926080" y="1978762"/>
            <a:ext cx="25078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앙상블에 쓸 트리의 개수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26080" y="2225650"/>
            <a:ext cx="25078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RF는 100, XGBoost는 400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521915"/>
            <a:ext cx="5035196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2567635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max_depth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805379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26080" y="2576779"/>
            <a:ext cx="25078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트리를 얼마나 깊게 키울지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26080" y="2823667"/>
            <a:ext cx="25078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XGBoost는 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119933"/>
            <a:ext cx="5035196" cy="524866"/>
          </a:xfrm>
          <a:prstGeom prst="roundRect">
            <a:avLst>
              <a:gd name="adj" fmla="val 10453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1520" y="3165653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learning_rate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403397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926080" y="3174797"/>
            <a:ext cx="25078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얼마나 크게 고칠지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26080" y="3421685"/>
            <a:ext cx="25078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XGBoost는 0.05 (보수적)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717950"/>
            <a:ext cx="5035196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" y="376367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random_state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00141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926080" y="3772814"/>
            <a:ext cx="25078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무작위성을 고정하는 씨앗값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926080" y="4019702"/>
            <a:ext cx="25078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42 — 재현성 확보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4074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논문은 SVM·RF는 기본값을, XGBoost만 예비 튜닝을 했다. 완전히 대칭적인 비교는 아니라는 점을 기억할 것.</a:t>
            </a:r>
            <a:endParaRPr lang="en-US" sz="1050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7A98F9B9-E658-D6B0-DB7D-C07E5A41B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497" y="1050561"/>
            <a:ext cx="2506481" cy="32706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· 용어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정리 ③ 평가와 검증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믿을 수 있게 만들기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308821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홀드아웃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Hold-out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26080" y="1380744"/>
            <a:ext cx="17121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나눠 학습·평가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6080" y="1627632"/>
            <a:ext cx="17121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빠르지만 분할 운에 좌우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923898"/>
            <a:ext cx="5308821" cy="524866"/>
          </a:xfrm>
          <a:prstGeom prst="roundRect">
            <a:avLst>
              <a:gd name="adj" fmla="val 10453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196961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교차검증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20736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Cross-validation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926080" y="1978762"/>
            <a:ext cx="17121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번 나눠 평균낸다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26080" y="2225650"/>
            <a:ext cx="17121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5-fold 사용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521915"/>
            <a:ext cx="5308821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2567635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층화 K-fold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805379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StratifiedKFold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26080" y="2576779"/>
            <a:ext cx="17121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폴드에 클래스 비율 유지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26080" y="2823667"/>
            <a:ext cx="17121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8클래스가 고르게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119933"/>
            <a:ext cx="5308821" cy="524866"/>
          </a:xfrm>
          <a:prstGeom prst="roundRect">
            <a:avLst>
              <a:gd name="adj" fmla="val 10453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1520" y="3165653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Macro F1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403397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926080" y="3174797"/>
            <a:ext cx="17121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클래스별 F1의 단순 평균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26080" y="3421685"/>
            <a:ext cx="17121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소수 클래스를 동등하게 취급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717950"/>
            <a:ext cx="5308821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" y="376367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표준편차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00141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 deviation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926080" y="3772814"/>
            <a:ext cx="17121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폴드 간 성능의 흔들림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926080" y="4019702"/>
            <a:ext cx="17121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이번 폴드 간 변동을 나타냄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4074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400"/>
              </a:lnSpc>
            </a:pP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평균만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쓰면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절반만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보고한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것이다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표준편차를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적을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105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6777B99-1CCC-08D3-A81D-573E31C4ACEA}"/>
              </a:ext>
            </a:extLst>
          </p:cNvPr>
          <p:cNvSpPr>
            <a:spLocks noGrp="1"/>
          </p:cNvSpPr>
          <p:nvPr/>
        </p:nvSpPr>
        <p:spPr>
          <a:xfrm>
            <a:off x="6048375" y="1371600"/>
            <a:ext cx="25527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75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향후 검증: LOSO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3CBFEF3-E90B-D51F-8E22-D7C1AFC53464}"/>
              </a:ext>
            </a:extLst>
          </p:cNvPr>
          <p:cNvSpPr>
            <a:spLocks noGrp="1"/>
          </p:cNvSpPr>
          <p:nvPr/>
        </p:nvSpPr>
        <p:spPr>
          <a:xfrm>
            <a:off x="6076950" y="1885950"/>
            <a:ext cx="523875" cy="361950"/>
          </a:xfrm>
          <a:prstGeom prst="rect">
            <a:avLst/>
          </a:prstGeom>
          <a:solidFill>
            <a:srgbClr val="15697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2F5FDBA-26CA-6517-687C-D06A402E1D40}"/>
              </a:ext>
            </a:extLst>
          </p:cNvPr>
          <p:cNvSpPr>
            <a:spLocks noGrp="1"/>
          </p:cNvSpPr>
          <p:nvPr/>
        </p:nvSpPr>
        <p:spPr>
          <a:xfrm>
            <a:off x="6219825" y="19526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0215988-7D9F-DAC1-F4F7-1F9C55D5492F}"/>
              </a:ext>
            </a:extLst>
          </p:cNvPr>
          <p:cNvSpPr>
            <a:spLocks noGrp="1"/>
          </p:cNvSpPr>
          <p:nvPr/>
        </p:nvSpPr>
        <p:spPr>
          <a:xfrm>
            <a:off x="6696075" y="1885950"/>
            <a:ext cx="523875" cy="361950"/>
          </a:xfrm>
          <a:prstGeom prst="rect">
            <a:avLst/>
          </a:prstGeom>
          <a:solidFill>
            <a:srgbClr val="15697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A43E73F-7523-67F5-18F0-4F1B2D167200}"/>
              </a:ext>
            </a:extLst>
          </p:cNvPr>
          <p:cNvSpPr>
            <a:spLocks noGrp="1"/>
          </p:cNvSpPr>
          <p:nvPr/>
        </p:nvSpPr>
        <p:spPr>
          <a:xfrm>
            <a:off x="6838950" y="19526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2D71FE1-D8B5-CF29-B397-C1CCC2259A29}"/>
              </a:ext>
            </a:extLst>
          </p:cNvPr>
          <p:cNvSpPr>
            <a:spLocks noGrp="1"/>
          </p:cNvSpPr>
          <p:nvPr/>
        </p:nvSpPr>
        <p:spPr>
          <a:xfrm>
            <a:off x="7315200" y="1885950"/>
            <a:ext cx="523875" cy="361950"/>
          </a:xfrm>
          <a:prstGeom prst="rect">
            <a:avLst/>
          </a:prstGeom>
          <a:solidFill>
            <a:srgbClr val="15697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6C5DC64-7263-135C-84DA-911831C27609}"/>
              </a:ext>
            </a:extLst>
          </p:cNvPr>
          <p:cNvSpPr>
            <a:spLocks noGrp="1"/>
          </p:cNvSpPr>
          <p:nvPr/>
        </p:nvSpPr>
        <p:spPr>
          <a:xfrm>
            <a:off x="7458075" y="19526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B251C47-6BBF-747A-6244-F4171F4AAAAC}"/>
              </a:ext>
            </a:extLst>
          </p:cNvPr>
          <p:cNvSpPr>
            <a:spLocks noGrp="1"/>
          </p:cNvSpPr>
          <p:nvPr/>
        </p:nvSpPr>
        <p:spPr>
          <a:xfrm>
            <a:off x="7934325" y="1885950"/>
            <a:ext cx="523875" cy="361950"/>
          </a:xfrm>
          <a:prstGeom prst="rect">
            <a:avLst/>
          </a:prstGeom>
          <a:solidFill>
            <a:srgbClr val="15697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B0DF0E1-3FD1-AC12-C45A-9F829278B166}"/>
              </a:ext>
            </a:extLst>
          </p:cNvPr>
          <p:cNvSpPr>
            <a:spLocks noGrp="1"/>
          </p:cNvSpPr>
          <p:nvPr/>
        </p:nvSpPr>
        <p:spPr>
          <a:xfrm>
            <a:off x="8077200" y="1952625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6E014B8-812A-E937-5DA0-6CC525C53916}"/>
              </a:ext>
            </a:extLst>
          </p:cNvPr>
          <p:cNvSpPr>
            <a:spLocks noGrp="1"/>
          </p:cNvSpPr>
          <p:nvPr/>
        </p:nvSpPr>
        <p:spPr>
          <a:xfrm>
            <a:off x="6076950" y="2409825"/>
            <a:ext cx="523875" cy="361950"/>
          </a:xfrm>
          <a:prstGeom prst="rect">
            <a:avLst/>
          </a:prstGeom>
          <a:solidFill>
            <a:srgbClr val="15697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D9B6FD8-0E7F-03F7-8FEA-83760E239238}"/>
              </a:ext>
            </a:extLst>
          </p:cNvPr>
          <p:cNvSpPr>
            <a:spLocks noGrp="1"/>
          </p:cNvSpPr>
          <p:nvPr/>
        </p:nvSpPr>
        <p:spPr>
          <a:xfrm>
            <a:off x="6219825" y="2476500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74C35B5-D592-E229-4873-C7CEB63990AC}"/>
              </a:ext>
            </a:extLst>
          </p:cNvPr>
          <p:cNvSpPr>
            <a:spLocks noGrp="1"/>
          </p:cNvSpPr>
          <p:nvPr/>
        </p:nvSpPr>
        <p:spPr>
          <a:xfrm>
            <a:off x="6696075" y="2409825"/>
            <a:ext cx="523875" cy="361950"/>
          </a:xfrm>
          <a:prstGeom prst="rect">
            <a:avLst/>
          </a:prstGeom>
          <a:solidFill>
            <a:srgbClr val="15697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448BDF2-273D-7326-819B-B152FEF67FEB}"/>
              </a:ext>
            </a:extLst>
          </p:cNvPr>
          <p:cNvSpPr>
            <a:spLocks noGrp="1"/>
          </p:cNvSpPr>
          <p:nvPr/>
        </p:nvSpPr>
        <p:spPr>
          <a:xfrm>
            <a:off x="6838950" y="2476500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A612838-A5EE-EA3F-C2C9-5EA343E2125C}"/>
              </a:ext>
            </a:extLst>
          </p:cNvPr>
          <p:cNvSpPr>
            <a:spLocks noGrp="1"/>
          </p:cNvSpPr>
          <p:nvPr/>
        </p:nvSpPr>
        <p:spPr>
          <a:xfrm>
            <a:off x="7315200" y="2409825"/>
            <a:ext cx="523875" cy="361950"/>
          </a:xfrm>
          <a:prstGeom prst="rect">
            <a:avLst/>
          </a:prstGeom>
          <a:solidFill>
            <a:srgbClr val="15697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F6B4071-2486-6D11-BA10-C402F3B2251A}"/>
              </a:ext>
            </a:extLst>
          </p:cNvPr>
          <p:cNvSpPr>
            <a:spLocks noGrp="1"/>
          </p:cNvSpPr>
          <p:nvPr/>
        </p:nvSpPr>
        <p:spPr>
          <a:xfrm>
            <a:off x="7458075" y="2476500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8737BD2-53D6-2590-205F-18F59353026A}"/>
              </a:ext>
            </a:extLst>
          </p:cNvPr>
          <p:cNvSpPr>
            <a:spLocks noGrp="1"/>
          </p:cNvSpPr>
          <p:nvPr/>
        </p:nvSpPr>
        <p:spPr>
          <a:xfrm>
            <a:off x="7934325" y="2409825"/>
            <a:ext cx="523875" cy="361950"/>
          </a:xfrm>
          <a:prstGeom prst="rect">
            <a:avLst/>
          </a:prstGeom>
          <a:solidFill>
            <a:srgbClr val="B5651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14D79F9-E9F0-2D99-9B22-7CB6D2E602A6}"/>
              </a:ext>
            </a:extLst>
          </p:cNvPr>
          <p:cNvSpPr>
            <a:spLocks noGrp="1"/>
          </p:cNvSpPr>
          <p:nvPr/>
        </p:nvSpPr>
        <p:spPr>
          <a:xfrm>
            <a:off x="8077200" y="2476500"/>
            <a:ext cx="2857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EC1DBFA-2525-68B5-7C55-9441FA37D293}"/>
              </a:ext>
            </a:extLst>
          </p:cNvPr>
          <p:cNvSpPr>
            <a:spLocks noGrp="1"/>
          </p:cNvSpPr>
          <p:nvPr/>
        </p:nvSpPr>
        <p:spPr>
          <a:xfrm>
            <a:off x="6048375" y="3114675"/>
            <a:ext cx="25336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050" b="0">
                <a:solidFill>
                  <a:srgbClr val="5A718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7명 학습 / 남은 1명 평가</a:t>
            </a:r>
          </a:p>
          <a:p>
            <a:pPr>
              <a:defRPr sz="1050" b="0">
                <a:solidFill>
                  <a:srgbClr val="5A718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평가 피험자를 바꾸어 반복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7E1337E-108D-B360-689B-B33BB7706842}"/>
              </a:ext>
            </a:extLst>
          </p:cNvPr>
          <p:cNvSpPr>
            <a:spLocks noGrp="1"/>
          </p:cNvSpPr>
          <p:nvPr/>
        </p:nvSpPr>
        <p:spPr>
          <a:xfrm>
            <a:off x="6048375" y="3857625"/>
            <a:ext cx="25336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 dirty="0" err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논문은</a:t>
            </a:r>
            <a:r>
              <a:rPr sz="975" b="1" dirty="0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 trial-wise </a:t>
            </a:r>
            <a:r>
              <a:rPr sz="975" b="1" dirty="0" err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결과만</a:t>
            </a:r>
            <a:r>
              <a:rPr sz="975" b="1" dirty="0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1" dirty="0" err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보고</a:t>
            </a:r>
            <a:endParaRPr sz="975" b="1" dirty="0">
              <a:solidFill>
                <a:srgbClr val="15697F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975" b="1">
                <a:solidFill>
                  <a:srgbClr val="15697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 dirty="0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LOSO </a:t>
            </a:r>
            <a:r>
              <a:rPr sz="975" b="1" dirty="0" err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성능은</a:t>
            </a:r>
            <a:r>
              <a:rPr sz="975" b="1" dirty="0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1" dirty="0" err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후속</a:t>
            </a:r>
            <a:r>
              <a:rPr sz="975" b="1" dirty="0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1" dirty="0" err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연구</a:t>
            </a:r>
            <a:r>
              <a:rPr sz="975" b="1" dirty="0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1" dirty="0" err="1">
                <a:solidFill>
                  <a:srgbClr val="15697F"/>
                </a:solidFill>
                <a:latin typeface="Malgun Gothic"/>
                <a:ea typeface="Malgun Gothic"/>
                <a:cs typeface="Malgun Gothic"/>
              </a:rPr>
              <a:t>과제</a:t>
            </a:r>
            <a:endParaRPr sz="975" b="1" dirty="0">
              <a:solidFill>
                <a:srgbClr val="15697F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· 용어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정리 ④ 통계 검정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귀무가설 아래 차이의 증거 평가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357485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검정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Hypothesis test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26080" y="1380744"/>
            <a:ext cx="29725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자료가 귀무가설과 얼마나 부합하는지 평가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6080" y="1627632"/>
            <a:ext cx="29725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모델 비교에 사용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923898"/>
            <a:ext cx="5357485" cy="524866"/>
          </a:xfrm>
          <a:prstGeom prst="roundRect">
            <a:avLst>
              <a:gd name="adj" fmla="val 10453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196961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대응표본 t-검정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20736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Paired t-test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926080" y="1978762"/>
            <a:ext cx="29725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조건에서 짝지어 비교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26080" y="2225650"/>
            <a:ext cx="29725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폴드별 정확도를 짝으로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521915"/>
            <a:ext cx="5357485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2567635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p-value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805379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26080" y="2576779"/>
            <a:ext cx="29725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귀무가설 아래 관찰 이상으로 극단적인 통계량의 확률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26080" y="2823667"/>
            <a:ext cx="29725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0.05 미만이면 유의하다고 본다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119933"/>
            <a:ext cx="5357485" cy="524866"/>
          </a:xfrm>
          <a:prstGeom prst="roundRect">
            <a:avLst>
              <a:gd name="adj" fmla="val 10453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1520" y="3165653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유의수준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403397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Significance level (α)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926080" y="3174797"/>
            <a:ext cx="29725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기준선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26080" y="3421685"/>
            <a:ext cx="29725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보통 0.05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717950"/>
            <a:ext cx="5357485" cy="524866"/>
          </a:xfrm>
          <a:prstGeom prst="roundRect">
            <a:avLst>
              <a:gd name="adj" fmla="val 10453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" y="376367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비모수 검정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00141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Non-parametric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926080" y="3772814"/>
            <a:ext cx="29725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정규분포를 가정하지 않는 검정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926080" y="4019702"/>
            <a:ext cx="29725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작은 표본에서 항상 더 안전한 것은 아님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4074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400"/>
              </a:lnSpc>
            </a:pP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&lt; 0.05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유의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그보다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크면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차이를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주장할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없다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논문은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0.05를 </a:t>
            </a:r>
            <a:r>
              <a:rPr lang="en-US" altLang="ko-KR" sz="1050" b="1" dirty="0" err="1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넘었다</a:t>
            </a:r>
            <a:r>
              <a:rPr lang="en-US" altLang="ko-KR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1050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55C3AAF3-4486-BAC6-DF61-344222645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963" y="939114"/>
            <a:ext cx="2671328" cy="3398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· 실습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실습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단계 — 지난주 데이터셋에서 시작한다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8046720" cy="445008"/>
          </a:xfrm>
          <a:prstGeom prst="roundRect">
            <a:avLst>
              <a:gd name="adj" fmla="val 12329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411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37360" y="14112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모델 학습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1420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데이터·같은 분할로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1844040"/>
            <a:ext cx="8046720" cy="445008"/>
          </a:xfrm>
          <a:prstGeom prst="roundRect">
            <a:avLst>
              <a:gd name="adj" fmla="val 12329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19293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37360" y="19293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hold-out 평가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19385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지표를 한 번에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362200"/>
            <a:ext cx="8046720" cy="445008"/>
          </a:xfrm>
          <a:prstGeom prst="roundRect">
            <a:avLst>
              <a:gd name="adj" fmla="val 12329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31520" y="2447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37360" y="24475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혼동행렬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24566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8클래스 오류 지도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8046720" cy="445008"/>
          </a:xfrm>
          <a:prstGeom prst="roundRect">
            <a:avLst>
              <a:gd name="adj" fmla="val 12329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31520" y="29657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737360" y="2965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5-fold 교차검증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29748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5개 분할에서 변동을 확인한다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398520"/>
            <a:ext cx="8046720" cy="445008"/>
          </a:xfrm>
          <a:prstGeom prst="roundRect">
            <a:avLst>
              <a:gd name="adj" fmla="val 12329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31520" y="34838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737360" y="34838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검정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34930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차이가 우연인지 판단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916680"/>
            <a:ext cx="8046720" cy="445008"/>
          </a:xfrm>
          <a:prstGeom prst="roundRect">
            <a:avLst>
              <a:gd name="adj" fmla="val 12329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" y="40020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737360" y="40020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비용과 리포트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40111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외의 축을 측정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45537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교차검증은 학습을 5번 반복하므로 시간이 걸린다. 먼저 돌려놓고 다른 단계를 진행할 것.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실습 · 단계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모델 학습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조건이 하나라도 다르면 비교가 성립하지 않는다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13232" y="1389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25880" y="13898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SVM · RF · XGBoost를 동일 조건에서 학습한다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5394960" cy="2688336"/>
          </a:xfrm>
          <a:prstGeom prst="roundRect">
            <a:avLst>
              <a:gd name="adj" fmla="val 204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2029968"/>
            <a:ext cx="512064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sklearn.svm import SVC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LabelEncoder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RandomForestClassifier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xgboost import XGBClassifier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np.load('dataset.npz', allow_pickle=True)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Xtr, ytr, Xte, yte = d['Xtr'], d['ytr'], d['Xte'], d['yte']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= LabelEncoder(); ytr = le.fit_transform(ytr)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yte = le.transform(yte)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 = {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'SVM': SVC(kernel='rbf', C=1.0, gamma='scale',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decision_function_shape='ovr'),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'RF' : RandomForestClassifier(n_estimators=100,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random_state=42, n_jobs=-1),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'XGB': XGBClassifier(n_estimators=400, max_depth=6,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learning_rate=0.05, subsample=0.9,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colsample_bytree=0.8, random_state=42),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k, m in models.items():</a:t>
            </a:r>
            <a:endParaRPr lang="en-US" sz="750" dirty="0"/>
          </a:p>
          <a:p>
            <a:pPr marL="0" indent="0">
              <a:lnSpc>
                <a:spcPts val="962"/>
              </a:lnSpc>
              <a:buNone/>
            </a:pPr>
            <a:r>
              <a:rPr lang="en-US" sz="7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m.fit(Xtr, ytr); print(k, '학습 완료')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126480" y="1901952"/>
            <a:ext cx="2468880" cy="2688336"/>
          </a:xfrm>
          <a:prstGeom prst="roundRect">
            <a:avLst>
              <a:gd name="adj" fmla="val 2222"/>
            </a:avLst>
          </a:prstGeom>
          <a:solidFill>
            <a:srgbClr val="E7F1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91072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방법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91072" y="2249424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줄의 학습 완료가 출력되면 성공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XGBoost는 라벨을 0부터 시작하는 정수로 바꿔야 한다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SVM이 오래 걸리면 샘플 수를 먼저 확인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random_state 를 고정해야 다음에도 같은 결과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실습 · 단계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hold-out 평가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정확도만 보지 않는다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13232" y="1389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25880" y="13898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· 정밀도 · 재현율 · F1을 세 모델에 대해 산출한다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5394960" cy="2688336"/>
          </a:xfrm>
          <a:prstGeom prst="roundRect">
            <a:avLst>
              <a:gd name="adj" fmla="val 204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2029968"/>
            <a:ext cx="512064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(accuracy_score,</a:t>
            </a: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precision_score, recall_score, f1_score)</a:t>
            </a: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= []</a:t>
            </a: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k, m in models.items():</a:t>
            </a: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 = m.predict(Xte)</a:t>
            </a: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rows.append([k,</a:t>
            </a: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accuracy_score(yte, p),</a:t>
            </a: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precision_score(yte, p, average='macro'),</a:t>
            </a: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recall_score(yte, p, average='macro'),</a:t>
            </a: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f1_score(yte, p, average='macro')])</a:t>
            </a: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pd.DataFrame(rows, columns=</a:t>
            </a: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['model','acc','precision','recall','f1'])</a:t>
            </a: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print(df.round(4))</a:t>
            </a:r>
            <a:endParaRPr lang="en-US" sz="879" dirty="0"/>
          </a:p>
        </p:txBody>
      </p:sp>
      <p:sp>
        <p:nvSpPr>
          <p:cNvPr id="11" name="Shape 9"/>
          <p:cNvSpPr/>
          <p:nvPr/>
        </p:nvSpPr>
        <p:spPr>
          <a:xfrm>
            <a:off x="6126480" y="1901952"/>
            <a:ext cx="2468880" cy="2688336"/>
          </a:xfrm>
          <a:prstGeom prst="roundRect">
            <a:avLst>
              <a:gd name="adj" fmla="val 2222"/>
            </a:avLst>
          </a:prstGeom>
          <a:solidFill>
            <a:srgbClr val="E7F1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91072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방법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91072" y="2249424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행 네 열의 표가 출력되면 성공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지표가 비슷해도 클래스별 오류는 따로 확인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Table 2와 비교해 볼 것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macro 평균은 실습 선택임을 리포트에 명시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실습 · 단계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혼동행렬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간 오류와 각도 간 오류를 구분한다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13232" y="1389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25880" y="13898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클래스끼리 헷갈리는지 찾고 그 구조를 해석한다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5394960" cy="2688336"/>
          </a:xfrm>
          <a:prstGeom prst="roundRect">
            <a:avLst>
              <a:gd name="adj" fmla="val 204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2029968"/>
            <a:ext cx="512064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confusion_matrix</a:t>
            </a: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le.classes_  # 실제 인코딩 순서</a:t>
            </a: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 = confusion_matrix(yte, models['RF'].predict(Xte))</a:t>
            </a: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 = plt.subplots(figsize=(6, 5))</a:t>
            </a: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 = ax.imshow(cm, cmap='Blues')</a:t>
            </a: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ax.set_xticks(range(8), L, rotation=45)</a:t>
            </a: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ax.set_yticks(range(8), L)</a:t>
            </a: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range(8):</a:t>
            </a: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range(8):</a:t>
            </a: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cm[i,j]: ax.text(j, i, cm[i,j], ha='center',</a:t>
            </a: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va='center', fontsize=8)</a:t>
            </a: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plt.colorbar(im); plt.tight_layout()</a:t>
            </a:r>
            <a:endParaRPr lang="en-US" sz="879" dirty="0"/>
          </a:p>
          <a:p>
            <a:pPr marL="0" indent="0">
              <a:lnSpc>
                <a:spcPts val="1142"/>
              </a:lnSpc>
              <a:buNone/>
            </a:pPr>
            <a:r>
              <a:rPr lang="en-US" sz="879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plt.savefig('confusion8.png', dpi=120)</a:t>
            </a:r>
            <a:endParaRPr lang="en-US" sz="879" dirty="0"/>
          </a:p>
        </p:txBody>
      </p:sp>
      <p:sp>
        <p:nvSpPr>
          <p:cNvPr id="11" name="Shape 9"/>
          <p:cNvSpPr/>
          <p:nvPr/>
        </p:nvSpPr>
        <p:spPr>
          <a:xfrm>
            <a:off x="6126480" y="1901952"/>
            <a:ext cx="2468880" cy="2688336"/>
          </a:xfrm>
          <a:prstGeom prst="roundRect">
            <a:avLst>
              <a:gd name="adj" fmla="val 2222"/>
            </a:avLst>
          </a:prstGeom>
          <a:solidFill>
            <a:srgbClr val="E7F1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91072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방법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91072" y="2249424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대각선이 진하게 나오면 정상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행·열의 실제 동작과 각도 라벨을 대조한다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인접 칸이라는 이유만으로 오류 종류를 단정하지 않는다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논문은 같은 동작의 두 각도 간 혼동을 주요 오류로 설명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실습 · 단계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5-fold 교차검증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평균과 표준편차를 함께 구한다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13232" y="1389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25880" y="13898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모델의 5-fold 평균 정확도와 표준편차를 산출한다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5394960" cy="2688336"/>
          </a:xfrm>
          <a:prstGeom prst="roundRect">
            <a:avLst>
              <a:gd name="adj" fmla="val 204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2029968"/>
            <a:ext cx="512064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18"/>
              </a:lnSpc>
              <a:buNone/>
            </a:pPr>
            <a:r>
              <a:rPr lang="en-US" sz="937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StratifiedKFold</a:t>
            </a:r>
            <a:endParaRPr lang="en-US" sz="937" dirty="0"/>
          </a:p>
          <a:p>
            <a:pPr marL="0" indent="0">
              <a:lnSpc>
                <a:spcPts val="1218"/>
              </a:lnSpc>
              <a:buNone/>
            </a:pPr>
            <a:r>
              <a:rPr lang="en-US" sz="937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sklearn.base import clone</a:t>
            </a:r>
            <a:endParaRPr lang="en-US" sz="937" dirty="0"/>
          </a:p>
          <a:p>
            <a:pPr marL="0" indent="0">
              <a:lnSpc>
                <a:spcPts val="1218"/>
              </a:lnSpc>
              <a:buNone/>
            </a:pPr>
            <a:r>
              <a:rPr lang="en-US" sz="937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937" dirty="0"/>
          </a:p>
          <a:p>
            <a:pPr marL="0" indent="0">
              <a:lnSpc>
                <a:spcPts val="1218"/>
              </a:lnSpc>
              <a:buNone/>
            </a:pPr>
            <a:r>
              <a:rPr lang="en-US" sz="937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skf = StratifiedKFold(5, shuffle=True, random_state=42)</a:t>
            </a:r>
            <a:endParaRPr lang="en-US" sz="937" dirty="0"/>
          </a:p>
          <a:p>
            <a:pPr marL="0" indent="0">
              <a:lnSpc>
                <a:spcPts val="1218"/>
              </a:lnSpc>
              <a:buNone/>
            </a:pPr>
            <a:r>
              <a:rPr lang="en-US" sz="937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fold_acc = {k: [] for k in models}</a:t>
            </a:r>
            <a:endParaRPr lang="en-US" sz="937" dirty="0"/>
          </a:p>
          <a:p>
            <a:pPr marL="0" indent="0">
              <a:lnSpc>
                <a:spcPts val="1218"/>
              </a:lnSpc>
              <a:buNone/>
            </a:pPr>
            <a:r>
              <a:rPr lang="en-US" sz="937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주의: 시행(파일) 단위로 나눈다</a:t>
            </a:r>
            <a:endParaRPr lang="en-US" sz="937" dirty="0"/>
          </a:p>
          <a:p>
            <a:pPr marL="0" indent="0">
              <a:lnSpc>
                <a:spcPts val="1218"/>
              </a:lnSpc>
              <a:buNone/>
            </a:pPr>
            <a:r>
              <a:rPr lang="en-US" sz="937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tr_i, va_i in skf.split(files, labels):</a:t>
            </a:r>
            <a:endParaRPr lang="en-US" sz="937" dirty="0"/>
          </a:p>
          <a:p>
            <a:pPr marL="0" indent="0">
              <a:lnSpc>
                <a:spcPts val="1218"/>
              </a:lnSpc>
              <a:buNone/>
            </a:pPr>
            <a:r>
              <a:rPr lang="en-US" sz="937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Xa, ya = build([files[i] for i in tr_i])</a:t>
            </a:r>
            <a:endParaRPr lang="en-US" sz="937" dirty="0"/>
          </a:p>
          <a:p>
            <a:pPr marL="0" indent="0">
              <a:lnSpc>
                <a:spcPts val="1218"/>
              </a:lnSpc>
              <a:buNone/>
            </a:pPr>
            <a:r>
              <a:rPr lang="en-US" sz="937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Xb, yb = build([files[i] for i in va_i])</a:t>
            </a:r>
            <a:endParaRPr lang="en-US" sz="937" dirty="0"/>
          </a:p>
          <a:p>
            <a:pPr marL="0" indent="0">
              <a:lnSpc>
                <a:spcPts val="1218"/>
              </a:lnSpc>
              <a:buNone/>
            </a:pPr>
            <a:r>
              <a:rPr lang="en-US" sz="937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 = StandardScaler(); Xa = sc.fit_transform(Xa)</a:t>
            </a:r>
            <a:endParaRPr lang="en-US" sz="937" dirty="0"/>
          </a:p>
          <a:p>
            <a:pPr marL="0" indent="0">
              <a:lnSpc>
                <a:spcPts val="1218"/>
              </a:lnSpc>
              <a:buNone/>
            </a:pPr>
            <a:r>
              <a:rPr lang="en-US" sz="937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Xb = sc.transform(Xb); ya, yb = le.transform(ya), le.transform(yb)</a:t>
            </a:r>
            <a:endParaRPr lang="en-US" sz="937" dirty="0"/>
          </a:p>
          <a:p>
            <a:pPr marL="0" indent="0">
              <a:lnSpc>
                <a:spcPts val="1218"/>
              </a:lnSpc>
              <a:buNone/>
            </a:pPr>
            <a:r>
              <a:rPr lang="en-US" sz="937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k, proto in models.items():</a:t>
            </a:r>
            <a:endParaRPr lang="en-US" sz="937" dirty="0"/>
          </a:p>
          <a:p>
            <a:pPr marL="0" indent="0">
              <a:lnSpc>
                <a:spcPts val="1218"/>
              </a:lnSpc>
              <a:buNone/>
            </a:pPr>
            <a:r>
              <a:rPr lang="en-US" sz="937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 = clone(proto); m.fit(Xa, ya)</a:t>
            </a:r>
            <a:endParaRPr lang="en-US" sz="937" dirty="0"/>
          </a:p>
          <a:p>
            <a:pPr marL="0" indent="0">
              <a:lnSpc>
                <a:spcPts val="1218"/>
              </a:lnSpc>
              <a:buNone/>
            </a:pPr>
            <a:r>
              <a:rPr lang="en-US" sz="937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fold_acc[k].append(m.score(Xb, yb))</a:t>
            </a:r>
            <a:endParaRPr lang="en-US" sz="937" dirty="0"/>
          </a:p>
          <a:p>
            <a:pPr marL="0" indent="0">
              <a:lnSpc>
                <a:spcPts val="1218"/>
              </a:lnSpc>
              <a:buNone/>
            </a:pPr>
            <a:r>
              <a:rPr lang="en-US" sz="937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k, v in fold_acc.items():</a:t>
            </a:r>
            <a:endParaRPr lang="en-US" sz="937" dirty="0"/>
          </a:p>
          <a:p>
            <a:pPr marL="0" indent="0">
              <a:lnSpc>
                <a:spcPts val="1218"/>
              </a:lnSpc>
              <a:buNone/>
            </a:pPr>
            <a:r>
              <a:rPr lang="en-US" sz="937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print(f'{k}: {np.mean(v)*100:.2f} ± {np.std(v)*100:.2f} %')</a:t>
            </a:r>
            <a:endParaRPr lang="en-US" sz="937" dirty="0"/>
          </a:p>
        </p:txBody>
      </p:sp>
      <p:sp>
        <p:nvSpPr>
          <p:cNvPr id="11" name="Shape 9"/>
          <p:cNvSpPr/>
          <p:nvPr/>
        </p:nvSpPr>
        <p:spPr>
          <a:xfrm>
            <a:off x="6126480" y="1901952"/>
            <a:ext cx="2468880" cy="2688336"/>
          </a:xfrm>
          <a:prstGeom prst="roundRect">
            <a:avLst>
              <a:gd name="adj" fmla="val 2222"/>
            </a:avLst>
          </a:prstGeom>
          <a:solidFill>
            <a:srgbClr val="E7F1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91072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방법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91072" y="2249424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줄이 평균 ± 표준편차 형태로 출력되면 성공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sklearn.base 의 clone 을 import 해야 한다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학습 폴드에서만 scaler를 fit한다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결과는 RF 96.72 ± 0.58 이었다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실습 · 단계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검정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실습의 하이라이트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13232" y="1389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25880" y="13898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폴드별 정확도로 대응표본 t-검정을 수행한다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5394960" cy="2688336"/>
          </a:xfrm>
          <a:prstGeom prst="roundRect">
            <a:avLst>
              <a:gd name="adj" fmla="val 204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2029968"/>
            <a:ext cx="512064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scipy.stats import ttest_rel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itertools import combinations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a, b in combinations(models.keys(), 2):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t, p = ttest_rel(fold_acc[a], fold_acc[b])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np.isfinite(p): print(a, b, '검정 불가'); continue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verdict = '유의함' if p &lt; 0.05 else '유의하지 않음'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print(f'{a} vs {b}: p = {p:.4f}  ({verdict})')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901952"/>
            <a:ext cx="2468880" cy="2688336"/>
          </a:xfrm>
          <a:prstGeom prst="roundRect">
            <a:avLst>
              <a:gd name="adj" fmla="val 2222"/>
            </a:avLst>
          </a:prstGeom>
          <a:solidFill>
            <a:srgbClr val="E7F1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91072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방법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91072" y="2249424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쌍의 p값이 출력되면 성공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≥ 0.05는 차이 미검출이며 동등성의 증거는 아님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논문에서는 세 쌍 모두 유의하지 않았다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결과가 다르면 그 이유를 리포트에 적을 것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실습 · 단계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비용과 리포트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모델을 고를 것인가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13232" y="1389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25880" y="13898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시간과 추론 시간을 재고 리포트 구조에 맞춰 정리한다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5394960" cy="2688336"/>
          </a:xfrm>
          <a:prstGeom prst="roundRect">
            <a:avLst>
              <a:gd name="adj" fmla="val 204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2029968"/>
            <a:ext cx="512064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k, m in models.items():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t0 = time.time(); m.fit(Xtr, ytr)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train_t = time.time() - t0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t0 = time.time()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range(100): m.predict(Xte[:1])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infer_ms = (time.time() - t0) * 10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print(f'{k}: 학습 {train_t:.3f}s, '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0F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f'추론 {infer_ms:.3f} ms/sample')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901952"/>
            <a:ext cx="2468880" cy="2688336"/>
          </a:xfrm>
          <a:prstGeom prst="roundRect">
            <a:avLst>
              <a:gd name="adj" fmla="val 2222"/>
            </a:avLst>
          </a:prstGeom>
          <a:solidFill>
            <a:srgbClr val="E7F1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91072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방법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91072" y="2249424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측정에서는 XGBoost 학습이 가장 느렸다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측정에서는 SVM 추론이 상대적으로 느렸다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모델의 정확도가 비슷하다면 이 값이 선택 기준이 된다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환경 차이를 기록하며 실제 배포 성능과 구분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· 점검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여기까지 됐으면 정상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확인하는 체크포인트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8046720" cy="2441448"/>
          </a:xfrm>
          <a:prstGeom prst="roundRect">
            <a:avLst>
              <a:gd name="adj" fmla="val 2247"/>
            </a:avLst>
          </a:prstGeom>
          <a:solidFill>
            <a:srgbClr val="E7F1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4447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안에 확인할 것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773936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모델을 같은 데이터·같은 분할로 학습했다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hold-out 네 지표 표를 만들었다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confusion8.png 를 만들고 오류 구조를 해석했다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5-fold 평균 ± 표준편차를 산출했다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대응표본 t-검정으로 p값을 구했다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학습·추론 시간을 측정했다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항목에 trial-wise 분할 문제를 적었다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904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항목을 빠뜨리지 말 것. 이 결과는 처음 보는 사람에 대한 성능이 아니다.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· 문제 해결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나는 오류와 해결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단계의 함정들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435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0" y="137160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743200" y="1435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84048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754880" y="14356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773936"/>
            <a:ext cx="8046720" cy="353568"/>
          </a:xfrm>
          <a:prstGeom prst="roundRect">
            <a:avLst>
              <a:gd name="adj" fmla="val 15517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58368" y="1837944"/>
            <a:ext cx="1975104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XGBoost 라벨 오류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852928" y="1837944"/>
            <a:ext cx="1792224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문자열 라벨을 그대로 넣음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64608" y="1837944"/>
            <a:ext cx="3621024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LabelEncoder 로 0부터 정수 변환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8368" y="2228088"/>
            <a:ext cx="1975104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정확도가 99% 이상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852928" y="2228088"/>
            <a:ext cx="1792224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시행의 겹친 창·라벨 유입 등 확인 필요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64608" y="2228088"/>
            <a:ext cx="3621024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단계 5의 순서 확인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554224"/>
            <a:ext cx="8046720" cy="353568"/>
          </a:xfrm>
          <a:prstGeom prst="roundRect">
            <a:avLst>
              <a:gd name="adj" fmla="val 15517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58368" y="2618232"/>
            <a:ext cx="1975104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clone 이 정의되지 않음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852928" y="2618232"/>
            <a:ext cx="1792224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import 누락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64608" y="2618232"/>
            <a:ext cx="3621024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from sklearn.base import clone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368" y="3008376"/>
            <a:ext cx="1975104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교차검증이 너무 느림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852928" y="3008376"/>
            <a:ext cx="1792224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폴드마다 특징을 새로 계산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64608" y="3008376"/>
            <a:ext cx="3621024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특징을 미리 만들고 인덱스로 나누기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334512"/>
            <a:ext cx="8046720" cy="353568"/>
          </a:xfrm>
          <a:prstGeom prst="roundRect">
            <a:avLst>
              <a:gd name="adj" fmla="val 15517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58368" y="3398520"/>
            <a:ext cx="1975104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p값이 nan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852928" y="3398520"/>
            <a:ext cx="1792224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폴드 간 차이의 분산이 0 등 확인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64608" y="3398520"/>
            <a:ext cx="3621024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 벡터·유한값·검정 한계를 확인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8368" y="3788664"/>
            <a:ext cx="1975104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순위가 매번 바뀜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852928" y="3788664"/>
            <a:ext cx="1792224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random_state 미고정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64608" y="3788664"/>
            <a:ext cx="3621024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모델에 random_state=42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 정확도나 NaN만으로 누수를 단정하지 않는다. 분할과 검정 조건을 확인한다.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· 과제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제출물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마무리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8046720" cy="352044"/>
          </a:xfrm>
          <a:prstGeom prst="roundRect">
            <a:avLst>
              <a:gd name="adj" fmla="val 15584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444752"/>
            <a:ext cx="18288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리포트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51760" y="1444752"/>
            <a:ext cx="56692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항목 구조를 따른 PDF 1개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833372"/>
            <a:ext cx="18288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성능 비교표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1833372"/>
            <a:ext cx="56692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모델 × 네 지표 (hold-out)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8046720" cy="352044"/>
          </a:xfrm>
          <a:prstGeom prst="roundRect">
            <a:avLst>
              <a:gd name="adj" fmla="val 15584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85800" y="2221992"/>
            <a:ext cx="18288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교차검증 결과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2221992"/>
            <a:ext cx="56692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폴드별 값 + 평균 ± 표준편차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610612"/>
            <a:ext cx="18288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통계 검정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2610612"/>
            <a:ext cx="56692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쌍의 p값과 해석 문장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8046720" cy="352044"/>
          </a:xfrm>
          <a:prstGeom prst="roundRect">
            <a:avLst>
              <a:gd name="adj" fmla="val 15584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5800" y="2999232"/>
            <a:ext cx="18288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혼동행렬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2999232"/>
            <a:ext cx="56692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confusion8.png + 오류 구조 해석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3387852"/>
            <a:ext cx="18288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계산 비용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3387852"/>
            <a:ext cx="56692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시간 · 추론 시간 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8046720" cy="352044"/>
          </a:xfrm>
          <a:prstGeom prst="roundRect">
            <a:avLst>
              <a:gd name="adj" fmla="val 15584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85800" y="3776472"/>
            <a:ext cx="18288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한계 서술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51760" y="3776472"/>
            <a:ext cx="56692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trial-wise 분할 문제를 포함해 세 가지 이상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4165092"/>
            <a:ext cx="18288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기한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51760" y="4165092"/>
            <a:ext cx="56692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강의일 자정 · 지각 시 24시간마다 10% 감점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5537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④번의 해석 문장이 중요하다. p값 숫자만 적고 끝내면 절반만 한 것이다.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· 마무리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2를 마치며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얻었는가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21040" y="47091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931920" cy="1920240"/>
          </a:xfrm>
          <a:prstGeom prst="roundRect">
            <a:avLst>
              <a:gd name="adj" fmla="val 2857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 동안 익힌 것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810512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다차원 의도를 클래스 집합으로 설계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시간영역 특징 5종 직접 구현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SVM · RF · XGBoost의 원리와 설정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교차검증과 통계 검정 절차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 단위가 결과 해석을 좌우한다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920240"/>
          </a:xfrm>
          <a:prstGeom prst="roundRect">
            <a:avLst>
              <a:gd name="adj" fmla="val 2857"/>
            </a:avLst>
          </a:prstGeom>
          <a:solidFill>
            <a:srgbClr val="F2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846320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3으로 이어지는 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810512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누수 방지 원칙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 비교 습관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혼동행렬 기반 오류 분석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비용까지 함께 보고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8046720" cy="1051560"/>
          </a:xfrm>
          <a:prstGeom prst="roundRect">
            <a:avLst>
              <a:gd name="adj" fmla="val 5217"/>
            </a:avLst>
          </a:prstGeom>
          <a:solidFill>
            <a:srgbClr val="E3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6301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9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예고 — 지하구조물 결함 탐지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생체신호를 떠나 이미지로 넘어간다. 시계열에서 익힌 원칙이 컴퓨터 비전에서 어떻게 다시 나타나는지 확인한다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1주차 실습에서는 ultralytics 패키지를 설치한다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서버 계정이 아직 없다면 이번 주에 반드시 신청할 것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AF05A-210D-B1B3-EC1D-E80ACA546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871;p82">
            <a:extLst>
              <a:ext uri="{FF2B5EF4-FFF2-40B4-BE49-F238E27FC236}">
                <a16:creationId xmlns:a16="http://schemas.microsoft.com/office/drawing/2014/main" id="{570111DA-86E2-BC5C-C36B-8613C42EF54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0"/>
            <a:ext cx="9143820" cy="5143230"/>
          </a:xfrm>
          <a:prstGeom prst="rect">
            <a:avLst/>
          </a:prstGeom>
          <a:ln>
            <a:noFill/>
          </a:ln>
        </p:spPr>
      </p:pic>
      <p:sp>
        <p:nvSpPr>
          <p:cNvPr id="140" name="CustomShape 1">
            <a:extLst>
              <a:ext uri="{FF2B5EF4-FFF2-40B4-BE49-F238E27FC236}">
                <a16:creationId xmlns:a16="http://schemas.microsoft.com/office/drawing/2014/main" id="{0877C4FB-95EF-23EC-F478-7A00E0331363}"/>
              </a:ext>
            </a:extLst>
          </p:cNvPr>
          <p:cNvSpPr/>
          <p:nvPr/>
        </p:nvSpPr>
        <p:spPr>
          <a:xfrm>
            <a:off x="3800266" y="1220966"/>
            <a:ext cx="5219910" cy="70767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530" tIns="45630" rIns="91530" bIns="45630"/>
          <a:lstStyle/>
          <a:p>
            <a:pPr algn="ctr">
              <a:lnSpc>
                <a:spcPct val="100000"/>
              </a:lnSpc>
            </a:pPr>
            <a:r>
              <a:rPr lang="en-US" altLang="ko-KR" sz="4005" b="1" spc="-1" dirty="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Thank you</a:t>
            </a:r>
            <a:endParaRPr lang="ko-KR" altLang="en-US" sz="4005" b="1" spc="-1" dirty="0">
              <a:solidFill>
                <a:srgbClr val="FFFFFF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5013E9-8E74-7C2D-60BA-34BEA517D45F}"/>
              </a:ext>
            </a:extLst>
          </p:cNvPr>
          <p:cNvSpPr txBox="1"/>
          <p:nvPr/>
        </p:nvSpPr>
        <p:spPr>
          <a:xfrm>
            <a:off x="4770436" y="3876675"/>
            <a:ext cx="358457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5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Http://dil.cu.ac.kr/</a:t>
            </a:r>
            <a:r>
              <a:rPr lang="en-US" altLang="ko-KR" sz="1350" dirty="0">
                <a:solidFill>
                  <a:schemeClr val="bg1"/>
                </a:solidFill>
              </a:rPr>
              <a:t> </a:t>
            </a:r>
            <a:r>
              <a:rPr lang="ko-KR" altLang="en-US" sz="1350" dirty="0">
                <a:solidFill>
                  <a:schemeClr val="bg1"/>
                </a:solidFill>
              </a:rPr>
              <a:t>데이터 지능 연구실</a:t>
            </a:r>
          </a:p>
        </p:txBody>
      </p:sp>
      <p:pic>
        <p:nvPicPr>
          <p:cNvPr id="5" name="그림 4" descr="텍스트, 폰트, 그래픽, 그래픽 디자인이(가) 표시된 사진&#10;&#10;자동 생성된 설명">
            <a:extLst>
              <a:ext uri="{FF2B5EF4-FFF2-40B4-BE49-F238E27FC236}">
                <a16:creationId xmlns:a16="http://schemas.microsoft.com/office/drawing/2014/main" id="{5A6F3B02-DD84-057E-71AF-CF4DB78CDE1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975" y="2037364"/>
            <a:ext cx="3619499" cy="181230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FE24B2-CE09-C44F-9363-2B82CBF01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5D6D1-097E-45BD-BB54-88CCC5BD276E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063457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2462</Words>
  <Application>Microsoft Office PowerPoint</Application>
  <PresentationFormat>화면 슬라이드 쇼(16:9)</PresentationFormat>
  <Paragraphs>443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HY견고딕</vt:lpstr>
      <vt:lpstr>Malgun Gothic</vt:lpstr>
      <vt:lpstr>Arial</vt:lpstr>
      <vt:lpstr>Consolas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2026-10-06T06:29:03Z</dcterms:created>
  <dcterms:modified xsi:type="dcterms:W3CDTF">2026-10-06T06:29:22Z</dcterms:modified>
</cp:coreProperties>
</file>