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5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73139-72E9-4B4E-8889-B8FC5E370CC1}" v="6" dt="2026-10-06T06:28:42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35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44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0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244D-FD42-BE2A-4A47-19E2D9E6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>
            <a:extLst>
              <a:ext uri="{FF2B5EF4-FFF2-40B4-BE49-F238E27FC236}">
                <a16:creationId xmlns:a16="http://schemas.microsoft.com/office/drawing/2014/main" id="{4553ED44-7EEC-90A0-59C3-0D869DFAD68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3560" y="4748040"/>
            <a:ext cx="5388120" cy="388440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/>
          </a:p>
        </p:txBody>
      </p:sp>
      <p:sp>
        <p:nvSpPr>
          <p:cNvPr id="336" name="PlaceHolder 2">
            <a:extLst>
              <a:ext uri="{FF2B5EF4-FFF2-40B4-BE49-F238E27FC236}">
                <a16:creationId xmlns:a16="http://schemas.microsoft.com/office/drawing/2014/main" id="{E58DD15D-63A0-3A5F-B53B-A33D403C8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1231900"/>
            <a:ext cx="5919787" cy="3330575"/>
          </a:xfrm>
          <a:prstGeom prst="rect">
            <a:avLst/>
          </a:prstGeom>
        </p:spPr>
      </p:sp>
      <p:sp>
        <p:nvSpPr>
          <p:cNvPr id="337" name="TextShape 3">
            <a:extLst>
              <a:ext uri="{FF2B5EF4-FFF2-40B4-BE49-F238E27FC236}">
                <a16:creationId xmlns:a16="http://schemas.microsoft.com/office/drawing/2014/main" id="{BAECADD7-3475-57AB-8727-B1F203CF65B4}"/>
              </a:ext>
            </a:extLst>
          </p:cNvPr>
          <p:cNvSpPr txBox="1"/>
          <p:nvPr/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HY견고딕" panose="02030600000101010101" pitchFamily="18" charset="-127"/>
                <a:ea typeface="+mn-ea"/>
              </a:rPr>
              <a:t>2019년 4월 25일</a:t>
            </a:r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6535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CF392A-7075-7860-5B40-1692E144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7027-AEC7-402E-9E38-FDA70183B242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156164-45EE-0F1D-E2D6-497A1A56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4070D2-D670-FB48-B8CC-CAA90374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D6D1-097E-45BD-BB54-88CCC5BD2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77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hyperlink" Target="http://dil.cu.ac.k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FB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·  2주차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전처리와 특징 추출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원신호를 25차원 숫자 벡터로 바꾼다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50분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3200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38328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3200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3504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6단계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주는 딥러닝이 없다. 사람이 직접 정의한 통계량을 손으로 만들어 본다.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안내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진행 방식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지난주와 같은 순서로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527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강의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1545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· 시간영역 특징 5종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0" y="1545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강의 자료 16~30페이지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용어 정리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2951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필터부터 표준화까지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2295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 4~7페이지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026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3044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→ 윈도우 → 특징 → 데이터셋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044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 9~14페이지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575304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776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과제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57400" y="3794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주까지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25차원 특징 데이터셋 완성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 17페이지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과제를 끝내지 못했다면 먼저 그것부터. 데이터를 읽지 못하면 오늘 실습을 시작할 수 없다.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강의 요약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강의에서 기억할 여섯 가지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전에 다시 확인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94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944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필터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4036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60Hz 노치로 전기 잡음을, 20~450Hz 대역통과로 근활성 대역만 남긴다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18973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8973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세그먼트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9065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2초(2,000샘플) 분석 구간을 쓴다. 동작 수행은 1초다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4003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4003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200ms 윈도우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4094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2초를 200ms씩 100ms 간격으로 자르면 19개 조각이 나온다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29032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9032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시간영역 특징 5종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9123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 · MAV · WL · ZC · SSC — 계산이 가볍고 견고하다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" y="34061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4061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25차원 벡터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4152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5종 × 채널 5개 = 윈도우 하나당 25개 숫자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9090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9090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9182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StandardScaler로 표준화한 특징을 세 모델에 사용한다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실습은 이 여섯 단계를 순서대로 코드로 옮기는 일이다. 순서가 곧 코드의 구조다.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① 필터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원하지 않는 성분 걸러내기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222573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몇 번 진동하는가 · 단위 Hz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60Hz = 콘센트에서 들어오는 잡음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3898"/>
            <a:ext cx="5222573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노치 필터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Notch filter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주파수 하나만 좁게 제거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60Hz 전원선 간섭 제거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21915"/>
            <a:ext cx="5222573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대역통과 필터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Band-pass filter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구간만 통과시킴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20~450Hz만 남긴다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19933"/>
            <a:ext cx="5222573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가파르게 잘라내는가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4차 Butterworth 사용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717950"/>
            <a:ext cx="5222573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영위상 필터링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filtfilt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앞뒤 양방향으로 걸어 지연을 없앰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2837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altLang="ko-KR" sz="900" dirty="0" err="1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신호가</a:t>
            </a:r>
            <a:r>
              <a:rPr lang="en-US" altLang="ko-KR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밀리지</a:t>
            </a:r>
            <a:r>
              <a:rPr lang="en-US" altLang="ko-KR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않는다</a:t>
            </a:r>
            <a:endParaRPr lang="en-US" altLang="ko-KR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조건: 60Hz 노치 + 20~450Hz 4차 Butterworth. 노치 Q와 적용 방식은 실습 설정이다.</a:t>
            </a:r>
            <a:endParaRPr lang="en-US" sz="105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9C4E54A-4F0C-B607-7C46-17F304FC6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386" y="887185"/>
            <a:ext cx="2585621" cy="35451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② 자르기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신호를 학습 단위로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968682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세그먼트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있는 한 덩어리 구간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분석 구간 2초 = 2,000샘플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3898"/>
            <a:ext cx="4968682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단위로 잘라낸 조각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200ms = 200샘플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21915"/>
            <a:ext cx="4968682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증분 / 스텝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 · Step size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조각으로 이동하는 간격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100ms = 50% 오버랩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19933"/>
            <a:ext cx="4968682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조각과 겹치는 비율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50% — 조각 수가 약 두 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717950"/>
            <a:ext cx="4968682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세그먼트에서 나오는 조각 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1835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2초에서 19개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(2000 − 200) / 100 + 1 = 19. 이 계산을 직접 해보면 윈도우 개념이 확실해진다.</a:t>
            </a:r>
            <a:endParaRPr lang="en-US" sz="105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ED2B2F9-3F5D-5553-6B74-F0D3ADCE176F}"/>
              </a:ext>
            </a:extLst>
          </p:cNvPr>
          <p:cNvSpPr>
            <a:spLocks noGrp="1"/>
          </p:cNvSpPr>
          <p:nvPr/>
        </p:nvSpPr>
        <p:spPr>
          <a:xfrm>
            <a:off x="6048375" y="136207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슬라이딩 윈도우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F1E6F0B-2C14-C7CE-0C78-1C7A599F4AE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2초 = 2,000샘플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3E2634B-B95E-EA0D-6167-F45367A549D2}"/>
              </a:ext>
            </a:extLst>
          </p:cNvPr>
          <p:cNvSpPr>
            <a:spLocks noGrp="1"/>
          </p:cNvSpPr>
          <p:nvPr/>
        </p:nvSpPr>
        <p:spPr>
          <a:xfrm>
            <a:off x="6048375" y="2057400"/>
            <a:ext cx="2514600" cy="228600"/>
          </a:xfrm>
          <a:prstGeom prst="rect">
            <a:avLst/>
          </a:prstGeom>
          <a:solidFill>
            <a:srgbClr val="E3EFF3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CB0A6CB-7748-A426-E35C-355AB89F10E4}"/>
              </a:ext>
            </a:extLst>
          </p:cNvPr>
          <p:cNvSpPr>
            <a:spLocks noGrp="1"/>
          </p:cNvSpPr>
          <p:nvPr/>
        </p:nvSpPr>
        <p:spPr>
          <a:xfrm>
            <a:off x="6048375" y="2057400"/>
            <a:ext cx="251460" cy="228600"/>
          </a:xfrm>
          <a:prstGeom prst="rect">
            <a:avLst/>
          </a:prstGeom>
          <a:solidFill>
            <a:srgbClr val="15697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3595236-EC27-BDCC-89D7-00822435B75C}"/>
              </a:ext>
            </a:extLst>
          </p:cNvPr>
          <p:cNvSpPr>
            <a:spLocks noGrp="1"/>
          </p:cNvSpPr>
          <p:nvPr/>
        </p:nvSpPr>
        <p:spPr>
          <a:xfrm>
            <a:off x="6048375" y="2333625"/>
            <a:ext cx="25241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한 창: 200샘플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73955BC-D83E-B109-02A5-53EE99E5B9D7}"/>
              </a:ext>
            </a:extLst>
          </p:cNvPr>
          <p:cNvSpPr>
            <a:spLocks noGrp="1"/>
          </p:cNvSpPr>
          <p:nvPr/>
        </p:nvSpPr>
        <p:spPr>
          <a:xfrm>
            <a:off x="6048375" y="2762250"/>
            <a:ext cx="838200" cy="209550"/>
          </a:xfrm>
          <a:prstGeom prst="rect">
            <a:avLst/>
          </a:prstGeom>
          <a:solidFill>
            <a:srgbClr val="15697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514B830-BE1D-9D32-D159-F3B1C0E69511}"/>
              </a:ext>
            </a:extLst>
          </p:cNvPr>
          <p:cNvSpPr>
            <a:spLocks noGrp="1"/>
          </p:cNvSpPr>
          <p:nvPr/>
        </p:nvSpPr>
        <p:spPr>
          <a:xfrm>
            <a:off x="6115050" y="27717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1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56D5ED-FA66-29E4-F141-72D127FAEB22}"/>
              </a:ext>
            </a:extLst>
          </p:cNvPr>
          <p:cNvSpPr>
            <a:spLocks noGrp="1"/>
          </p:cNvSpPr>
          <p:nvPr/>
        </p:nvSpPr>
        <p:spPr>
          <a:xfrm>
            <a:off x="6467475" y="3124200"/>
            <a:ext cx="838200" cy="209550"/>
          </a:xfrm>
          <a:prstGeom prst="rect">
            <a:avLst/>
          </a:prstGeom>
          <a:solidFill>
            <a:srgbClr val="B5651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E80F0D2-1F48-048B-88A5-B409E73BDFB7}"/>
              </a:ext>
            </a:extLst>
          </p:cNvPr>
          <p:cNvSpPr>
            <a:spLocks noGrp="1"/>
          </p:cNvSpPr>
          <p:nvPr/>
        </p:nvSpPr>
        <p:spPr>
          <a:xfrm>
            <a:off x="6534150" y="313372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2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FA7919D-F1B4-B033-14A1-2A3156C8781D}"/>
              </a:ext>
            </a:extLst>
          </p:cNvPr>
          <p:cNvSpPr>
            <a:spLocks noGrp="1"/>
          </p:cNvSpPr>
          <p:nvPr/>
        </p:nvSpPr>
        <p:spPr>
          <a:xfrm>
            <a:off x="6886575" y="3486150"/>
            <a:ext cx="838200" cy="209550"/>
          </a:xfrm>
          <a:prstGeom prst="rect">
            <a:avLst/>
          </a:prstGeom>
          <a:solidFill>
            <a:srgbClr val="5847A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7D88565-8185-4952-1FFE-DBA89483A02E}"/>
              </a:ext>
            </a:extLst>
          </p:cNvPr>
          <p:cNvSpPr>
            <a:spLocks noGrp="1"/>
          </p:cNvSpPr>
          <p:nvPr/>
        </p:nvSpPr>
        <p:spPr>
          <a:xfrm>
            <a:off x="6953250" y="34956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3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5E98998-AF0B-B8DC-63A5-DDE5CCEDA6C6}"/>
              </a:ext>
            </a:extLst>
          </p:cNvPr>
          <p:cNvSpPr>
            <a:spLocks noGrp="1"/>
          </p:cNvSpPr>
          <p:nvPr/>
        </p:nvSpPr>
        <p:spPr>
          <a:xfrm>
            <a:off x="6048375" y="39433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100샘플씩 이동 · 50% 겹침</a:t>
            </a:r>
          </a:p>
          <a:p>
            <a:pPr>
              <a:defRPr sz="9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총 19개 창 × 창마다 25D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③ 시간영역 특징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채널당 5개 특징 · 5채널에서 25차원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367917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Mean Square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제곱 평균의 제곱근 — 신호 파워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근수축 강도를 나타낸다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3898"/>
            <a:ext cx="4367917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Absolute Value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절댓값의 평균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가장 널리 쓰이는 기본 특징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21915"/>
            <a:ext cx="4367917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Waveform Length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샘플 차이의 누적 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파형의 복잡도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19933"/>
            <a:ext cx="4367917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Crossing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0을 지나는 횟수 (임계값 0.01)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주파수 성분의 간접 지표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717950"/>
            <a:ext cx="4367917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Slope Sign Change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기울기 부호가 바뀌는 횟수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1884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고주파 정보를 보완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ZC의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0.01은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잡음에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의한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미세한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변화를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세지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않기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위한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장치다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05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51F02D7-2031-7F75-6A33-87D0F875D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426" y="1053272"/>
            <a:ext cx="28956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④ 표준화와 데이터셋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넣기 직전 처리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825117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벡터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vector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샘플을 나타내는 숫자들의 나열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25차원 = 5특징 × 5채널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3898"/>
            <a:ext cx="4825117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Standardization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0 · 분산 1로 맞추기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StandardScaler 사용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21915"/>
            <a:ext cx="4825117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 / transform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통계를 계산 / 그 통계를 적용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학습셋에 fit, 나머지엔 transform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19933"/>
            <a:ext cx="4825117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층화 분할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Stratified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비율을 유지하며 나누기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8클래스가 고르게 들어가게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717950"/>
            <a:ext cx="4825117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누수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leakage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정보가 학습에 새어 들어감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시행의 겹친 창이 양쪽에 섞이면 발생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통계는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학습셋에서만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계산한다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테스트셋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통계를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쓰면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누출이다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05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431B47D-06E2-992C-E6BF-E89083917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119" y="970170"/>
            <a:ext cx="2746967" cy="3475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실습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실습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단계 — 앞 단계 결과가 다음 단계 입력이 된다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11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1411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적용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420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60Hz 노치 + 20~450Hz 대역통과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84404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1929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1929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구간 잘라내기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9385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분석 구간을 추출한다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36220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447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37360" y="2447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슬라이딩 윈도우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4566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2초를 19개 조각으로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2965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37360" y="2965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시간영역 특징 구현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9748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RMS·MAV·WL·ZC·SSC 직접 구현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9852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" y="3483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3736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만들기 — 누수 막기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4930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단위로 먼저 나눈다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91668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4002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37360" y="4002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표준화와 저장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0111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StandardScaler 적용 후 파일로 저장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단계 끝날 때마다 결과를 파일로 저장할 것. 중간에 막혀도 처음부터 다시 하지 않아도 된다.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실습 · 단계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적용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필터 조건을 적용한 실습 예시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원신호에서 전원선 잡음과 대역 밖 성분을 제거한다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scipy.signal import butter, iirnotch, filtfilt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= 1000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preprocess(x, fs=FS):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bn, an = iirnotch(60, 30, fs)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filtfilt(bn, an, x, axis=0)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b, a = butter(4, [20/(fs/2), 450/(fs/2)], btype='band')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filtfilt(b, a, x, axis=0)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xf = preprocess(x)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print('전:', x.std(0).round(4))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print('후:', xf.std(0).round(4))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5개의 표준편차가 각각 출력되면 성공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axis=0 을 빼면 채널축에 걸린다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전후 파형과 표준편차를 함께 확인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노치 Q=30과 filtfilt는 실습 설정이다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실습 · 단계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구간 잘라내기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논문은 2초 구간의 정확한 시작점을 명시하지 않는다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시작점을 확인하고 2초를 세그먼트로 추출한다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시행 구조: 휴식 2초 | 동작 1초 | 휴식 2초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아래 1.5초 시작은 실습 가정이며 논문 설정이 아님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START, LEN = 1500, 2000        # 1.5초 지점부터 2초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cut(x, start=START, n=LEN):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x[start:start+n]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 = cut(xf)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print('세그먼트 모양:', seg.shape)   # (2000, 5)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(2000, 5) 가 나오면 정상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지점은 데이터에 맞게 조정할 것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그림에서 동작 구간 위치를 확인해 두었을 것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자른 구간을 다시 그려 확인하는 습관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실습 · 단계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슬라이딩 윈도우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200ms · 100ms 간격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세그먼트를 200ms 길이로 100ms씩 밀며 잘라낸다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WIN, HOP = 200, 100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make_windows(x, win=WIN, hop=HOP):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(len(x) - win) // hop + 1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np.stack([x[i*hop : i*hop+win] for i in range(n)])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make_windows(seg)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print('윈도우 배열:', w.shape)      # (19, 200, 5)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(19, 200, 5) 가 나오면 정상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= (2000 - 200) / 100 + 1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다르면 세그먼트 길이를 다시 확인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19개는 서로 겹친다 — 단계 6에서 중요해진다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실습 · 단계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시간영역 특징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 없이 numpy만으로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하나에서 25차원 특징 벡터를 만든다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td_features(w, th=0.01):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"""w: (200, 5) -&gt; (25,)"""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rms = np.sqrt(np.mean(w**2, axis=0))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mav = np.mean(np.abs(w), axis=0)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  = np.diff(w, axis=0)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wl  = np.sum(np.abs(d), axis=0)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zc  = np.sum(((w[:-1]*w[1:]) &lt; 0) &amp;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(np.abs(d) &gt;= th), axis=0)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ssc = np.sum((d[:-1]*d[1:]) &lt; 0, axis=0)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np.concatenate([rms, mav, wl, zc, ssc])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td_features(w[0])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print('특징 벡터:', f.shape)        # (25,)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(25,) 가 나오면 성공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순서를 문서에 기록할 것 — 나중에 해석에 필요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 이 나오면 입력에 이상값이 있는지 확인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 를 0으로 바꿔보고 ZC 값이 어떻게 변하는지 관찰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실습 · 단계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만들기 — 누수 막기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윈도우를 표본으로 쓰는 실습 예시 · 논문은 창당 25D 명시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단위로 분할한 뒤 각 집합 안에서만 윈도우와 특징을 만든다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시행(파일) 단위로 먼저 분할  ← 순서가 핵심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tr_f, te_f = train_test_split(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files, test_size=0.2, stratify=labels,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random_state=42)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각 집합 안에서만 특징 생성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build(flist):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 = [], []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 in flist: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seg = cut(preprocess(np.loadtxt(p, delimiter=',')))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wnd in make_windows(seg):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X.append(td_features(wnd)); y.append(label_of(p))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np.stack(X), np.array(y)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Xtr, ytr = build(tr_f)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Xte, yte = build(te_f)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print(Xtr.shape, Xte.shape)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순서를 바꾸면 안 된다 — 윈도우 먼저 만들고 나누면 누수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stratify 로 8클래스가 양쪽에 고르게 들어간다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random_state 고정으로 다음에도 같은 분할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학습셋 샘플 수가 테스트의 약 4배여야 정상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실습 · 단계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표준화와 저장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바로 쓸 수 있게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학습셋 통계로 표준화하고 데이터셋을 파일로 남긴다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= StandardScaler()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Xtr_s = sc.fit_transform(Xtr)     # 학습셋에서 fit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Xte_s = sc.transform(Xte)         # 테스트엔 적용만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print('학습셋 평균:', Xtr_s.mean(0).round(6))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print('학습셋 표준편차:', Xtr_s.std(0).round(6))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np.savez('dataset.npz', Xtr=Xtr_s, ytr=ytr,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Xte=Xte_s, yte=yte)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print('저장 완료')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비상수 특징별 평균 0 · 표준편차 1 확인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테스트셋은 정확히 0·1이 아니어도 정상이다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fit_transform 을 테스트셋에 쓰면 정보 누출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dataset.npz 파일이 생성되었는지 확인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점검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됐으면 정상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확인하는 체크포인트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2441448"/>
          </a:xfrm>
          <a:prstGeom prst="roundRect">
            <a:avLst>
              <a:gd name="adj" fmla="val 2247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안에 확인할 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73936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적용 후 5채널 표준편차가 출력된다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세그먼트가 (2000, 5) 로 잘린다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배열이 (19, 200, 5) 로 나온다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벡터가 (25,) 로 나온다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단위로 먼저 분할한 뒤 특징을 만들었다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학습셋 평균 0 · 분산 1을 확인했다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dataset.npz 파일이 저장되었다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7번까지 됐다면 이번 주 목표는 달성이다. 모델 학습은 다음 주에 한다.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문제 해결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나는 오류와 해결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여기서 막힌다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0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435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73936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8368" y="1837944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critical frequencies 오류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52928" y="1837944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 상한이 나이퀴스트 이상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64608" y="1837944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450 이하 값 사용 · fs 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2306117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개수가 19가 아님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52928" y="2306117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세그먼트 길이가 2000이 아님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64608" y="2306117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의 START·LEN 을 다시 계산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710282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8368" y="2774290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특징에 NaN 이 섞임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52928" y="2774290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결측치·무한값 또는 수치 오류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64608" y="2774290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np.isnan(X).sum() 으로 위치 확인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3242462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정확도가 비현실적으로 높음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52928" y="3242462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시행의 겹친 창이 양쪽에 섞였는지 확인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3242462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5의 순서를 다시 확인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646627"/>
            <a:ext cx="8046720" cy="431597"/>
          </a:xfrm>
          <a:prstGeom prst="roundRect">
            <a:avLst>
              <a:gd name="adj" fmla="val 1271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3710635"/>
            <a:ext cx="197510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후 값이 이상함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52928" y="3710635"/>
            <a:ext cx="17922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테스트셋에 fit_transform 사용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64608" y="3710635"/>
            <a:ext cx="362102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 으로 변경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번째 줄이 가장 중요하다. 결과가 너무 좋으면 기뻐하기 전에 누수부터 의심할 것.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과제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제출물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강의 전까지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407561"/>
          </a:xfrm>
          <a:prstGeom prst="roundRect">
            <a:avLst>
              <a:gd name="adj" fmla="val 1346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182880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필터 검증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444752"/>
            <a:ext cx="566928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전후 스펙트럼 비교 그림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888889"/>
            <a:ext cx="182880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윈도우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888889"/>
            <a:ext cx="566928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배열 모양 출력 화면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59874"/>
            <a:ext cx="8046720" cy="407561"/>
          </a:xfrm>
          <a:prstGeom prst="roundRect">
            <a:avLst>
              <a:gd name="adj" fmla="val 1346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333026"/>
            <a:ext cx="182880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특징 구현 코드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2333026"/>
            <a:ext cx="566928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td_features 함수 전체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777163"/>
            <a:ext cx="182880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분할 코드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777163"/>
            <a:ext cx="566928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단위로 먼저 나눈 부분을 표시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48149"/>
            <a:ext cx="8046720" cy="407561"/>
          </a:xfrm>
          <a:prstGeom prst="roundRect">
            <a:avLst>
              <a:gd name="adj" fmla="val 1346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221301"/>
            <a:ext cx="182880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데이터셋 요약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221301"/>
            <a:ext cx="566928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학습·테스트 샘플 수 · 클래스별 분포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665438"/>
            <a:ext cx="182880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설정 근거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665438"/>
            <a:ext cx="566928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200ms · 오버랩 50%를 고른 이유 각 두 문장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36423"/>
            <a:ext cx="8046720" cy="407561"/>
          </a:xfrm>
          <a:prstGeom prst="roundRect">
            <a:avLst>
              <a:gd name="adj" fmla="val 13462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85800" y="4109575"/>
            <a:ext cx="182880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형식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4109575"/>
            <a:ext cx="5669280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또는 PDF 1개 · dataset.npz · 저장소 링크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④번을 반드시 표시할 것. 데이터 누수 여부는 이 부분만 보고 판단한다.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마무리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할 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미리보기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강의 내용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1051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SVM · Random Forest · XGBoost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hold-out과 5-fold 교차검증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 네 가지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대응표본 t-검정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실습에서 만들 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모델의 성능 비교표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평균 ± 표준편차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8클래스 혼동행렬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검정 결과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해두면 좋은 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dataset.npz 를 반드시 저장해 둘 것 — 다음 주 실습은 이 파일에서 시작한다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 의 SVC · RandomForestClassifier 문서를 훑어볼 것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남으면 세 모델 중 하나를 미리 돌려봐도 좋다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AF05A-210D-B1B3-EC1D-E80ACA54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871;p82">
            <a:extLst>
              <a:ext uri="{FF2B5EF4-FFF2-40B4-BE49-F238E27FC236}">
                <a16:creationId xmlns:a16="http://schemas.microsoft.com/office/drawing/2014/main" id="{570111DA-86E2-BC5C-C36B-8613C42EF54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9143820" cy="5143230"/>
          </a:xfrm>
          <a:prstGeom prst="rect">
            <a:avLst/>
          </a:prstGeom>
          <a:ln>
            <a:noFill/>
          </a:ln>
        </p:spPr>
      </p:pic>
      <p:sp>
        <p:nvSpPr>
          <p:cNvPr id="140" name="CustomShape 1">
            <a:extLst>
              <a:ext uri="{FF2B5EF4-FFF2-40B4-BE49-F238E27FC236}">
                <a16:creationId xmlns:a16="http://schemas.microsoft.com/office/drawing/2014/main" id="{0877C4FB-95EF-23EC-F478-7A00E0331363}"/>
              </a:ext>
            </a:extLst>
          </p:cNvPr>
          <p:cNvSpPr/>
          <p:nvPr/>
        </p:nvSpPr>
        <p:spPr>
          <a:xfrm>
            <a:off x="3800266" y="1220966"/>
            <a:ext cx="5219910" cy="7076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530" tIns="45630" rIns="91530" bIns="45630"/>
          <a:lstStyle/>
          <a:p>
            <a:pPr algn="ctr">
              <a:lnSpc>
                <a:spcPct val="100000"/>
              </a:lnSpc>
            </a:pPr>
            <a:r>
              <a:rPr lang="en-US" altLang="ko-KR" sz="4005" b="1" spc="-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Thank you</a:t>
            </a:r>
            <a:endParaRPr lang="ko-KR" altLang="en-US" sz="4005" b="1" spc="-1" dirty="0">
              <a:solidFill>
                <a:srgbClr val="FFFFFF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013E9-8E74-7C2D-60BA-34BEA517D45F}"/>
              </a:ext>
            </a:extLst>
          </p:cNvPr>
          <p:cNvSpPr txBox="1"/>
          <p:nvPr/>
        </p:nvSpPr>
        <p:spPr>
          <a:xfrm>
            <a:off x="4770436" y="3876675"/>
            <a:ext cx="35845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Http://dil.cu.ac.kr/</a:t>
            </a:r>
            <a:r>
              <a:rPr lang="en-US" altLang="ko-KR" sz="1350" dirty="0">
                <a:solidFill>
                  <a:schemeClr val="bg1"/>
                </a:solidFill>
              </a:rPr>
              <a:t> </a:t>
            </a:r>
            <a:r>
              <a:rPr lang="ko-KR" altLang="en-US" sz="1350" dirty="0">
                <a:solidFill>
                  <a:schemeClr val="bg1"/>
                </a:solidFill>
              </a:rPr>
              <a:t>데이터 지능 연구실</a:t>
            </a:r>
          </a:p>
        </p:txBody>
      </p:sp>
      <p:pic>
        <p:nvPicPr>
          <p:cNvPr id="5" name="그림 4" descr="텍스트, 폰트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5A6F3B02-DD84-057E-71AF-CF4DB78CDE1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975" y="2037364"/>
            <a:ext cx="3619499" cy="181230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E24B2-CE09-C44F-9363-2B82CBF0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D6D1-097E-45BD-BB54-88CCC5BD276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06345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2296</Words>
  <Application>Microsoft Office PowerPoint</Application>
  <PresentationFormat>화면 슬라이드 쇼(16:9)</PresentationFormat>
  <Paragraphs>418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HY견고딕</vt:lpstr>
      <vt:lpstr>Malgun Gothic</vt:lpstr>
      <vt:lpstr>Arial</vt:lpstr>
      <vt:lpstr>Consolas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2026-10-06T06:27:59Z</dcterms:created>
  <dcterms:modified xsi:type="dcterms:W3CDTF">2026-10-06T06:28:42Z</dcterms:modified>
</cp:coreProperties>
</file>