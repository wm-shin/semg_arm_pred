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2.xml" ContentType="application/vnd.openxmlformats-officedocument.drawingml.chart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E2485-1E49-4817-A0A4-DF5101574DA0}" v="4" dt="2026-10-06T06:30:55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6"/>
    <p:restoredTop sz="94635"/>
  </p:normalViewPr>
  <p:slideViewPr>
    <p:cSldViewPr snapToGrid="0" snapToObjects="1">
      <p:cViewPr varScale="1">
        <p:scale>
          <a:sx n="202" d="100"/>
          <a:sy n="202" d="100"/>
        </p:scale>
        <p:origin x="9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5697F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0.96879999999999999</c:v>
                </c:pt>
                <c:pt idx="1">
                  <c:v>0.96950000000000003</c:v>
                </c:pt>
                <c:pt idx="2">
                  <c:v>0.96879999999999999</c:v>
                </c:pt>
                <c:pt idx="3">
                  <c:v>0.96870000000000001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AF-4FA2-9FA8-933DBECEC5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0.96350000000000002</c:v>
                </c:pt>
                <c:pt idx="1">
                  <c:v>0.96409999999999996</c:v>
                </c:pt>
                <c:pt idx="2">
                  <c:v>0.96350000000000002</c:v>
                </c:pt>
                <c:pt idx="3">
                  <c:v>0.96350000000000002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AF-4FA2-9FA8-933DBECEC5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4C3A8C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0.95569999999999999</c:v>
                </c:pt>
                <c:pt idx="1">
                  <c:v>0.95669999999999999</c:v>
                </c:pt>
                <c:pt idx="2">
                  <c:v>0.95569999999999999</c:v>
                </c:pt>
                <c:pt idx="3">
                  <c:v>0.95589999999999997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AF-4FA2-9FA8-933DBECEC5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7184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7184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15697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GYJ</c:v>
                </c:pt>
                <c:pt idx="1">
                  <c:v>KDH</c:v>
                </c:pt>
                <c:pt idx="2">
                  <c:v>KMS</c:v>
                </c:pt>
                <c:pt idx="3">
                  <c:v>KYH</c:v>
                </c:pt>
                <c:pt idx="4">
                  <c:v>LDH</c:v>
                </c:pt>
                <c:pt idx="5">
                  <c:v>LSJ</c:v>
                </c:pt>
                <c:pt idx="6">
                  <c:v>LYT</c:v>
                </c:pt>
                <c:pt idx="7">
                  <c:v>SYJ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97.5</c:v>
                </c:pt>
                <c:pt idx="1">
                  <c:v>95.8</c:v>
                </c:pt>
                <c:pt idx="2">
                  <c:v>100</c:v>
                </c:pt>
                <c:pt idx="3">
                  <c:v>98.3</c:v>
                </c:pt>
                <c:pt idx="4">
                  <c:v>94.2</c:v>
                </c:pt>
                <c:pt idx="5">
                  <c:v>94.2</c:v>
                </c:pt>
                <c:pt idx="6">
                  <c:v>97.1</c:v>
                </c:pt>
                <c:pt idx="7">
                  <c:v>97.9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C-47F2-8987-C8963A61C3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GYJ</c:v>
                </c:pt>
                <c:pt idx="1">
                  <c:v>KDH</c:v>
                </c:pt>
                <c:pt idx="2">
                  <c:v>KMS</c:v>
                </c:pt>
                <c:pt idx="3">
                  <c:v>KYH</c:v>
                </c:pt>
                <c:pt idx="4">
                  <c:v>LDH</c:v>
                </c:pt>
                <c:pt idx="5">
                  <c:v>LSJ</c:v>
                </c:pt>
                <c:pt idx="6">
                  <c:v>LYT</c:v>
                </c:pt>
                <c:pt idx="7">
                  <c:v>SYJ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96.3</c:v>
                </c:pt>
                <c:pt idx="1">
                  <c:v>95.4</c:v>
                </c:pt>
                <c:pt idx="2">
                  <c:v>100</c:v>
                </c:pt>
                <c:pt idx="3">
                  <c:v>97.1</c:v>
                </c:pt>
                <c:pt idx="4">
                  <c:v>95</c:v>
                </c:pt>
                <c:pt idx="5">
                  <c:v>87.5</c:v>
                </c:pt>
                <c:pt idx="6">
                  <c:v>97.9</c:v>
                </c:pt>
                <c:pt idx="7">
                  <c:v>97.9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0C-47F2-8987-C8963A61C3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4C3A8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GYJ</c:v>
                </c:pt>
                <c:pt idx="1">
                  <c:v>KDH</c:v>
                </c:pt>
                <c:pt idx="2">
                  <c:v>KMS</c:v>
                </c:pt>
                <c:pt idx="3">
                  <c:v>KYH</c:v>
                </c:pt>
                <c:pt idx="4">
                  <c:v>LDH</c:v>
                </c:pt>
                <c:pt idx="5">
                  <c:v>LSJ</c:v>
                </c:pt>
                <c:pt idx="6">
                  <c:v>LYT</c:v>
                </c:pt>
                <c:pt idx="7">
                  <c:v>SYJ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97.9</c:v>
                </c:pt>
                <c:pt idx="1">
                  <c:v>94.6</c:v>
                </c:pt>
                <c:pt idx="2">
                  <c:v>100</c:v>
                </c:pt>
                <c:pt idx="3">
                  <c:v>98.3</c:v>
                </c:pt>
                <c:pt idx="4">
                  <c:v>96.3</c:v>
                </c:pt>
                <c:pt idx="5">
                  <c:v>95.4</c:v>
                </c:pt>
                <c:pt idx="6">
                  <c:v>95.4</c:v>
                </c:pt>
                <c:pt idx="7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0C-47F2-8987-C8963A61C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7184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7184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CF392A-7075-7860-5B40-1692E1448C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6117027-AEC7-402E-9E38-FDA70183B242}" type="datetime1">
              <a:t>2026-10-06</a:t>
            </a:fld>
            <a:endParaRPr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56164-45EE-0F1D-E2D6-497A1A56D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070D2-D670-FB48-B8CC-CAA90374D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095D6D1-097E-45BD-BB54-88CCC5BD276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hyperlink" Target="http://dil.cu.ac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BBA636-BBB1-4781-9770-E416ADCE24B4}"/>
              </a:ext>
            </a:extLst>
          </p:cNvPr>
          <p:cNvSpPr>
            <a:spLocks noGrp="1"/>
          </p:cNvSpPr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spc="200">
                <a:solidFill>
                  <a:srgbClr val="7FB3C4"/>
                </a:solidFill>
                <a:latin typeface="Malgun Gothic"/>
                <a:ea typeface="Malgun Gothic"/>
                <a:cs typeface="Malgun Gothic"/>
              </a:rPr>
              <a:t>STEP 2 · 1~3주차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7F0011-30A5-494F-85D0-668DE762AC32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sEMG 팔동작 예측 프로젝트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35C1A5-202D-4635-ACCC-A689289D2CE2}"/>
              </a:ext>
            </a:extLst>
          </p:cNvPr>
          <p:cNvSpPr>
            <a:spLocks noGrp="1"/>
          </p:cNvSpPr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손동작과 팔꿈치 각도를 동시에 분류한다 — 시간영역 특징 + 경량 머신러닝</a:t>
            </a:r>
            <a:endParaRPr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2F67EC-EF07-441E-9B06-AB53A18F3C3F}"/>
              </a:ext>
            </a:extLst>
          </p:cNvPr>
          <p:cNvSpPr>
            <a:spLocks noGrp="1"/>
          </p:cNvSpPr>
          <p:nvPr/>
        </p:nvSpPr>
        <p:spPr>
          <a:xfrm>
            <a:off x="731520" y="3291840"/>
            <a:ext cx="243840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D2420B-1A99-4F7A-9D11-EEDD8C6D416F}"/>
              </a:ext>
            </a:extLst>
          </p:cNvPr>
          <p:cNvSpPr>
            <a:spLocks noGrp="1"/>
          </p:cNvSpPr>
          <p:nvPr/>
        </p:nvSpPr>
        <p:spPr>
          <a:xfrm>
            <a:off x="731520" y="3401568"/>
            <a:ext cx="2438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 프로젝트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EB7EFC-19FA-4A68-AA2A-F331D1640D3E}"/>
              </a:ext>
            </a:extLst>
          </p:cNvPr>
          <p:cNvSpPr>
            <a:spLocks noGrp="1"/>
          </p:cNvSpPr>
          <p:nvPr/>
        </p:nvSpPr>
        <p:spPr>
          <a:xfrm>
            <a:off x="3352800" y="3291840"/>
            <a:ext cx="243840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DC9305-BC14-4E32-B528-8CFB66367925}"/>
              </a:ext>
            </a:extLst>
          </p:cNvPr>
          <p:cNvSpPr>
            <a:spLocks noGrp="1"/>
          </p:cNvSpPr>
          <p:nvPr/>
        </p:nvSpPr>
        <p:spPr>
          <a:xfrm>
            <a:off x="3352800" y="3401568"/>
            <a:ext cx="2438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시계열 생체신호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B7AB2F-0FB9-4169-A82B-CEBA3AA94B53}"/>
              </a:ext>
            </a:extLst>
          </p:cNvPr>
          <p:cNvSpPr>
            <a:spLocks noGrp="1"/>
          </p:cNvSpPr>
          <p:nvPr/>
        </p:nvSpPr>
        <p:spPr>
          <a:xfrm>
            <a:off x="5974080" y="3291840"/>
            <a:ext cx="243840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A74A4E-F69C-4D1F-95CA-A82BC6D16C3F}"/>
              </a:ext>
            </a:extLst>
          </p:cNvPr>
          <p:cNvSpPr>
            <a:spLocks noGrp="1"/>
          </p:cNvSpPr>
          <p:nvPr/>
        </p:nvSpPr>
        <p:spPr>
          <a:xfrm>
            <a:off x="5974080" y="3401568"/>
            <a:ext cx="2438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 기반 실습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A8A857-B0E5-4CFB-825C-3E9F41A0B494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9935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F056C-C3FC-4794-9B85-E1705F75A3CC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강의 개요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572433-7869-4B77-AB66-42CECC4BF700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강의가 다루는 연구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10EF4A-401E-4EB9-B688-CE43EAFF9189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Biomedical Engineering Letters 게재 논문을 교재로 삼는다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AEE0D-45B0-45F7-A82A-C94004AAF4D1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513F43-E09F-418A-B268-801CC32153F0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024937-7242-444A-AAE4-DBD263646A1A}"/>
              </a:ext>
            </a:extLst>
          </p:cNvPr>
          <p:cNvSpPr>
            <a:spLocks noGrp="1"/>
          </p:cNvSpPr>
          <p:nvPr/>
        </p:nvSpPr>
        <p:spPr>
          <a:xfrm>
            <a:off x="731520" y="1426464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3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Simultaneous classification of hand gestures and elbow angles using sEMG signals: a comparison of machine learning performances</a:t>
            </a:r>
            <a:endParaRPr sz="1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A380CD-5F18-49E7-AB3C-AF698FC46023}"/>
              </a:ext>
            </a:extLst>
          </p:cNvPr>
          <p:cNvSpPr>
            <a:spLocks noGrp="1"/>
          </p:cNvSpPr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Shinjeong Lee, Junghun Kim, Sang-Il Choi  ·  Rutgers University · Daegu Catholic University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73EFD5D-2193-4BD9-9613-7FC5487C3935}"/>
              </a:ext>
            </a:extLst>
          </p:cNvPr>
          <p:cNvSpPr>
            <a:spLocks noGrp="1"/>
          </p:cNvSpPr>
          <p:nvPr/>
        </p:nvSpPr>
        <p:spPr>
          <a:xfrm>
            <a:off x="548640" y="251460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ED1388-0DE0-4740-B825-5C5E71795A30}"/>
              </a:ext>
            </a:extLst>
          </p:cNvPr>
          <p:cNvSpPr>
            <a:spLocks noGrp="1"/>
          </p:cNvSpPr>
          <p:nvPr/>
        </p:nvSpPr>
        <p:spPr>
          <a:xfrm>
            <a:off x="685800" y="25877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게재지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2A08C6-78C2-4C8B-855E-F92A235B0A5F}"/>
              </a:ext>
            </a:extLst>
          </p:cNvPr>
          <p:cNvSpPr>
            <a:spLocks noGrp="1"/>
          </p:cNvSpPr>
          <p:nvPr/>
        </p:nvSpPr>
        <p:spPr>
          <a:xfrm>
            <a:off x="2560320" y="2587752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Biomedical Engineering Letters (2026) · Springer / KOSOMBE</a:t>
            </a:r>
            <a:endParaRPr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589ACD-D1FC-4380-A1E4-858623A973F7}"/>
              </a:ext>
            </a:extLst>
          </p:cNvPr>
          <p:cNvSpPr>
            <a:spLocks noGrp="1"/>
          </p:cNvSpPr>
          <p:nvPr/>
        </p:nvSpPr>
        <p:spPr>
          <a:xfrm>
            <a:off x="685800" y="30083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DOI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D665AC-D8CA-4D3D-B39E-EB815BC55185}"/>
              </a:ext>
            </a:extLst>
          </p:cNvPr>
          <p:cNvSpPr>
            <a:spLocks noGrp="1"/>
          </p:cNvSpPr>
          <p:nvPr/>
        </p:nvSpPr>
        <p:spPr>
          <a:xfrm>
            <a:off x="2560320" y="3008376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10.1007/s13534-026-00607-7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EAB11F8-4215-4CEB-B6AB-51913C6FF95C}"/>
              </a:ext>
            </a:extLst>
          </p:cNvPr>
          <p:cNvSpPr>
            <a:spLocks noGrp="1"/>
          </p:cNvSpPr>
          <p:nvPr/>
        </p:nvSpPr>
        <p:spPr>
          <a:xfrm>
            <a:off x="548640" y="3355848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3FEC32-05D3-4551-9125-6F34382560F0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투고 / 게재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5EFB6B-9ABB-4D91-82B5-43BCA5D3C7B4}"/>
              </a:ext>
            </a:extLst>
          </p:cNvPr>
          <p:cNvSpPr>
            <a:spLocks noGrp="1"/>
          </p:cNvSpPr>
          <p:nvPr/>
        </p:nvSpPr>
        <p:spPr>
          <a:xfrm>
            <a:off x="2560320" y="34290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2026년 3월 6일 투고 · 7월 20일 게재 확정 · 7월 25일 온라인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CA85D9-A435-4D87-88B9-8C9FC5253E80}"/>
              </a:ext>
            </a:extLst>
          </p:cNvPr>
          <p:cNvSpPr>
            <a:spLocks noGrp="1"/>
          </p:cNvSpPr>
          <p:nvPr/>
        </p:nvSpPr>
        <p:spPr>
          <a:xfrm>
            <a:off x="685800" y="384962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핵심 성과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F489BC-C176-4519-BD95-A9ABC95112EE}"/>
              </a:ext>
            </a:extLst>
          </p:cNvPr>
          <p:cNvSpPr>
            <a:spLocks noGrp="1"/>
          </p:cNvSpPr>
          <p:nvPr/>
        </p:nvSpPr>
        <p:spPr>
          <a:xfrm>
            <a:off x="2560320" y="3849624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 5-fold 정확도 96.72 ± 0.58% · 8클래스 동시 분류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C183787-C735-4166-A36D-CFB27EFBD8F9}"/>
              </a:ext>
            </a:extLst>
          </p:cNvPr>
          <p:cNvSpPr>
            <a:spLocks noGrp="1"/>
          </p:cNvSpPr>
          <p:nvPr/>
        </p:nvSpPr>
        <p:spPr>
          <a:xfrm>
            <a:off x="548640" y="4197096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0FAF57-415E-4A45-ADF8-B21F65C4D514}"/>
              </a:ext>
            </a:extLst>
          </p:cNvPr>
          <p:cNvSpPr>
            <a:spLocks noGrp="1"/>
          </p:cNvSpPr>
          <p:nvPr/>
        </p:nvSpPr>
        <p:spPr>
          <a:xfrm>
            <a:off x="685800" y="42702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IRB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B0C6076-67A8-4E2A-9CBB-0B4DA60B9EC0}"/>
              </a:ext>
            </a:extLst>
          </p:cNvPr>
          <p:cNvSpPr>
            <a:spLocks noGrp="1"/>
          </p:cNvSpPr>
          <p:nvPr/>
        </p:nvSpPr>
        <p:spPr>
          <a:xfrm>
            <a:off x="2560320" y="427024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경북대학교병원 (KNUH IRB 2025-08-024-003)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5A5FD13-E093-4FF1-B0D8-CF7C8600478C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Step 1이 딥러닝으로 누구인지를 물었다면, 이 연구는 경량 머신러닝으로 무엇을 하려는지를 묻는다.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6900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8A42B7-F8EC-49FE-8BDC-75F104C62FB5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개요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8FDBDF-7383-4113-A4B0-D7E024C4EC32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Step 2 프로젝트 한눈에 보기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931461-3CFE-4C55-A8CD-94D7BB57E645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3주 동안 무엇을 만들고 무엇을 제출하는가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CC3B85-7EF2-4AC5-94AF-995A96F292B7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C82292-88A1-4F28-AD32-B79BD88DA224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04CC1B-F449-4AA7-891D-290357CD342F}"/>
              </a:ext>
            </a:extLst>
          </p:cNvPr>
          <p:cNvSpPr>
            <a:spLocks noGrp="1"/>
          </p:cNvSpPr>
          <p:nvPr/>
        </p:nvSpPr>
        <p:spPr>
          <a:xfrm>
            <a:off x="685800" y="149047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진행 방법</a:t>
            </a:r>
            <a:endParaRPr sz="10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6B80FA-46AC-4809-A3C3-543613BCFA0F}"/>
              </a:ext>
            </a:extLst>
          </p:cNvPr>
          <p:cNvSpPr>
            <a:spLocks noGrp="1"/>
          </p:cNvSpPr>
          <p:nvPr/>
        </p:nvSpPr>
        <p:spPr>
          <a:xfrm>
            <a:off x="2926080" y="14904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개인 프로젝트 (1인 1파이프라인 재현)</a:t>
            </a:r>
            <a:endParaRPr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9A02B7-63C1-494B-8E2D-BC2157D65285}"/>
              </a:ext>
            </a:extLst>
          </p:cNvPr>
          <p:cNvSpPr>
            <a:spLocks noGrp="1"/>
          </p:cNvSpPr>
          <p:nvPr/>
        </p:nvSpPr>
        <p:spPr>
          <a:xfrm>
            <a:off x="685800" y="202082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분야</a:t>
            </a:r>
            <a:endParaRPr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522B65-BBEE-43D6-B41C-C8E92AC68903}"/>
              </a:ext>
            </a:extLst>
          </p:cNvPr>
          <p:cNvSpPr>
            <a:spLocks noGrp="1"/>
          </p:cNvSpPr>
          <p:nvPr/>
        </p:nvSpPr>
        <p:spPr>
          <a:xfrm>
            <a:off x="2926080" y="2020824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시계열 생체신호 · 다차원 동작 의도 인식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4923B5D-FC48-430B-9C02-2E34F7522150}"/>
              </a:ext>
            </a:extLst>
          </p:cNvPr>
          <p:cNvSpPr>
            <a:spLocks noGrp="1"/>
          </p:cNvSpPr>
          <p:nvPr/>
        </p:nvSpPr>
        <p:spPr>
          <a:xfrm>
            <a:off x="548640" y="2478024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59D2B0E-0F4D-41E7-A5B4-7C0B9B972278}"/>
              </a:ext>
            </a:extLst>
          </p:cNvPr>
          <p:cNvSpPr>
            <a:spLocks noGrp="1"/>
          </p:cNvSpPr>
          <p:nvPr/>
        </p:nvSpPr>
        <p:spPr>
          <a:xfrm>
            <a:off x="685800" y="255117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사용 알고리즘</a:t>
            </a:r>
            <a:endParaRPr sz="10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D5B4A7F-AE86-4299-87DA-5E127C2D15ED}"/>
              </a:ext>
            </a:extLst>
          </p:cNvPr>
          <p:cNvSpPr>
            <a:spLocks noGrp="1"/>
          </p:cNvSpPr>
          <p:nvPr/>
        </p:nvSpPr>
        <p:spPr>
          <a:xfrm>
            <a:off x="2926080" y="2551176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· Random Forest · XGBoost (시간영역 특징 기반)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AA15D6-B7FA-48B1-A4A7-72C91AB72093}"/>
              </a:ext>
            </a:extLst>
          </p:cNvPr>
          <p:cNvSpPr>
            <a:spLocks noGrp="1"/>
          </p:cNvSpPr>
          <p:nvPr/>
        </p:nvSpPr>
        <p:spPr>
          <a:xfrm>
            <a:off x="685800" y="308152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입력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27B9D4-8E95-4251-9E32-09C6265CF595}"/>
              </a:ext>
            </a:extLst>
          </p:cNvPr>
          <p:cNvSpPr>
            <a:spLocks noGrp="1"/>
          </p:cNvSpPr>
          <p:nvPr/>
        </p:nvSpPr>
        <p:spPr>
          <a:xfrm>
            <a:off x="2926080" y="3081528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전완·상완 5채널 sEMG (1 kHz) — 정적 자세 유지 중 측정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E9D2CD9-78C8-4AD0-B527-C5B6648EB82F}"/>
              </a:ext>
            </a:extLst>
          </p:cNvPr>
          <p:cNvSpPr>
            <a:spLocks noGrp="1"/>
          </p:cNvSpPr>
          <p:nvPr/>
        </p:nvSpPr>
        <p:spPr>
          <a:xfrm>
            <a:off x="548640" y="3538728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C2841D-F72B-46FB-9680-DF5D4C768D43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출력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F6B072-F98E-44BA-8953-8422B258B8DC}"/>
              </a:ext>
            </a:extLst>
          </p:cNvPr>
          <p:cNvSpPr>
            <a:spLocks noGrp="1"/>
          </p:cNvSpPr>
          <p:nvPr/>
        </p:nvSpPr>
        <p:spPr>
          <a:xfrm>
            <a:off x="2926080" y="3611880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손동작 4종 × 팔꿈치 각도 2종 = 8클래스 동시 분류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FFA935-B522-4FEA-9696-DC82ADFD1B4A}"/>
              </a:ext>
            </a:extLst>
          </p:cNvPr>
          <p:cNvSpPr>
            <a:spLocks noGrp="1"/>
          </p:cNvSpPr>
          <p:nvPr/>
        </p:nvSpPr>
        <p:spPr>
          <a:xfrm>
            <a:off x="685800" y="414223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최종 산출물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0548F2-63B3-4000-9AB0-A7C83B18632A}"/>
              </a:ext>
            </a:extLst>
          </p:cNvPr>
          <p:cNvSpPr>
            <a:spLocks noGrp="1"/>
          </p:cNvSpPr>
          <p:nvPr/>
        </p:nvSpPr>
        <p:spPr>
          <a:xfrm>
            <a:off x="2926080" y="41422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재현 코드 + 3모델 비교 리포트 + 혼동행렬 분석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1356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B4A6E0-41C5-4ABA-B115-7233B48131AB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개요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0DCE39-675A-4053-986A-58159B8B3134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목표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713B61-F5FD-42BC-98FA-F15284CF2934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3주 후 학생이 스스로 할 수 있어야 하는 것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007B77-D574-461D-84FE-474F879A97F4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1344AA-97F8-4830-9075-1B5EDAB8A4CF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B9C9D3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A25D4C-D5FD-4394-A658-2E12F0CEAE0A}"/>
              </a:ext>
            </a:extLst>
          </p:cNvPr>
          <p:cNvSpPr>
            <a:spLocks noGrp="1"/>
          </p:cNvSpPr>
          <p:nvPr/>
        </p:nvSpPr>
        <p:spPr>
          <a:xfrm>
            <a:off x="1051560" y="1371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문제를 설계한다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25ED5B-BB0D-423D-A875-24EFC462C71C}"/>
              </a:ext>
            </a:extLst>
          </p:cNvPr>
          <p:cNvSpPr>
            <a:spLocks noGrp="1"/>
          </p:cNvSpPr>
          <p:nvPr/>
        </p:nvSpPr>
        <p:spPr>
          <a:xfrm>
            <a:off x="2971800" y="1344168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단일 축 분류를 다차원 동시 분류로 확장하는 방법과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클래스 정의 방식을 설명할 수 있다</a:t>
            </a:r>
            <a:endParaRPr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02645E-8F01-4619-9F54-6B11056A6955}"/>
              </a:ext>
            </a:extLst>
          </p:cNvPr>
          <p:cNvSpPr>
            <a:spLocks noGrp="1"/>
          </p:cNvSpPr>
          <p:nvPr/>
        </p:nvSpPr>
        <p:spPr>
          <a:xfrm>
            <a:off x="548640" y="20756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B9C9D3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E8DD9A-62F6-4DD5-899D-7ACC0328E6CE}"/>
              </a:ext>
            </a:extLst>
          </p:cNvPr>
          <p:cNvSpPr>
            <a:spLocks noGrp="1"/>
          </p:cNvSpPr>
          <p:nvPr/>
        </p:nvSpPr>
        <p:spPr>
          <a:xfrm>
            <a:off x="1051560" y="20299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특징을 만든다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E733B4-295E-4201-BE9E-84D68C3D94A3}"/>
              </a:ext>
            </a:extLst>
          </p:cNvPr>
          <p:cNvSpPr>
            <a:spLocks noGrp="1"/>
          </p:cNvSpPr>
          <p:nvPr/>
        </p:nvSpPr>
        <p:spPr>
          <a:xfrm>
            <a:off x="2971800" y="2002536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RMS · MAV · WL · ZC · SSC를 직접 구현하고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채널 수와 특징 수로 차원을 계산할 수 있다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4463E50-74BA-4C6E-8981-157F8CC0FD51}"/>
              </a:ext>
            </a:extLst>
          </p:cNvPr>
          <p:cNvSpPr>
            <a:spLocks noGrp="1"/>
          </p:cNvSpPr>
          <p:nvPr/>
        </p:nvSpPr>
        <p:spPr>
          <a:xfrm>
            <a:off x="548640" y="27340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B9C9D3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8D1C444-E720-47EE-95B0-F0806F3F2BB4}"/>
              </a:ext>
            </a:extLst>
          </p:cNvPr>
          <p:cNvSpPr>
            <a:spLocks noGrp="1"/>
          </p:cNvSpPr>
          <p:nvPr/>
        </p:nvSpPr>
        <p:spPr>
          <a:xfrm>
            <a:off x="1051560" y="2688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모델을 고른다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1272D0-4713-40B9-B282-562050FCE78F}"/>
              </a:ext>
            </a:extLst>
          </p:cNvPr>
          <p:cNvSpPr>
            <a:spLocks noGrp="1"/>
          </p:cNvSpPr>
          <p:nvPr/>
        </p:nvSpPr>
        <p:spPr>
          <a:xfrm>
            <a:off x="2971800" y="2660904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· RF · XGBoost의 동작 원리와 하이퍼파라미터를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근거와 함께 설정할 수 있다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5969363-C4A5-431E-AD95-B5A99E736C6F}"/>
              </a:ext>
            </a:extLst>
          </p:cNvPr>
          <p:cNvSpPr>
            <a:spLocks noGrp="1"/>
          </p:cNvSpPr>
          <p:nvPr/>
        </p:nvSpPr>
        <p:spPr>
          <a:xfrm>
            <a:off x="548640" y="33924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B9C9D3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938A41-5ACE-4AAC-B9D4-5774226034B2}"/>
              </a:ext>
            </a:extLst>
          </p:cNvPr>
          <p:cNvSpPr>
            <a:spLocks noGrp="1"/>
          </p:cNvSpPr>
          <p:nvPr/>
        </p:nvSpPr>
        <p:spPr>
          <a:xfrm>
            <a:off x="1051560" y="33467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검증을 설계한다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81AA78-05EC-47A6-8D9F-EDF783009ABC}"/>
              </a:ext>
            </a:extLst>
          </p:cNvPr>
          <p:cNvSpPr>
            <a:spLocks noGrp="1"/>
          </p:cNvSpPr>
          <p:nvPr/>
        </p:nvSpPr>
        <p:spPr>
          <a:xfrm>
            <a:off x="2971800" y="3319272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hold-out과 층화 교차검증의 차이를 알고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분할 단위가 결과 해석에 미치는 영향을 설명할 수 있다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B2923C-6768-4D62-AC84-2D5A8A4CCA44}"/>
              </a:ext>
            </a:extLst>
          </p:cNvPr>
          <p:cNvSpPr>
            <a:spLocks noGrp="1"/>
          </p:cNvSpPr>
          <p:nvPr/>
        </p:nvSpPr>
        <p:spPr>
          <a:xfrm>
            <a:off x="548640" y="40507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B9C9D3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9456CE-00FC-4DBE-9B8E-344C8C535E1D}"/>
              </a:ext>
            </a:extLst>
          </p:cNvPr>
          <p:cNvSpPr>
            <a:spLocks noGrp="1"/>
          </p:cNvSpPr>
          <p:nvPr/>
        </p:nvSpPr>
        <p:spPr>
          <a:xfrm>
            <a:off x="1051560" y="40050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한계를 읽는다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0AB9A9-82EA-43A9-9B21-6C32EB4E192A}"/>
              </a:ext>
            </a:extLst>
          </p:cNvPr>
          <p:cNvSpPr>
            <a:spLocks noGrp="1"/>
          </p:cNvSpPr>
          <p:nvPr/>
        </p:nvSpPr>
        <p:spPr>
          <a:xfrm>
            <a:off x="2971800" y="397764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trial-wise 검증의 의미와 피험자 독립 일반화의 차이를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구분하고 결과를 과대해석하지 않을 수 있다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5971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52CC00-908D-4186-871B-F0F962502BEE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개요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E43EE-A911-422F-A360-F2A810D76902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3주 학습 로드맵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B0C47A-2A58-4AE2-B463-691134E6B2EC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주차별 강의 내용과 제출물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E715E2-CEBA-49D0-9F48-298F74DF245D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A8B204-766C-4BAC-B54F-666C03AA3495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E60E3F-CCD5-49D4-BAF0-540FDD9A2D83}"/>
              </a:ext>
            </a:extLst>
          </p:cNvPr>
          <p:cNvSpPr>
            <a:spLocks noGrp="1"/>
          </p:cNvSpPr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1주차</a:t>
            </a:r>
            <a:endParaRPr sz="1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E4356C-C99E-4AF9-91E3-0F42933B1D56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문제 정의와 배경</a:t>
            </a:r>
            <a:endParaRPr sz="12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1741E5-AB8D-4940-BFD1-5DBD4B534AF8}"/>
              </a:ext>
            </a:extLst>
          </p:cNvPr>
          <p:cNvSpPr>
            <a:spLocks noGrp="1"/>
          </p:cNvSpPr>
          <p:nvPr/>
        </p:nvSpPr>
        <p:spPr>
          <a:xfrm>
            <a:off x="731520" y="23774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HMI와 동작 의도 해독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단일 센서 접근의 의미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8클래스 설계 논리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A0BA3B-A795-4B6A-997D-FE7AA5746178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과제: 클래스 설계안 작성</a:t>
            </a:r>
            <a:endParaRPr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2081A9-5009-4493-8B3D-2A20ECFE151D}"/>
              </a:ext>
            </a:extLst>
          </p:cNvPr>
          <p:cNvSpPr>
            <a:spLocks noGrp="1"/>
          </p:cNvSpPr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6B644A0-CC2F-44A5-B5C8-6F7AE3384221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2주차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17F47C-8BA3-4B77-BA84-39F33161AD7B}"/>
              </a:ext>
            </a:extLst>
          </p:cNvPr>
          <p:cNvSpPr>
            <a:spLocks noGrp="1"/>
          </p:cNvSpPr>
          <p:nvPr/>
        </p:nvSpPr>
        <p:spPr>
          <a:xfrm>
            <a:off x="3474720" y="18105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데이터와 특징</a:t>
            </a:r>
            <a:endParaRPr sz="12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A86D7A-1769-4A31-BB9D-05F05612F717}"/>
              </a:ext>
            </a:extLst>
          </p:cNvPr>
          <p:cNvSpPr>
            <a:spLocks noGrp="1"/>
          </p:cNvSpPr>
          <p:nvPr/>
        </p:nvSpPr>
        <p:spPr>
          <a:xfrm>
            <a:off x="3474720" y="23774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측정 프로토콜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 5종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윈도우당 25차원 특징 벡터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B98166-5C71-4BCA-9A53-B16672BE0B36}"/>
              </a:ext>
            </a:extLst>
          </p:cNvPr>
          <p:cNvSpPr>
            <a:spLocks noGrp="1"/>
          </p:cNvSpPr>
          <p:nvPr/>
        </p:nvSpPr>
        <p:spPr>
          <a:xfrm>
            <a:off x="3474720" y="3703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과제: 특징 추출기 구현</a:t>
            </a:r>
            <a:endParaRPr sz="9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57D2F55-0F2D-4BE3-A2F4-F46770284BC2}"/>
              </a:ext>
            </a:extLst>
          </p:cNvPr>
          <p:cNvSpPr>
            <a:spLocks noGrp="1"/>
          </p:cNvSpPr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ECE9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13E0BA4-89B7-4261-9DBD-9C494F770C09}"/>
              </a:ext>
            </a:extLst>
          </p:cNvPr>
          <p:cNvSpPr>
            <a:spLocks noGrp="1"/>
          </p:cNvSpPr>
          <p:nvPr/>
        </p:nvSpPr>
        <p:spPr>
          <a:xfrm>
            <a:off x="621792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4C3A8C"/>
                </a:solidFill>
                <a:latin typeface="Malgun Gothic"/>
                <a:ea typeface="Malgun Gothic"/>
                <a:cs typeface="Malgun Gothic"/>
              </a:rPr>
              <a:t>3주차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CD08EE2-D3E2-4132-B0C3-DF5C01D0BE25}"/>
              </a:ext>
            </a:extLst>
          </p:cNvPr>
          <p:cNvSpPr>
            <a:spLocks noGrp="1"/>
          </p:cNvSpPr>
          <p:nvPr/>
        </p:nvSpPr>
        <p:spPr>
          <a:xfrm>
            <a:off x="6217920" y="18105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모델과 검증</a:t>
            </a:r>
            <a:endParaRPr sz="12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7427604-14B0-42F2-8992-C47C0057ACA9}"/>
              </a:ext>
            </a:extLst>
          </p:cNvPr>
          <p:cNvSpPr>
            <a:spLocks noGrp="1"/>
          </p:cNvSpPr>
          <p:nvPr/>
        </p:nvSpPr>
        <p:spPr>
          <a:xfrm>
            <a:off x="6217920" y="23774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· RF · XGBoost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교차검증과 통계 검정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혼동행렬 분석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A6BFA4D-D55E-40AC-B134-5B5E8F4150AC}"/>
              </a:ext>
            </a:extLst>
          </p:cNvPr>
          <p:cNvSpPr>
            <a:spLocks noGrp="1"/>
          </p:cNvSpPr>
          <p:nvPr/>
        </p:nvSpPr>
        <p:spPr>
          <a:xfrm>
            <a:off x="6217920" y="3703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4C3A8C"/>
                </a:solidFill>
                <a:latin typeface="Malgun Gothic"/>
                <a:ea typeface="Malgun Gothic"/>
                <a:cs typeface="Malgun Gothic"/>
              </a:rPr>
              <a:t>과제: 3모델 비교 리포트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34236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F68CBC-25B5-4937-91C9-C05E3ACA24FA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개요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B03891-292B-47C1-9585-D63BB634FA64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평가 방법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4C3210-F62B-417C-A7C1-39E927AB6806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8클래스 분류 정확도 순위 기반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6A4ADD-AE2E-4724-82E9-569481FFF8E0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C401DA-A5FF-403D-A8DA-F1B69CB16129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91F787-AE7D-4BF4-995A-085DA1F4D406}"/>
              </a:ext>
            </a:extLst>
          </p:cNvPr>
          <p:cNvSpPr>
            <a:spLocks noGrp="1"/>
          </p:cNvSpPr>
          <p:nvPr/>
        </p:nvSpPr>
        <p:spPr>
          <a:xfrm>
            <a:off x="685800" y="14721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A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427DD7-1456-422A-AAA4-070D504CDB05}"/>
              </a:ext>
            </a:extLst>
          </p:cNvPr>
          <p:cNvSpPr>
            <a:spLocks noGrp="1"/>
          </p:cNvSpPr>
          <p:nvPr/>
        </p:nvSpPr>
        <p:spPr>
          <a:xfrm>
            <a:off x="1234440" y="14904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테스트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정확도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상위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lang="ko-KR" altLang="en-US"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이상</a:t>
            </a:r>
            <a:endParaRPr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00B480-C0F2-4EDD-A46B-6451D1E57320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69BC28-303E-47BB-BD78-61E444BF471A}"/>
              </a:ext>
            </a:extLst>
          </p:cNvPr>
          <p:cNvSpPr>
            <a:spLocks noGrp="1"/>
          </p:cNvSpPr>
          <p:nvPr/>
        </p:nvSpPr>
        <p:spPr>
          <a:xfrm>
            <a:off x="685800" y="2020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B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B6BE615-4BE6-4373-8973-25DCFF96620E}"/>
              </a:ext>
            </a:extLst>
          </p:cNvPr>
          <p:cNvSpPr>
            <a:spLocks noGrp="1"/>
          </p:cNvSpPr>
          <p:nvPr/>
        </p:nvSpPr>
        <p:spPr>
          <a:xfrm>
            <a:off x="1234440" y="20391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테스트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정확도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dirty="0" err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상위</a:t>
            </a:r>
            <a:r>
              <a:rPr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150" dirty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lang="ko-KR" altLang="en-US" sz="11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미만</a:t>
            </a:r>
            <a:endParaRPr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F578E6B-0D72-41F2-8DD4-1B315835DDFB}"/>
              </a:ext>
            </a:extLst>
          </p:cNvPr>
          <p:cNvSpPr>
            <a:spLocks noGrp="1"/>
          </p:cNvSpPr>
          <p:nvPr/>
        </p:nvSpPr>
        <p:spPr>
          <a:xfrm>
            <a:off x="548640" y="246888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ECE9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4270FF-1304-4A3F-826C-F11ECBAFC993}"/>
              </a:ext>
            </a:extLst>
          </p:cNvPr>
          <p:cNvSpPr>
            <a:spLocks noGrp="1"/>
          </p:cNvSpPr>
          <p:nvPr/>
        </p:nvSpPr>
        <p:spPr>
          <a:xfrm>
            <a:off x="685800" y="25694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4C3A8C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A1C101A-2CE5-42B9-9DDB-50DAC351C087}"/>
              </a:ext>
            </a:extLst>
          </p:cNvPr>
          <p:cNvSpPr>
            <a:spLocks noGrp="1"/>
          </p:cNvSpPr>
          <p:nvPr/>
        </p:nvSpPr>
        <p:spPr>
          <a:xfrm>
            <a:off x="1234440" y="258775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그 외 완주자</a:t>
            </a:r>
            <a:endParaRPr sz="11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7F58611-E0D0-43C2-BDB3-AAC86BCB0B47}"/>
              </a:ext>
            </a:extLst>
          </p:cNvPr>
          <p:cNvSpPr>
            <a:spLocks noGrp="1"/>
          </p:cNvSpPr>
          <p:nvPr/>
        </p:nvSpPr>
        <p:spPr>
          <a:xfrm>
            <a:off x="548640" y="301752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162125-FC5B-48C1-904A-2AE1A4A70BDA}"/>
              </a:ext>
            </a:extLst>
          </p:cNvPr>
          <p:cNvSpPr>
            <a:spLocks noGrp="1"/>
          </p:cNvSpPr>
          <p:nvPr/>
        </p:nvSpPr>
        <p:spPr>
          <a:xfrm>
            <a:off x="685800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81B1D7-8312-45C8-96D1-8235D1E95623}"/>
              </a:ext>
            </a:extLst>
          </p:cNvPr>
          <p:cNvSpPr>
            <a:spLocks noGrp="1"/>
          </p:cNvSpPr>
          <p:nvPr/>
        </p:nvSpPr>
        <p:spPr>
          <a:xfrm>
            <a:off x="1234440" y="31363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미완성 (제출물 누락)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88773AD-6C39-4A9D-805C-8E990144343F}"/>
              </a:ext>
            </a:extLst>
          </p:cNvPr>
          <p:cNvSpPr>
            <a:spLocks noGrp="1"/>
          </p:cNvSpPr>
          <p:nvPr/>
        </p:nvSpPr>
        <p:spPr>
          <a:xfrm>
            <a:off x="5760720" y="1371600"/>
            <a:ext cx="2834640" cy="2103120"/>
          </a:xfrm>
          <a:prstGeom prst="roundRect">
            <a:avLst>
              <a:gd name="adj" fmla="val 2609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E9910EE-BC0E-4D7C-B422-C549E257192C}"/>
              </a:ext>
            </a:extLst>
          </p:cNvPr>
          <p:cNvSpPr>
            <a:spLocks noGrp="1"/>
          </p:cNvSpPr>
          <p:nvPr/>
        </p:nvSpPr>
        <p:spPr>
          <a:xfrm>
            <a:off x="5943600" y="14813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순위 산정 규칙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650BEF-CA08-4E14-A71F-30F64C536A35}"/>
              </a:ext>
            </a:extLst>
          </p:cNvPr>
          <p:cNvSpPr>
            <a:spLocks noGrp="1"/>
          </p:cNvSpPr>
          <p:nvPr/>
        </p:nvSpPr>
        <p:spPr>
          <a:xfrm>
            <a:off x="5943600" y="1810512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동일 데이터 · 동일 분할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5-fold 평균 정확도 기준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혼동행렬 제출 필수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동점 시 추론 시간 우선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748923-C4D6-49BA-8942-F48A30C59B47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세 모델의 성능 차이가 통계적으로 유의하지 않다는 것이 이 논문의 결과다. 순위보다 왜 그런지를 설명하는 능력을 본다.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6538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0ED0CC-2C06-4838-B45B-7D957B25AB30}"/>
              </a:ext>
            </a:extLst>
          </p:cNvPr>
          <p:cNvSpPr>
            <a:spLocks noGrp="1"/>
          </p:cNvSpPr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spc="200">
                <a:solidFill>
                  <a:srgbClr val="7FB3C4"/>
                </a:solidFill>
                <a:latin typeface="Malgun Gothic"/>
                <a:ea typeface="Malgun Gothic"/>
                <a:cs typeface="Malgun Gothic"/>
              </a:rPr>
              <a:t>PART 1 · 1주차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227BE9-3386-41D0-A869-293C9421853F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 정의와 배경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77A3A0-048F-4639-A084-5847F54F0CDE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왜 손동작과 각도를 동시에 봐야 하는가</a:t>
            </a: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BFB80B-757F-40C2-8660-D477139E8704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2035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5DC0CF-A1C5-4908-9348-12971943835D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배경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32E5CD-652C-49BB-A944-6B54E577412D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동작 의도 해독이라는 과제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4BDD28-1014-4957-A275-6C2D8953EAF1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sEMG가 HMI에서 널리 쓰이는 이유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58D1FC-0EEC-4C27-9B03-C9DC2BF76111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8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DDADDE-C666-46DF-BFAA-61B48EC6CA0F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C35D03-8AE4-43A1-A0AA-9EE5121FB89B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응용 분야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6419B73-4164-4099-BD7B-DC6308E39F75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근전 의수(myoelectric prosthetic hand) 제어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재활 로보틱스 — 보조 및 훈련 시스템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VR 컨트롤러 등 인터랙티브 시스템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공통점: 사용자의 의도를 실시간으로 읽어야 한다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C494D1A-64D8-472B-8B52-423DB881DB1C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4D92A55-4C51-42BD-A243-30885B972BBB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sEMG가 선택되는 이유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180968-18BF-4427-9148-8453AC411099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비침습적으로 피부 표면에서 측정 가능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근활성 패턴이 사용자 의도를 직접 반영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실시간 해독이 가능한 응답 속도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보조·상호작용 시스템 제어에 유망한 모달리티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D9736D4-A526-48A5-8543-3FE130BCEE7A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9A0C9B-9530-4A08-A4B4-2FDFD2FD5047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기존 연구가 갇혀 있던 틀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399250C-83A2-4047-B20E-5AFB1A26D54F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전통적 sEMG 동작 인식 연구는 의도의 한 가지 측면만 다뤄왔다 — 손동작 분류 또는 팔꿈치 각도 추정 중 하나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개별 과제에서는 효과적이지만, 일상 활동을 특징짓는 다자유도 복합 움직임을 해석하기에는 한계가 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손을 쥐는 동작 하나만 알아도 팔이 어느 자세인지 모르면 실제 보조 기기를 제대로 제어할 수 없다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8918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F1770-11A8-4C40-B01E-83F00B269F82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배경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A51C19-15E8-427E-8006-A1608903A09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센서를 추가하면 되지 않는가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18FD42-4C71-433A-BB6C-80BF7F8A2E44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IMU 융합의 명과 암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DCA2BE-3289-42B2-ABA8-DA03509B313E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9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7A4192D-56CE-4545-A8E7-69196BCEC305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FCB918-7E87-4D5A-BDD1-C7B4E139F7F5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F16D7E-7C56-4AEB-8054-6B198075A78E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506623-B1B0-496C-939A-21669421A179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다중 센서(sEMG + IMU)의 영향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C3C968B-A5C9-41EF-B858-33A19433981D}"/>
              </a:ext>
            </a:extLst>
          </p:cNvPr>
          <p:cNvSpPr>
            <a:spLocks noGrp="1"/>
          </p:cNvSpPr>
          <p:nvPr/>
        </p:nvSpPr>
        <p:spPr>
          <a:xfrm>
            <a:off x="5120640" y="137160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8C9106-54CC-4066-BD8F-4FBA5874D33B}"/>
              </a:ext>
            </a:extLst>
          </p:cNvPr>
          <p:cNvSpPr>
            <a:spLocks noGrp="1"/>
          </p:cNvSpPr>
          <p:nvPr/>
        </p:nvSpPr>
        <p:spPr>
          <a:xfrm>
            <a:off x="5120640" y="14356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시사점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249F34-CF4D-48BD-AF47-86F729F2FD50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6625BC9-6483-4941-9C63-9DE7BE8A61EE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추정 정확도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265980-C339-4BFE-BC29-79C187B5E252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27066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다중 센서 융합으로 향상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F8FE04-B820-4268-B881-C730FE8E2B08}"/>
              </a:ext>
            </a:extLst>
          </p:cNvPr>
          <p:cNvSpPr>
            <a:spLocks noGrp="1"/>
          </p:cNvSpPr>
          <p:nvPr/>
        </p:nvSpPr>
        <p:spPr>
          <a:xfrm>
            <a:off x="5230368" y="1837944"/>
            <a:ext cx="32552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가장 확실한 장점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C30A2CA-405B-40BD-B524-037527EDD6B0}"/>
              </a:ext>
            </a:extLst>
          </p:cNvPr>
          <p:cNvSpPr>
            <a:spLocks noGrp="1"/>
          </p:cNvSpPr>
          <p:nvPr/>
        </p:nvSpPr>
        <p:spPr>
          <a:xfrm>
            <a:off x="658368" y="2306117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시스템 비용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A9F864-8EA5-488F-8FCF-0BE55B9E3A32}"/>
              </a:ext>
            </a:extLst>
          </p:cNvPr>
          <p:cNvSpPr>
            <a:spLocks noGrp="1"/>
          </p:cNvSpPr>
          <p:nvPr/>
        </p:nvSpPr>
        <p:spPr>
          <a:xfrm>
            <a:off x="2304288" y="2306117"/>
            <a:ext cx="27066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센서 수만큼 증가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1BF748-7C95-4C98-B29C-C788BB49EF3F}"/>
              </a:ext>
            </a:extLst>
          </p:cNvPr>
          <p:cNvSpPr>
            <a:spLocks noGrp="1"/>
          </p:cNvSpPr>
          <p:nvPr/>
        </p:nvSpPr>
        <p:spPr>
          <a:xfrm>
            <a:off x="5230368" y="2306117"/>
            <a:ext cx="32552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저가·보급형 기기에 부담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4AFEE5F-26C7-48A7-ADD1-8CAD822F0FE5}"/>
              </a:ext>
            </a:extLst>
          </p:cNvPr>
          <p:cNvSpPr>
            <a:spLocks noGrp="1"/>
          </p:cNvSpPr>
          <p:nvPr/>
        </p:nvSpPr>
        <p:spPr>
          <a:xfrm>
            <a:off x="548640" y="2710282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44ACDE-E354-4C73-B00A-0B65368AFEC3}"/>
              </a:ext>
            </a:extLst>
          </p:cNvPr>
          <p:cNvSpPr>
            <a:spLocks noGrp="1"/>
          </p:cNvSpPr>
          <p:nvPr/>
        </p:nvSpPr>
        <p:spPr>
          <a:xfrm>
            <a:off x="658368" y="2774290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 동기화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A769DEC-1AE0-4916-AAB4-6E3C53653823}"/>
              </a:ext>
            </a:extLst>
          </p:cNvPr>
          <p:cNvSpPr>
            <a:spLocks noGrp="1"/>
          </p:cNvSpPr>
          <p:nvPr/>
        </p:nvSpPr>
        <p:spPr>
          <a:xfrm>
            <a:off x="2304288" y="2774290"/>
            <a:ext cx="27066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서로 다른 센서 간 시각 정렬 문제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3964DE7-A406-4CA0-ACC1-23DF747D1474}"/>
              </a:ext>
            </a:extLst>
          </p:cNvPr>
          <p:cNvSpPr>
            <a:spLocks noGrp="1"/>
          </p:cNvSpPr>
          <p:nvPr/>
        </p:nvSpPr>
        <p:spPr>
          <a:xfrm>
            <a:off x="5230368" y="2774290"/>
            <a:ext cx="32552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오차가 곧 학습 오차가 된다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282E3CB-98D9-40F9-A67B-0EB36ECD45B0}"/>
              </a:ext>
            </a:extLst>
          </p:cNvPr>
          <p:cNvSpPr>
            <a:spLocks noGrp="1"/>
          </p:cNvSpPr>
          <p:nvPr/>
        </p:nvSpPr>
        <p:spPr>
          <a:xfrm>
            <a:off x="658368" y="3242462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하드웨어 복잡도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AEDA172-3287-466B-82D5-B2F256ED4D93}"/>
              </a:ext>
            </a:extLst>
          </p:cNvPr>
          <p:cNvSpPr>
            <a:spLocks noGrp="1"/>
          </p:cNvSpPr>
          <p:nvPr/>
        </p:nvSpPr>
        <p:spPr>
          <a:xfrm>
            <a:off x="2304288" y="3242462"/>
            <a:ext cx="27066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배선·전원·착용 부담 증가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5A9AD59-1A9E-4690-9890-32908924A89F}"/>
              </a:ext>
            </a:extLst>
          </p:cNvPr>
          <p:cNvSpPr>
            <a:spLocks noGrp="1"/>
          </p:cNvSpPr>
          <p:nvPr/>
        </p:nvSpPr>
        <p:spPr>
          <a:xfrm>
            <a:off x="5230368" y="3242462"/>
            <a:ext cx="32552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웨어러블·임상 응용의 실용성 저하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86AF66F-89FF-4944-8B6E-64C62965D9E5}"/>
              </a:ext>
            </a:extLst>
          </p:cNvPr>
          <p:cNvSpPr>
            <a:spLocks noGrp="1"/>
          </p:cNvSpPr>
          <p:nvPr/>
        </p:nvSpPr>
        <p:spPr>
          <a:xfrm>
            <a:off x="548640" y="3646627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BF6B394-971E-429B-9E15-36F41EC697F5}"/>
              </a:ext>
            </a:extLst>
          </p:cNvPr>
          <p:cNvSpPr>
            <a:spLocks noGrp="1"/>
          </p:cNvSpPr>
          <p:nvPr/>
        </p:nvSpPr>
        <p:spPr>
          <a:xfrm>
            <a:off x="658368" y="3710635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유지보수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B75F315-CA96-4970-90F6-97B7F0E502D1}"/>
              </a:ext>
            </a:extLst>
          </p:cNvPr>
          <p:cNvSpPr>
            <a:spLocks noGrp="1"/>
          </p:cNvSpPr>
          <p:nvPr/>
        </p:nvSpPr>
        <p:spPr>
          <a:xfrm>
            <a:off x="2304288" y="3710635"/>
            <a:ext cx="27066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고장 지점이 늘어난다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076D252-780B-4E38-85D0-78D088040F98}"/>
              </a:ext>
            </a:extLst>
          </p:cNvPr>
          <p:cNvSpPr>
            <a:spLocks noGrp="1"/>
          </p:cNvSpPr>
          <p:nvPr/>
        </p:nvSpPr>
        <p:spPr>
          <a:xfrm>
            <a:off x="5230368" y="3710635"/>
            <a:ext cx="32552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현장 운용 난이도 상승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4A329BA-AE96-4F17-8B48-1A31CE1DC66C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이 논문이 던지는 질문: 추가 센서 없이 sEMG 하나만으로 손동작과 팔꿈치 각도를 동시에 읽을 수는 없을까?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61547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25F1B-9F32-41FD-B5A0-3018DD3FB09E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배경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F96AC6-9067-432E-87B8-A09B007FBDC5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선행연구의 위치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40C269-2306-458E-B27A-37CE66C49489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무엇까지 밝혀졌고 무엇이 비어 있었는가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51BB6E-E569-4DFF-872C-D3945E24C07C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3705C1-B4E6-4B50-BC68-37FDCF90F20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84C13E-76AA-4396-960D-8D58F7F134C3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갈래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B91B3E-87F8-4572-894D-39E1157E3A1E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87C691-3A4F-4103-B6F7-A3FECB320B2A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CF17E8-6FC5-4D0F-86E1-BD2026AF1087}"/>
              </a:ext>
            </a:extLst>
          </p:cNvPr>
          <p:cNvSpPr>
            <a:spLocks noGrp="1"/>
          </p:cNvSpPr>
          <p:nvPr/>
        </p:nvSpPr>
        <p:spPr>
          <a:xfrm>
            <a:off x="4480560" y="137160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80B456-254C-4285-BA7A-F46B38E67BE8}"/>
              </a:ext>
            </a:extLst>
          </p:cNvPr>
          <p:cNvSpPr>
            <a:spLocks noGrp="1"/>
          </p:cNvSpPr>
          <p:nvPr/>
        </p:nvSpPr>
        <p:spPr>
          <a:xfrm>
            <a:off x="4480560" y="14356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한계 / 위치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2CB6D2-D6E4-41FC-9087-2EC6E1306A70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DA1CA0-CAEA-49B6-BEFE-A11CC8536728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손동작 분류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D55050E-0B24-4EA5-8826-D72A018BB4A6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20665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sEMG만으로 제스처 인식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0E3B71-6C44-4B9B-BA67-5C6862D2C4BB}"/>
              </a:ext>
            </a:extLst>
          </p:cNvPr>
          <p:cNvSpPr>
            <a:spLocks noGrp="1"/>
          </p:cNvSpPr>
          <p:nvPr/>
        </p:nvSpPr>
        <p:spPr>
          <a:xfrm>
            <a:off x="4590288" y="1837944"/>
            <a:ext cx="38953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각도 정보는 다루지 않음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DD9FB30-28C3-4AAE-AAD7-DDBA5EF17D35}"/>
              </a:ext>
            </a:extLst>
          </p:cNvPr>
          <p:cNvSpPr>
            <a:spLocks noGrp="1"/>
          </p:cNvSpPr>
          <p:nvPr/>
        </p:nvSpPr>
        <p:spPr>
          <a:xfrm>
            <a:off x="658368" y="2306117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팔꿈치 각도 추정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B6526A5-4C11-4D2D-9EFE-2B9ECA4422AD}"/>
              </a:ext>
            </a:extLst>
          </p:cNvPr>
          <p:cNvSpPr>
            <a:spLocks noGrp="1"/>
          </p:cNvSpPr>
          <p:nvPr/>
        </p:nvSpPr>
        <p:spPr>
          <a:xfrm>
            <a:off x="2304288" y="2306117"/>
            <a:ext cx="20665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sEMG만으로 관절 각도 분류 가능성 확인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A0AC1F-45F9-4E3F-99C4-D17618286753}"/>
              </a:ext>
            </a:extLst>
          </p:cNvPr>
          <p:cNvSpPr>
            <a:spLocks noGrp="1"/>
          </p:cNvSpPr>
          <p:nvPr/>
        </p:nvSpPr>
        <p:spPr>
          <a:xfrm>
            <a:off x="4590288" y="2306117"/>
            <a:ext cx="38953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1자유도 움직임에 한정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975BAAF-8785-429A-A3D3-7F01F3EB2A02}"/>
              </a:ext>
            </a:extLst>
          </p:cNvPr>
          <p:cNvSpPr>
            <a:spLocks noGrp="1"/>
          </p:cNvSpPr>
          <p:nvPr/>
        </p:nvSpPr>
        <p:spPr>
          <a:xfrm>
            <a:off x="548640" y="2710282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C9320CE-D2A3-4A2B-9267-09EF48209C75}"/>
              </a:ext>
            </a:extLst>
          </p:cNvPr>
          <p:cNvSpPr>
            <a:spLocks noGrp="1"/>
          </p:cNvSpPr>
          <p:nvPr/>
        </p:nvSpPr>
        <p:spPr>
          <a:xfrm>
            <a:off x="658368" y="2774290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센서 융합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C043C34-8496-4273-A25A-6C375C909C5A}"/>
              </a:ext>
            </a:extLst>
          </p:cNvPr>
          <p:cNvSpPr>
            <a:spLocks noGrp="1"/>
          </p:cNvSpPr>
          <p:nvPr/>
        </p:nvSpPr>
        <p:spPr>
          <a:xfrm>
            <a:off x="2304288" y="2774290"/>
            <a:ext cx="20665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sEMG + IMU로 제스처와 각도 동시 추정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2AF043-0CF9-4184-86DC-97CDEE6F847B}"/>
              </a:ext>
            </a:extLst>
          </p:cNvPr>
          <p:cNvSpPr>
            <a:spLocks noGrp="1"/>
          </p:cNvSpPr>
          <p:nvPr/>
        </p:nvSpPr>
        <p:spPr>
          <a:xfrm>
            <a:off x="4590288" y="2774290"/>
            <a:ext cx="38953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하드웨어와 동기화 필요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ACB99DE-8226-4E21-9986-955210862534}"/>
              </a:ext>
            </a:extLst>
          </p:cNvPr>
          <p:cNvSpPr>
            <a:spLocks noGrp="1"/>
          </p:cNvSpPr>
          <p:nvPr/>
        </p:nvSpPr>
        <p:spPr>
          <a:xfrm>
            <a:off x="658368" y="3242462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딥러닝 (CNN/RNN)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D3E19C-260C-4D4D-A5D7-1EB01418B289}"/>
              </a:ext>
            </a:extLst>
          </p:cNvPr>
          <p:cNvSpPr>
            <a:spLocks noGrp="1"/>
          </p:cNvSpPr>
          <p:nvPr/>
        </p:nvSpPr>
        <p:spPr>
          <a:xfrm>
            <a:off x="2304288" y="3242462"/>
            <a:ext cx="20665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원신호에서 특징을 직접 추출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E088162-B163-4CCE-B85A-CCDDABE01542}"/>
              </a:ext>
            </a:extLst>
          </p:cNvPr>
          <p:cNvSpPr>
            <a:spLocks noGrp="1"/>
          </p:cNvSpPr>
          <p:nvPr/>
        </p:nvSpPr>
        <p:spPr>
          <a:xfrm>
            <a:off x="4590288" y="3242462"/>
            <a:ext cx="38953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대규모 데이터·연산·긴 학습시간 요구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691DDED-E19A-4388-A7A2-2A607CA4D6AA}"/>
              </a:ext>
            </a:extLst>
          </p:cNvPr>
          <p:cNvSpPr>
            <a:spLocks noGrp="1"/>
          </p:cNvSpPr>
          <p:nvPr/>
        </p:nvSpPr>
        <p:spPr>
          <a:xfrm>
            <a:off x="548640" y="3646627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0F1FE6D-6591-4D7B-A8A6-12F80A9C4773}"/>
              </a:ext>
            </a:extLst>
          </p:cNvPr>
          <p:cNvSpPr>
            <a:spLocks noGrp="1"/>
          </p:cNvSpPr>
          <p:nvPr/>
        </p:nvSpPr>
        <p:spPr>
          <a:xfrm>
            <a:off x="658368" y="3710635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빈 자리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1712614-B7C4-4D69-9C89-374FF1D9EA40}"/>
              </a:ext>
            </a:extLst>
          </p:cNvPr>
          <p:cNvSpPr>
            <a:spLocks noGrp="1"/>
          </p:cNvSpPr>
          <p:nvPr/>
        </p:nvSpPr>
        <p:spPr>
          <a:xfrm>
            <a:off x="2304288" y="3710635"/>
            <a:ext cx="20665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센서 없이, 경량 모델로, 동시 분류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29010CB-419C-472E-B5A2-BE11246E5542}"/>
              </a:ext>
            </a:extLst>
          </p:cNvPr>
          <p:cNvSpPr>
            <a:spLocks noGrp="1"/>
          </p:cNvSpPr>
          <p:nvPr/>
        </p:nvSpPr>
        <p:spPr>
          <a:xfrm>
            <a:off x="4590288" y="3710635"/>
            <a:ext cx="389534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논문이 겨냥한 지점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476D7C5-6DF2-4792-A22E-F5BBA54CF07C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선행연구를 이렇게 지형도로 그린 뒤 비어 있는 칸을 짚는 것이 Introduction의 표준 전개 방식이다.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85428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A750EF-F10B-4C81-BCA7-C4BD18A5F899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배경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9C6038-8B09-44FE-84F6-FD4604A5D0CF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왜 딥러닝을 쓰지 않았는가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76D50F-07DB-4E34-A5F4-F4106CC754AB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의도적인 선택과 그 근거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C1A296-8151-404E-90EB-353873392306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50CC48C-2476-4C3D-B2D6-93E5E6E52AE7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21A54B-279B-4C2F-8F91-D99960EF03F6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딥러닝의 요구 조건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78A1AF-0F60-4D62-B2DE-35D193D9F907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대규모 데이터셋이 필요하다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상당한 연산 자원과 긴 학습 시간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해석 가능성(interpretability)이 낮다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초기 탐색 단계나 자원 제약 환경에는 부적합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24F5E9C-911F-43CC-92CB-E10D97BDB9F5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86090C-3E4D-4215-9C7E-C522CEC4E96B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경량 머신러닝을 고른 이유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75436F-F24B-4DB5-A667-B874F3980ADD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예비 타당성(preliminary feasibility) 검증이 목적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해석 가능하고 계산 효율이 높다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실시간·임베디드 시스템 적용 가능성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단순 하드웨어와 저비용 시스템의 근거 마련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A1AF1B-B10B-453D-846B-0B66E272324A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4656BE-38C5-45DC-83C8-26A5D67A37D2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이 선택을 어떻게 평가할 것인가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4AD72EE-5E39-4FBE-AD85-21E2F305BE1B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 스스로도 한계로 명시했다 — 같은 데이터셋으로 딥러닝과 비교하면 정확도–효율 절충을 더 명확히 볼 수 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다만 96%대 정확도를 0.3초 학습으로 얻었다는 점은 그 자체로 의미가 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학생 과제에서는 여기에 1D-CNN을 추가해 비교하는 것이 좋은 확장 실험이 된다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50731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65B602-9721-4EAF-A099-638CD0F0FDD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문제 정의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ABBED5-3809-42B0-8551-55E91825F5D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동시 분류 문제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D8E87E-56EA-4B2A-ACD4-51F0DB0717B4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두 축을 하나의 클래스 집합으로 묶는다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CA15D5-E220-4CF2-8E22-AA2C9C63A65A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7E6089-8F04-4E20-8E6F-661E22F0DBDC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120D75-146F-4EE8-8608-668E55FFEC0D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손동작 4종  ×  팔꿈치 각도 2종  =  8클래스 다중 분류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4270E3-B9A1-41AB-8E43-56C7E35E59B6}"/>
              </a:ext>
            </a:extLst>
          </p:cNvPr>
          <p:cNvSpPr>
            <a:spLocks noGrp="1"/>
          </p:cNvSpPr>
          <p:nvPr/>
        </p:nvSpPr>
        <p:spPr>
          <a:xfrm>
            <a:off x="548640" y="21488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4D4312-DDF9-421A-86AA-B99B1DB37133}"/>
              </a:ext>
            </a:extLst>
          </p:cNvPr>
          <p:cNvSpPr>
            <a:spLocks noGrp="1"/>
          </p:cNvSpPr>
          <p:nvPr/>
        </p:nvSpPr>
        <p:spPr>
          <a:xfrm>
            <a:off x="685800" y="22219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손동작 (4종)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05B386A-BBBD-4BBF-AD21-808D23BF23AA}"/>
              </a:ext>
            </a:extLst>
          </p:cNvPr>
          <p:cNvSpPr>
            <a:spLocks noGrp="1"/>
          </p:cNvSpPr>
          <p:nvPr/>
        </p:nvSpPr>
        <p:spPr>
          <a:xfrm>
            <a:off x="2743200" y="222199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주먹 쥐기(fist) · 손 펴기(open) · 회내(pronation) · 회외(supination)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0C0718-0ADF-4669-AE3E-1EAA4913A5F4}"/>
              </a:ext>
            </a:extLst>
          </p:cNvPr>
          <p:cNvSpPr>
            <a:spLocks noGrp="1"/>
          </p:cNvSpPr>
          <p:nvPr/>
        </p:nvSpPr>
        <p:spPr>
          <a:xfrm>
            <a:off x="685800" y="26791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팔꿈치 각도 (2종)</a:t>
            </a:r>
            <a:endParaRPr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E4C9766-AA5A-4AEF-A089-B99DB24E3183}"/>
              </a:ext>
            </a:extLst>
          </p:cNvPr>
          <p:cNvSpPr>
            <a:spLocks noGrp="1"/>
          </p:cNvSpPr>
          <p:nvPr/>
        </p:nvSpPr>
        <p:spPr>
          <a:xfrm>
            <a:off x="2743200" y="267919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30° · 60° — 이산적 두 조건</a:t>
            </a:r>
            <a:endParaRPr sz="10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CB6002-4BED-47EE-9C9D-3FBCE1E61428}"/>
              </a:ext>
            </a:extLst>
          </p:cNvPr>
          <p:cNvSpPr>
            <a:spLocks noGrp="1"/>
          </p:cNvSpPr>
          <p:nvPr/>
        </p:nvSpPr>
        <p:spPr>
          <a:xfrm>
            <a:off x="548640" y="30632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B03F62-6C6B-40BB-9E90-D9390486E53D}"/>
              </a:ext>
            </a:extLst>
          </p:cNvPr>
          <p:cNvSpPr>
            <a:spLocks noGrp="1"/>
          </p:cNvSpPr>
          <p:nvPr/>
        </p:nvSpPr>
        <p:spPr>
          <a:xfrm>
            <a:off x="685800" y="31363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클래스 표기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B05B58-0391-4CD7-A2FF-B004BE76B72F}"/>
              </a:ext>
            </a:extLst>
          </p:cNvPr>
          <p:cNvSpPr>
            <a:spLocks noGrp="1"/>
          </p:cNvSpPr>
          <p:nvPr/>
        </p:nvSpPr>
        <p:spPr>
          <a:xfrm>
            <a:off x="2743200" y="313639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30_fist, 30_open, 30_pronation, 30_supination, 60_fist, ... 60_supination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D82F25-2B64-47D8-8831-2A41E2EDA406}"/>
              </a:ext>
            </a:extLst>
          </p:cNvPr>
          <p:cNvSpPr>
            <a:spLocks noGrp="1"/>
          </p:cNvSpPr>
          <p:nvPr/>
        </p:nvSpPr>
        <p:spPr>
          <a:xfrm>
            <a:off x="685800" y="35935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분류 방식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6A3577-7614-4948-903A-7C6732A65055}"/>
              </a:ext>
            </a:extLst>
          </p:cNvPr>
          <p:cNvSpPr>
            <a:spLocks noGrp="1"/>
          </p:cNvSpPr>
          <p:nvPr/>
        </p:nvSpPr>
        <p:spPr>
          <a:xfrm>
            <a:off x="2743200" y="359359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다중 클래스 단일 분류기 — 두 축을 따로 예측하지 않는다</a:t>
            </a:r>
            <a:endParaRPr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58640A5-763C-403F-9F17-F0C99E5540D3}"/>
              </a:ext>
            </a:extLst>
          </p:cNvPr>
          <p:cNvSpPr>
            <a:spLocks noGrp="1"/>
          </p:cNvSpPr>
          <p:nvPr/>
        </p:nvSpPr>
        <p:spPr>
          <a:xfrm>
            <a:off x="548640" y="39776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FC80A9-749D-466D-A0F7-53299B9F2A54}"/>
              </a:ext>
            </a:extLst>
          </p:cNvPr>
          <p:cNvSpPr>
            <a:spLocks noGrp="1"/>
          </p:cNvSpPr>
          <p:nvPr/>
        </p:nvSpPr>
        <p:spPr>
          <a:xfrm>
            <a:off x="685800" y="40507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핵심 가정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7A7F03-415D-443B-89D0-D954C739702D}"/>
              </a:ext>
            </a:extLst>
          </p:cNvPr>
          <p:cNvSpPr>
            <a:spLocks noGrp="1"/>
          </p:cNvSpPr>
          <p:nvPr/>
        </p:nvSpPr>
        <p:spPr>
          <a:xfrm>
            <a:off x="2743200" y="405079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같은 손동작이라도 팔꿈치 각도가 다르면 근활성 패턴이 달라진다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774C0B-5A8D-4961-B013-51765BF5315E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두 축을 곱해 하나의 클래스 집합으로 만드는 방식은 구현이 단순하지만, 축이 늘어나면 클래스 수가 폭발한다는 약점이 있다.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0500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4CD0FD-F80D-46F6-9A22-6BED82F704B1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문제 정의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90E7CD-1237-498D-A361-78F0540CC351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논문의 기여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7F2A7B-314B-45DF-A548-1E8C9193CB48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무엇을 새로 보였는가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B7F4A8-E9C5-41E8-878D-027F23A7B9C2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5840E1-B873-4EF8-9133-B1C2A8725F5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3E4E6B-96D1-4DEE-B13D-9C91C766ED00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D2F907-1C73-49A0-A2CF-5F20979489E4}"/>
              </a:ext>
            </a:extLst>
          </p:cNvPr>
          <p:cNvSpPr>
            <a:spLocks noGrp="1"/>
          </p:cNvSpPr>
          <p:nvPr/>
        </p:nvSpPr>
        <p:spPr>
          <a:xfrm>
            <a:off x="1371600" y="14904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센서 없는 동시 분류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E51439-87AB-4B76-A0A4-B214AEAC2C5A}"/>
              </a:ext>
            </a:extLst>
          </p:cNvPr>
          <p:cNvSpPr>
            <a:spLocks noGrp="1"/>
          </p:cNvSpPr>
          <p:nvPr/>
        </p:nvSpPr>
        <p:spPr>
          <a:xfrm>
            <a:off x="1371600" y="1773936"/>
            <a:ext cx="704088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IMU 등 보조 센서나 딥러닝 구조 없이, 계산 효율이 높은 머신러닝 모델만으로 제스처 유형과 팔꿈치 각도 조건을 동시에 분류할 수 있음을 실험적으로 검증했다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102CA2-D95F-495F-BFD5-F9E86E4510FF}"/>
              </a:ext>
            </a:extLst>
          </p:cNvPr>
          <p:cNvSpPr>
            <a:spLocks noGrp="1"/>
          </p:cNvSpPr>
          <p:nvPr/>
        </p:nvSpPr>
        <p:spPr>
          <a:xfrm>
            <a:off x="548640" y="2395728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E0046B8-0F7C-499C-A66A-B4C7B82B1551}"/>
              </a:ext>
            </a:extLst>
          </p:cNvPr>
          <p:cNvSpPr>
            <a:spLocks noGrp="1"/>
          </p:cNvSpPr>
          <p:nvPr/>
        </p:nvSpPr>
        <p:spPr>
          <a:xfrm>
            <a:off x="731520" y="250545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1F5C2A4-CE45-4FF2-BA3F-8BB0E60A9B88}"/>
              </a:ext>
            </a:extLst>
          </p:cNvPr>
          <p:cNvSpPr>
            <a:spLocks noGrp="1"/>
          </p:cNvSpPr>
          <p:nvPr/>
        </p:nvSpPr>
        <p:spPr>
          <a:xfrm>
            <a:off x="137160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세 모델의 체계적 비교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E7EF24-153D-40CF-81C2-8ADE79B5C483}"/>
              </a:ext>
            </a:extLst>
          </p:cNvPr>
          <p:cNvSpPr>
            <a:spLocks noGrp="1"/>
          </p:cNvSpPr>
          <p:nvPr/>
        </p:nvSpPr>
        <p:spPr>
          <a:xfrm>
            <a:off x="1371600" y="2798064"/>
            <a:ext cx="704088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 · SVM · XGBoost를 동일한 데이터와 특징 조건에서 비교하고, hold-out과 교차검증 두 방식으로 성능과 안정성을 함께 평가했다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A2A548F-858E-4396-8F12-D3AFA93568AD}"/>
              </a:ext>
            </a:extLst>
          </p:cNvPr>
          <p:cNvSpPr>
            <a:spLocks noGrp="1"/>
          </p:cNvSpPr>
          <p:nvPr/>
        </p:nvSpPr>
        <p:spPr>
          <a:xfrm>
            <a:off x="548640" y="3419856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F648773-3194-4B51-9C99-D4AC39E8250D}"/>
              </a:ext>
            </a:extLst>
          </p:cNvPr>
          <p:cNvSpPr>
            <a:spLocks noGrp="1"/>
          </p:cNvSpPr>
          <p:nvPr/>
        </p:nvSpPr>
        <p:spPr>
          <a:xfrm>
            <a:off x="731520" y="352958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ED8F75-C5CC-40D5-B12F-B1AE73D18CF8}"/>
              </a:ext>
            </a:extLst>
          </p:cNvPr>
          <p:cNvSpPr>
            <a:spLocks noGrp="1"/>
          </p:cNvSpPr>
          <p:nvPr/>
        </p:nvSpPr>
        <p:spPr>
          <a:xfrm>
            <a:off x="1371600" y="3538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실용 가능성의 근거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42A24D-D385-4726-8EFF-B3395A538122}"/>
              </a:ext>
            </a:extLst>
          </p:cNvPr>
          <p:cNvSpPr>
            <a:spLocks noGrp="1"/>
          </p:cNvSpPr>
          <p:nvPr/>
        </p:nvSpPr>
        <p:spPr>
          <a:xfrm>
            <a:off x="1371600" y="3822192"/>
            <a:ext cx="704088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시간·추론 시간·모델 크기를 함께 측정하여 단순 하드웨어 구성과 저비용 시스템의 적용 가능성에 대한 기초 근거를 제시했다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93A8A70-C08F-43EE-B7FD-4406F04DDDD9}"/>
              </a:ext>
            </a:extLst>
          </p:cNvPr>
          <p:cNvSpPr>
            <a:spLocks noGrp="1"/>
          </p:cNvSpPr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"예비 타당성(preliminary feasibility)"이라는 표현이 반복된다. 주장의 강도를 정직하게 조절하는 것도 논문 작성의 기술이다.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2838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6CD54-E4B8-4AD6-B15E-478E79B28590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문제 정의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E25080-82A5-46F5-B641-577F6090346C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Step 1과 무엇이 다른가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EE079B-11EA-4492-B7F5-38290CBBA3D5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같은 sEMG, 다른 질문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36A2F7-74B3-4E2F-9C59-E03B9FACFD75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81EBC95-08BC-4DEB-9BEA-1A733A57586A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CFDC5D-7BA8-47C3-8FB8-F7EA1E0A0D0F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관점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0C5B512-ED09-4528-85B6-C3EC56EABD26}"/>
              </a:ext>
            </a:extLst>
          </p:cNvPr>
          <p:cNvSpPr>
            <a:spLocks noGrp="1"/>
          </p:cNvSpPr>
          <p:nvPr/>
        </p:nvSpPr>
        <p:spPr>
          <a:xfrm>
            <a:off x="2011680" y="13716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1A06FD-7C39-479F-A86A-2F46F0CB689C}"/>
              </a:ext>
            </a:extLst>
          </p:cNvPr>
          <p:cNvSpPr>
            <a:spLocks noGrp="1"/>
          </p:cNvSpPr>
          <p:nvPr/>
        </p:nvSpPr>
        <p:spPr>
          <a:xfrm>
            <a:off x="2011680" y="14356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1 · 인증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1A5EEA9-4A6B-4F13-B6E1-6417C4B6E3B4}"/>
              </a:ext>
            </a:extLst>
          </p:cNvPr>
          <p:cNvSpPr>
            <a:spLocks noGrp="1"/>
          </p:cNvSpPr>
          <p:nvPr/>
        </p:nvSpPr>
        <p:spPr>
          <a:xfrm>
            <a:off x="4572000" y="137160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B69D7F-7125-4169-BB20-DE58A1C372D5}"/>
              </a:ext>
            </a:extLst>
          </p:cNvPr>
          <p:cNvSpPr>
            <a:spLocks noGrp="1"/>
          </p:cNvSpPr>
          <p:nvPr/>
        </p:nvSpPr>
        <p:spPr>
          <a:xfrm>
            <a:off x="4572000" y="143560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2 · 동작 예측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4E1DCC0-743C-4B6E-ACFE-BCFB01D4A38E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23E75A-0C06-490B-81F2-7F8D8B6F665F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질문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9059F64-AD99-4C57-B090-6F64512880A5}"/>
              </a:ext>
            </a:extLst>
          </p:cNvPr>
          <p:cNvSpPr>
            <a:spLocks noGrp="1"/>
          </p:cNvSpPr>
          <p:nvPr/>
        </p:nvSpPr>
        <p:spPr>
          <a:xfrm>
            <a:off x="2121408" y="1837944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사람은 누구인가 (식별)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7CB4B59-83BD-4E93-8FFC-B269FA94C712}"/>
              </a:ext>
            </a:extLst>
          </p:cNvPr>
          <p:cNvSpPr>
            <a:spLocks noGrp="1"/>
          </p:cNvSpPr>
          <p:nvPr/>
        </p:nvSpPr>
        <p:spPr>
          <a:xfrm>
            <a:off x="4681728" y="1837944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무엇을 하려는가 (의도 인식)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351D1B-3645-4962-AB50-D73E77B782C2}"/>
              </a:ext>
            </a:extLst>
          </p:cNvPr>
          <p:cNvSpPr>
            <a:spLocks noGrp="1"/>
          </p:cNvSpPr>
          <p:nvPr/>
        </p:nvSpPr>
        <p:spPr>
          <a:xfrm>
            <a:off x="658368" y="2228088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측정 부위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CAA8DA-8C19-412E-B7E3-70EA738E3D4D}"/>
              </a:ext>
            </a:extLst>
          </p:cNvPr>
          <p:cNvSpPr>
            <a:spLocks noGrp="1"/>
          </p:cNvSpPr>
          <p:nvPr/>
        </p:nvSpPr>
        <p:spPr>
          <a:xfrm>
            <a:off x="2121408" y="2228088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손바닥 2채널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7943484-E4BE-499F-8376-2F5A358E7E0D}"/>
              </a:ext>
            </a:extLst>
          </p:cNvPr>
          <p:cNvSpPr>
            <a:spLocks noGrp="1"/>
          </p:cNvSpPr>
          <p:nvPr/>
        </p:nvSpPr>
        <p:spPr>
          <a:xfrm>
            <a:off x="4681728" y="2228088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 3 + 상완 2 = 5채널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2749E5-17E8-49CF-96B3-C8CF7F66D52F}"/>
              </a:ext>
            </a:extLst>
          </p:cNvPr>
          <p:cNvSpPr>
            <a:spLocks noGrp="1"/>
          </p:cNvSpPr>
          <p:nvPr/>
        </p:nvSpPr>
        <p:spPr>
          <a:xfrm>
            <a:off x="548640" y="2554224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2BC7194-1A8D-4B43-B40E-A97B6A385239}"/>
              </a:ext>
            </a:extLst>
          </p:cNvPr>
          <p:cNvSpPr>
            <a:spLocks noGrp="1"/>
          </p:cNvSpPr>
          <p:nvPr/>
        </p:nvSpPr>
        <p:spPr>
          <a:xfrm>
            <a:off x="658368" y="2618232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클래스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7572304-6A40-4716-BC7B-081481EED188}"/>
              </a:ext>
            </a:extLst>
          </p:cNvPr>
          <p:cNvSpPr>
            <a:spLocks noGrp="1"/>
          </p:cNvSpPr>
          <p:nvPr/>
        </p:nvSpPr>
        <p:spPr>
          <a:xfrm>
            <a:off x="2121408" y="2618232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사용자 5명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BDA2622-9144-4E4A-9A8D-93AA406B2740}"/>
              </a:ext>
            </a:extLst>
          </p:cNvPr>
          <p:cNvSpPr>
            <a:spLocks noGrp="1"/>
          </p:cNvSpPr>
          <p:nvPr/>
        </p:nvSpPr>
        <p:spPr>
          <a:xfrm>
            <a:off x="4681728" y="2618232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동작 4종 × 각도 2종 = 8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AA9D3D5-225D-417F-82FD-574DE9C7D42C}"/>
              </a:ext>
            </a:extLst>
          </p:cNvPr>
          <p:cNvSpPr>
            <a:spLocks noGrp="1"/>
          </p:cNvSpPr>
          <p:nvPr/>
        </p:nvSpPr>
        <p:spPr>
          <a:xfrm>
            <a:off x="658368" y="3008376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09AF8C9-9BFF-49F3-9736-F3B37DE047E8}"/>
              </a:ext>
            </a:extLst>
          </p:cNvPr>
          <p:cNvSpPr>
            <a:spLocks noGrp="1"/>
          </p:cNvSpPr>
          <p:nvPr/>
        </p:nvSpPr>
        <p:spPr>
          <a:xfrm>
            <a:off x="2121408" y="3008376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CWT 시간–주파수 스펙트로그램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21AF950-B444-47F1-B0E3-EC1E58F10935}"/>
              </a:ext>
            </a:extLst>
          </p:cNvPr>
          <p:cNvSpPr>
            <a:spLocks noGrp="1"/>
          </p:cNvSpPr>
          <p:nvPr/>
        </p:nvSpPr>
        <p:spPr>
          <a:xfrm>
            <a:off x="4681728" y="3008376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5특징 × 5채널 = 25차원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9049A4B-0717-4191-8B29-ED4E37BF5C39}"/>
              </a:ext>
            </a:extLst>
          </p:cNvPr>
          <p:cNvSpPr>
            <a:spLocks noGrp="1"/>
          </p:cNvSpPr>
          <p:nvPr/>
        </p:nvSpPr>
        <p:spPr>
          <a:xfrm>
            <a:off x="548640" y="3334512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F69E9C5-D685-474D-B621-FD6C5A337500}"/>
              </a:ext>
            </a:extLst>
          </p:cNvPr>
          <p:cNvSpPr>
            <a:spLocks noGrp="1"/>
          </p:cNvSpPr>
          <p:nvPr/>
        </p:nvSpPr>
        <p:spPr>
          <a:xfrm>
            <a:off x="658368" y="3398520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C301DBA-DE3F-400E-9C07-0D3B8E7F698D}"/>
              </a:ext>
            </a:extLst>
          </p:cNvPr>
          <p:cNvSpPr>
            <a:spLocks noGrp="1"/>
          </p:cNvSpPr>
          <p:nvPr/>
        </p:nvSpPr>
        <p:spPr>
          <a:xfrm>
            <a:off x="2121408" y="3398520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DenseNet161 (딥러닝)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5C92ACF-AD33-4552-B209-95A94FB71DDD}"/>
              </a:ext>
            </a:extLst>
          </p:cNvPr>
          <p:cNvSpPr>
            <a:spLocks noGrp="1"/>
          </p:cNvSpPr>
          <p:nvPr/>
        </p:nvSpPr>
        <p:spPr>
          <a:xfrm>
            <a:off x="4681728" y="3398520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· RF · XGBoost (경량 ML)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EF81968-F90E-4D94-9E9B-3793F89F4A41}"/>
              </a:ext>
            </a:extLst>
          </p:cNvPr>
          <p:cNvSpPr>
            <a:spLocks noGrp="1"/>
          </p:cNvSpPr>
          <p:nvPr/>
        </p:nvSpPr>
        <p:spPr>
          <a:xfrm>
            <a:off x="658368" y="3788664"/>
            <a:ext cx="12435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개인차의 의미</a:t>
            </a:r>
            <a:endParaRPr sz="1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1B29D7-745D-4ECB-8473-C0155FEECCFE}"/>
              </a:ext>
            </a:extLst>
          </p:cNvPr>
          <p:cNvSpPr>
            <a:spLocks noGrp="1"/>
          </p:cNvSpPr>
          <p:nvPr/>
        </p:nvSpPr>
        <p:spPr>
          <a:xfrm>
            <a:off x="2121408" y="3788664"/>
            <a:ext cx="23408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판별의 근거 — 클수록 좋다</a:t>
            </a:r>
            <a:endParaRPr sz="1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48D3BB-EEF0-4D9D-8891-3BF74BC82629}"/>
              </a:ext>
            </a:extLst>
          </p:cNvPr>
          <p:cNvSpPr>
            <a:spLocks noGrp="1"/>
          </p:cNvSpPr>
          <p:nvPr/>
        </p:nvSpPr>
        <p:spPr>
          <a:xfrm>
            <a:off x="4681728" y="3788664"/>
            <a:ext cx="380390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일반화의 장애물 — 작을수록 좋다</a:t>
            </a:r>
            <a:endParaRPr sz="10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000D738-8C68-4136-8B42-B717468E1C5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마지막 행이 핵심이다. 인증에서는 사람마다 다른 것이 자산이지만, 동작 인식에서는 같은 부담이 된다.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0376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0B470B-2658-42CA-BBF4-76BD427FBBDD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1 · 실험 설계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EC7EB-B80D-46E5-B643-72626833CBCF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왜 정적 동작 4종과 각도 2종인가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339BBC-524D-4E4B-8526-54085518DF5F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통제된 기준선을 먼저 세운다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0A741F-B501-4E81-947C-DBB0A1943A31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BA3D79-64BB-4AB5-91C6-4FE1A0376B3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68F8D6-2419-4B47-855B-44A85C5C2FEF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선택의 근거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9840EA-DC8A-45F3-BAA4-D1B4618D5E3C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일상에서 자주 마주치는 기본적인 동작들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교란 변수(confounding variable)를 최소화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반복 시행 간 일관된 근활성 패턴 확보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동시 분류의 예비 타당성 평가에 적합한 통제 환경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7175D45-555E-4578-9995-7750208E538A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22C8AE-7E71-4528-8DD3-4B4DFD49308C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설계가 포기한 것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1F9FDC-B288-43DE-8847-F6D73A1806D5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동적·연속적 움직임 — 실제 운동 행동에 더 가깝다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연속적인 각도 범위 — 30°와 60° 두 점만 봤다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실사용 환경의 변동 — 전극 이동·발한·피로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논문도 이를 한계로 명시하고 후속 과제로 남겼다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2E80D76-354A-448C-91E1-C1C8F0C5C750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69D576-D998-4AC7-A9E6-9AAE9DB53F73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연구 설계의 순서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F1A411-F194-40B0-A2B6-900053CB06AF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통제된 조건에서 되는지를 먼저 확인하고, 그다음에 조건을 하나씩 풀어가는 것이 정석이다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처음부터 복잡한 조건으로 시작하면 실패했을 때 무엇 때문인지 알 수 없다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학생 과제에서도 같다 — 먼저 되는 조건을 만들고, 그 위에서 어려운 조건을 추가하며 성능 변화를 기록할 것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8002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7EC140-2733-486C-9D39-297C3044E906}"/>
              </a:ext>
            </a:extLst>
          </p:cNvPr>
          <p:cNvSpPr>
            <a:spLocks noGrp="1"/>
          </p:cNvSpPr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spc="200">
                <a:solidFill>
                  <a:srgbClr val="7FB3C4"/>
                </a:solidFill>
                <a:latin typeface="Malgun Gothic"/>
                <a:ea typeface="Malgun Gothic"/>
                <a:cs typeface="Malgun Gothic"/>
              </a:rPr>
              <a:t>PART 2 · 2주차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BC5DA3-E2CC-4BA6-9B5C-90E9B2EAED94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데이터와 특징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C6EC72-947F-4F24-8501-5A037E38EDEC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측정 프로토콜에서 25차원 특징 벡터까지</a:t>
            </a: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5972C9-0BEF-4C3A-9428-43C1928F3BD0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9885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637D84-05C8-4252-9D05-64CD186DE70A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방법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436A08-1C88-4157-A4B5-E1452F2A7E5F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전체 파이프라인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46B28C-AAF6-4503-8C61-40F31A8EDA89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여섯 단계로 이루어진 처리 흐름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1A38BD-57B8-495F-815C-D42B5235371B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17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A3EE76-FF3B-4EAB-B085-B408C29C241A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3942C0-09CC-438F-8A09-92DD0ECEBA00}"/>
              </a:ext>
            </a:extLst>
          </p:cNvPr>
          <p:cNvSpPr>
            <a:spLocks noGrp="1"/>
          </p:cNvSpPr>
          <p:nvPr/>
        </p:nvSpPr>
        <p:spPr>
          <a:xfrm>
            <a:off x="640080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58390-6F34-4C58-8A81-809042B4C6C5}"/>
              </a:ext>
            </a:extLst>
          </p:cNvPr>
          <p:cNvSpPr>
            <a:spLocks noGrp="1"/>
          </p:cNvSpPr>
          <p:nvPr/>
        </p:nvSpPr>
        <p:spPr>
          <a:xfrm>
            <a:off x="640080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신호 취득</a:t>
            </a:r>
            <a:endParaRPr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EE3902-4C98-4A15-BC53-8827826C8F6A}"/>
              </a:ext>
            </a:extLst>
          </p:cNvPr>
          <p:cNvSpPr>
            <a:spLocks noGrp="1"/>
          </p:cNvSpPr>
          <p:nvPr/>
        </p:nvSpPr>
        <p:spPr>
          <a:xfrm>
            <a:off x="640080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5채널 sEMG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 kHz</a:t>
            </a:r>
            <a:endParaRPr sz="8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25CC1E-6E87-42F7-A75C-03272CCBDD08}"/>
              </a:ext>
            </a:extLst>
          </p:cNvPr>
          <p:cNvSpPr>
            <a:spLocks noGrp="1"/>
          </p:cNvSpPr>
          <p:nvPr/>
        </p:nvSpPr>
        <p:spPr>
          <a:xfrm>
            <a:off x="1737360" y="21488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9BCC7"/>
                </a:solidFill>
                <a:latin typeface="Malgun Gothic"/>
                <a:ea typeface="Malgun Gothic"/>
                <a:cs typeface="Malgun Gothic"/>
              </a:rPr>
              <a:t>▸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D61B308-0478-4EF5-992C-814309A89362}"/>
              </a:ext>
            </a:extLst>
          </p:cNvPr>
          <p:cNvSpPr>
            <a:spLocks noGrp="1"/>
          </p:cNvSpPr>
          <p:nvPr/>
        </p:nvSpPr>
        <p:spPr>
          <a:xfrm>
            <a:off x="1901952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9901F8-4B27-4179-AE48-0B27079B84DB}"/>
              </a:ext>
            </a:extLst>
          </p:cNvPr>
          <p:cNvSpPr>
            <a:spLocks noGrp="1"/>
          </p:cNvSpPr>
          <p:nvPr/>
        </p:nvSpPr>
        <p:spPr>
          <a:xfrm>
            <a:off x="1993392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A6C6BF-46AA-43B9-9D2E-8FFE5E5C7156}"/>
              </a:ext>
            </a:extLst>
          </p:cNvPr>
          <p:cNvSpPr>
            <a:spLocks noGrp="1"/>
          </p:cNvSpPr>
          <p:nvPr/>
        </p:nvSpPr>
        <p:spPr>
          <a:xfrm>
            <a:off x="1993392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잡음 제거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04C0E6-5F76-4572-8A17-8B4A37A11DC1}"/>
              </a:ext>
            </a:extLst>
          </p:cNvPr>
          <p:cNvSpPr>
            <a:spLocks noGrp="1"/>
          </p:cNvSpPr>
          <p:nvPr/>
        </p:nvSpPr>
        <p:spPr>
          <a:xfrm>
            <a:off x="1993392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60Hz 노치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20~450Hz BPF</a:t>
            </a:r>
            <a:endParaRPr sz="8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18458F-9C7F-4B63-AA1B-17E78E100661}"/>
              </a:ext>
            </a:extLst>
          </p:cNvPr>
          <p:cNvSpPr>
            <a:spLocks noGrp="1"/>
          </p:cNvSpPr>
          <p:nvPr/>
        </p:nvSpPr>
        <p:spPr>
          <a:xfrm>
            <a:off x="3090672" y="21488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9BCC7"/>
                </a:solidFill>
                <a:latin typeface="Malgun Gothic"/>
                <a:ea typeface="Malgun Gothic"/>
                <a:cs typeface="Malgun Gothic"/>
              </a:rPr>
              <a:t>▸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54E107-307E-4B20-9076-2EF56BA67633}"/>
              </a:ext>
            </a:extLst>
          </p:cNvPr>
          <p:cNvSpPr>
            <a:spLocks noGrp="1"/>
          </p:cNvSpPr>
          <p:nvPr/>
        </p:nvSpPr>
        <p:spPr>
          <a:xfrm>
            <a:off x="3255264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4F777F-6494-4FF6-A54C-1CE2218404A8}"/>
              </a:ext>
            </a:extLst>
          </p:cNvPr>
          <p:cNvSpPr>
            <a:spLocks noGrp="1"/>
          </p:cNvSpPr>
          <p:nvPr/>
        </p:nvSpPr>
        <p:spPr>
          <a:xfrm>
            <a:off x="3346704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43636EF-2EE9-4841-8EF6-F6C2DB0D9BBC}"/>
              </a:ext>
            </a:extLst>
          </p:cNvPr>
          <p:cNvSpPr>
            <a:spLocks noGrp="1"/>
          </p:cNvSpPr>
          <p:nvPr/>
        </p:nvSpPr>
        <p:spPr>
          <a:xfrm>
            <a:off x="3346704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구간 추출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ED5B6B7-3AC8-473B-A51C-F0412557ACCF}"/>
              </a:ext>
            </a:extLst>
          </p:cNvPr>
          <p:cNvSpPr>
            <a:spLocks noGrp="1"/>
          </p:cNvSpPr>
          <p:nvPr/>
        </p:nvSpPr>
        <p:spPr>
          <a:xfrm>
            <a:off x="3346704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2초 세그먼트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2,000샘플</a:t>
            </a:r>
            <a:endParaRPr sz="8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5A80872-90E9-46BD-9781-E7A34044A1A5}"/>
              </a:ext>
            </a:extLst>
          </p:cNvPr>
          <p:cNvSpPr>
            <a:spLocks noGrp="1"/>
          </p:cNvSpPr>
          <p:nvPr/>
        </p:nvSpPr>
        <p:spPr>
          <a:xfrm>
            <a:off x="4443984" y="21488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9BCC7"/>
                </a:solidFill>
                <a:latin typeface="Malgun Gothic"/>
                <a:ea typeface="Malgun Gothic"/>
                <a:cs typeface="Malgun Gothic"/>
              </a:rPr>
              <a:t>▸</a:t>
            </a:r>
            <a:endParaRPr sz="12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599B968-10E8-4479-9657-B09ABCAECC60}"/>
              </a:ext>
            </a:extLst>
          </p:cNvPr>
          <p:cNvSpPr>
            <a:spLocks noGrp="1"/>
          </p:cNvSpPr>
          <p:nvPr/>
        </p:nvSpPr>
        <p:spPr>
          <a:xfrm>
            <a:off x="4608576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B28D21A-362C-4B5B-8D60-ECF6AF25076E}"/>
              </a:ext>
            </a:extLst>
          </p:cNvPr>
          <p:cNvSpPr>
            <a:spLocks noGrp="1"/>
          </p:cNvSpPr>
          <p:nvPr/>
        </p:nvSpPr>
        <p:spPr>
          <a:xfrm>
            <a:off x="4700016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F41521-E606-4C34-BEF6-0405402CBCB8}"/>
              </a:ext>
            </a:extLst>
          </p:cNvPr>
          <p:cNvSpPr>
            <a:spLocks noGrp="1"/>
          </p:cNvSpPr>
          <p:nvPr/>
        </p:nvSpPr>
        <p:spPr>
          <a:xfrm>
            <a:off x="4700016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윈도잉</a:t>
            </a:r>
            <a:endParaRPr sz="10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CEEBC3B-36F7-4D5A-A8F6-907A1D073E94}"/>
              </a:ext>
            </a:extLst>
          </p:cNvPr>
          <p:cNvSpPr>
            <a:spLocks noGrp="1"/>
          </p:cNvSpPr>
          <p:nvPr/>
        </p:nvSpPr>
        <p:spPr>
          <a:xfrm>
            <a:off x="4700016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200ms 윈도우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50% 오버랩</a:t>
            </a:r>
            <a:endParaRPr sz="8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3C5ADF-E03B-4331-BAD8-491100952F8E}"/>
              </a:ext>
            </a:extLst>
          </p:cNvPr>
          <p:cNvSpPr>
            <a:spLocks noGrp="1"/>
          </p:cNvSpPr>
          <p:nvPr/>
        </p:nvSpPr>
        <p:spPr>
          <a:xfrm>
            <a:off x="5797296" y="21488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9BCC7"/>
                </a:solidFill>
                <a:latin typeface="Malgun Gothic"/>
                <a:ea typeface="Malgun Gothic"/>
                <a:cs typeface="Malgun Gothic"/>
              </a:rPr>
              <a:t>▸</a:t>
            </a:r>
            <a:endParaRPr sz="12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1478DEC-D6BE-4FC8-BB7E-E83E65A8CFE2}"/>
              </a:ext>
            </a:extLst>
          </p:cNvPr>
          <p:cNvSpPr>
            <a:spLocks noGrp="1"/>
          </p:cNvSpPr>
          <p:nvPr/>
        </p:nvSpPr>
        <p:spPr>
          <a:xfrm>
            <a:off x="5961888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ACC9926-A6F6-4FEE-ABEC-FD900354CA54}"/>
              </a:ext>
            </a:extLst>
          </p:cNvPr>
          <p:cNvSpPr>
            <a:spLocks noGrp="1"/>
          </p:cNvSpPr>
          <p:nvPr/>
        </p:nvSpPr>
        <p:spPr>
          <a:xfrm>
            <a:off x="6053328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A5F4B6C-AE7A-4C9A-B935-ACED02F9A53D}"/>
              </a:ext>
            </a:extLst>
          </p:cNvPr>
          <p:cNvSpPr>
            <a:spLocks noGrp="1"/>
          </p:cNvSpPr>
          <p:nvPr/>
        </p:nvSpPr>
        <p:spPr>
          <a:xfrm>
            <a:off x="6053328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추출</a:t>
            </a:r>
            <a:endParaRPr sz="10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CA5B987-25DE-408C-A761-63AEB7A62C01}"/>
              </a:ext>
            </a:extLst>
          </p:cNvPr>
          <p:cNvSpPr>
            <a:spLocks noGrp="1"/>
          </p:cNvSpPr>
          <p:nvPr/>
        </p:nvSpPr>
        <p:spPr>
          <a:xfrm>
            <a:off x="6053328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시간영역 5종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윈도우당 25D</a:t>
            </a:r>
            <a:endParaRPr sz="8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5F30CC7-71AF-4CFF-8AC7-FE3E01664246}"/>
              </a:ext>
            </a:extLst>
          </p:cNvPr>
          <p:cNvSpPr>
            <a:spLocks noGrp="1"/>
          </p:cNvSpPr>
          <p:nvPr/>
        </p:nvSpPr>
        <p:spPr>
          <a:xfrm>
            <a:off x="7150608" y="21488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9BCC7"/>
                </a:solidFill>
                <a:latin typeface="Malgun Gothic"/>
                <a:ea typeface="Malgun Gothic"/>
                <a:cs typeface="Malgun Gothic"/>
              </a:rPr>
              <a:t>▸</a:t>
            </a:r>
            <a:endParaRPr sz="12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4864220-3A2D-4FF2-ADE0-59556724334E}"/>
              </a:ext>
            </a:extLst>
          </p:cNvPr>
          <p:cNvSpPr>
            <a:spLocks noGrp="1"/>
          </p:cNvSpPr>
          <p:nvPr/>
        </p:nvSpPr>
        <p:spPr>
          <a:xfrm>
            <a:off x="7315200" y="1554480"/>
            <a:ext cx="1207008" cy="1508760"/>
          </a:xfrm>
          <a:prstGeom prst="roundRect">
            <a:avLst>
              <a:gd name="adj" fmla="val 454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0BB758C-133D-4E71-A580-2B0F77DE11EF}"/>
              </a:ext>
            </a:extLst>
          </p:cNvPr>
          <p:cNvSpPr>
            <a:spLocks noGrp="1"/>
          </p:cNvSpPr>
          <p:nvPr/>
        </p:nvSpPr>
        <p:spPr>
          <a:xfrm>
            <a:off x="7406640" y="16459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sz="10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0E97812-108F-4E2A-AC08-85E9F6CB13CA}"/>
              </a:ext>
            </a:extLst>
          </p:cNvPr>
          <p:cNvSpPr>
            <a:spLocks noGrp="1"/>
          </p:cNvSpPr>
          <p:nvPr/>
        </p:nvSpPr>
        <p:spPr>
          <a:xfrm>
            <a:off x="7406640" y="1901952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분류</a:t>
            </a:r>
            <a:endParaRPr sz="10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37FC8E1-8A23-41FE-A53C-0E433C477A04}"/>
              </a:ext>
            </a:extLst>
          </p:cNvPr>
          <p:cNvSpPr>
            <a:spLocks noGrp="1"/>
          </p:cNvSpPr>
          <p:nvPr/>
        </p:nvSpPr>
        <p:spPr>
          <a:xfrm>
            <a:off x="7406640" y="2395728"/>
            <a:ext cx="10241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SVM / RF / XGB</a:t>
            </a:r>
            <a:endParaRPr sz="850"/>
          </a:p>
          <a:p>
            <a:pPr marL="0" indent="0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8클래스</a:t>
            </a:r>
            <a:endParaRPr sz="8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BB5D1A0-D901-4EDB-9BAA-8E34A1876FEA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C56CAD8-7E53-4B04-81D6-D35ADA6C6D87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논문에 명시된 특징 추출 단위</a:t>
            </a:r>
            <a:endParaRPr sz="12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0B16985-A347-429A-ABD0-AA4FD665A7A6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2초 세그먼트 → 200 ms 윈도우, 50% 오버랩 → 19개 윈도우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각 윈도우에서 RMS · MAV · WL · ZC · SSC를 5채널에 계산 → 25차원 특징 벡터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추출한 특징을 StandardScaler로 표준화한 뒤 SVM · RF · XGBoost를 평가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71302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09BECC-BA54-4A52-86FD-138EC0EE189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2CEB2D-E044-4D8F-B43F-BAB90D69A7F6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 구성과 윤리 절차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F6F36F-31C6-41E0-9349-0416350EE0A3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8명 · 신경근 질환 병력 없음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63F769-5FA7-4D2E-8921-86AB1D72E655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18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412AB1-2663-40B0-9797-476FF7E3F94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C212F9-6D26-4AE1-90CA-695CDC083B8F}"/>
              </a:ext>
            </a:extLst>
          </p:cNvPr>
          <p:cNvSpPr>
            <a:spLocks noGrp="1"/>
          </p:cNvSpPr>
          <p:nvPr/>
        </p:nvSpPr>
        <p:spPr>
          <a:xfrm>
            <a:off x="685800" y="1444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인원</a:t>
            </a:r>
            <a:endParaRPr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45C508-DD16-4220-B2B4-62E864CFE983}"/>
              </a:ext>
            </a:extLst>
          </p:cNvPr>
          <p:cNvSpPr>
            <a:spLocks noGrp="1"/>
          </p:cNvSpPr>
          <p:nvPr/>
        </p:nvSpPr>
        <p:spPr>
          <a:xfrm>
            <a:off x="2286000" y="14447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8명 (남성 5명, 여성 3명)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ADF350-7E90-4851-A61B-76FBA716E0B0}"/>
              </a:ext>
            </a:extLst>
          </p:cNvPr>
          <p:cNvSpPr>
            <a:spLocks noGrp="1"/>
          </p:cNvSpPr>
          <p:nvPr/>
        </p:nvSpPr>
        <p:spPr>
          <a:xfrm>
            <a:off x="685800" y="19019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평균 연령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EBD5E7-48B7-4DCA-B5D8-E375FE9EBB62}"/>
              </a:ext>
            </a:extLst>
          </p:cNvPr>
          <p:cNvSpPr>
            <a:spLocks noGrp="1"/>
          </p:cNvSpPr>
          <p:nvPr/>
        </p:nvSpPr>
        <p:spPr>
          <a:xfrm>
            <a:off x="2286000" y="19019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23 ± 2세</a:t>
            </a:r>
            <a:endParaRPr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A46AE1-2C9F-45BC-8CDC-A4540DA2AEC1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248E9FB-0DD8-4A2F-A04E-995873DB2673}"/>
              </a:ext>
            </a:extLst>
          </p:cNvPr>
          <p:cNvSpPr>
            <a:spLocks noGrp="1"/>
          </p:cNvSpPr>
          <p:nvPr/>
        </p:nvSpPr>
        <p:spPr>
          <a:xfrm>
            <a:off x="685800" y="23591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우세손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273CE7-5693-45B3-B362-303EFE7F2608}"/>
              </a:ext>
            </a:extLst>
          </p:cNvPr>
          <p:cNvSpPr>
            <a:spLocks noGrp="1"/>
          </p:cNvSpPr>
          <p:nvPr/>
        </p:nvSpPr>
        <p:spPr>
          <a:xfrm>
            <a:off x="2286000" y="23591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전원 오른손잡이 — 우세 팔에서 측정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B16810A-53E2-453B-83F9-0E6C0B0C86E0}"/>
              </a:ext>
            </a:extLst>
          </p:cNvPr>
          <p:cNvSpPr>
            <a:spLocks noGrp="1"/>
          </p:cNvSpPr>
          <p:nvPr/>
        </p:nvSpPr>
        <p:spPr>
          <a:xfrm>
            <a:off x="685800" y="28163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제외 기준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E8E822-6DCE-4B04-ACB9-2CE0B7986415}"/>
              </a:ext>
            </a:extLst>
          </p:cNvPr>
          <p:cNvSpPr>
            <a:spLocks noGrp="1"/>
          </p:cNvSpPr>
          <p:nvPr/>
        </p:nvSpPr>
        <p:spPr>
          <a:xfrm>
            <a:off x="2286000" y="28163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신경근 질환(neuromuscular disorder) 병력이 있는 경우</a:t>
            </a:r>
            <a:endParaRPr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CF10497-5A7A-4613-9749-62CC912F3A51}"/>
              </a:ext>
            </a:extLst>
          </p:cNvPr>
          <p:cNvSpPr>
            <a:spLocks noGrp="1"/>
          </p:cNvSpPr>
          <p:nvPr/>
        </p:nvSpPr>
        <p:spPr>
          <a:xfrm>
            <a:off x="548640" y="320040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FDF23D-7185-4DCB-9B34-AAB566880A1A}"/>
              </a:ext>
            </a:extLst>
          </p:cNvPr>
          <p:cNvSpPr>
            <a:spLocks noGrp="1"/>
          </p:cNvSpPr>
          <p:nvPr/>
        </p:nvSpPr>
        <p:spPr>
          <a:xfrm>
            <a:off x="685800" y="32735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총 데이터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9135AB0-C85E-435E-84EC-754F0E269076}"/>
              </a:ext>
            </a:extLst>
          </p:cNvPr>
          <p:cNvSpPr>
            <a:spLocks noGrp="1"/>
          </p:cNvSpPr>
          <p:nvPr/>
        </p:nvSpPr>
        <p:spPr>
          <a:xfrm>
            <a:off x="2286000" y="32735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머신러닝 분석용 라벨 세그먼트 1,920개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5154C09-5336-46DA-BDC5-73E50A2D07D1}"/>
              </a:ext>
            </a:extLst>
          </p:cNvPr>
          <p:cNvSpPr>
            <a:spLocks noGrp="1"/>
          </p:cNvSpPr>
          <p:nvPr/>
        </p:nvSpPr>
        <p:spPr>
          <a:xfrm>
            <a:off x="685800" y="3730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윤리 승인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D95B572-67F4-4E2A-90E7-7B2E21FF919D}"/>
              </a:ext>
            </a:extLst>
          </p:cNvPr>
          <p:cNvSpPr>
            <a:spLocks noGrp="1"/>
          </p:cNvSpPr>
          <p:nvPr/>
        </p:nvSpPr>
        <p:spPr>
          <a:xfrm>
            <a:off x="2286000" y="37307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경북대학교병원 IRB (KNUH IRB 2025-08-024-003)</a:t>
            </a:r>
            <a:endParaRPr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15798DB-6C88-40BA-B262-ACAA7811FE84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97E8058-BDDF-41FB-9FD5-3AEE4C9DB73B}"/>
              </a:ext>
            </a:extLst>
          </p:cNvPr>
          <p:cNvSpPr>
            <a:spLocks noGrp="1"/>
          </p:cNvSpPr>
          <p:nvPr/>
        </p:nvSpPr>
        <p:spPr>
          <a:xfrm>
            <a:off x="685800" y="41879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동의 절차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CBAF5C3-C125-4400-ADDA-E6E560E207C8}"/>
              </a:ext>
            </a:extLst>
          </p:cNvPr>
          <p:cNvSpPr>
            <a:spLocks noGrp="1"/>
          </p:cNvSpPr>
          <p:nvPr/>
        </p:nvSpPr>
        <p:spPr>
          <a:xfrm>
            <a:off x="2286000" y="418795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헬싱키 선언 준수 · 전원 서면 동의 취득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147C1DC-6EA6-4816-A70B-64C14DCBFE4C}"/>
              </a:ext>
            </a:extLst>
          </p:cNvPr>
          <p:cNvSpPr>
            <a:spLocks noGrp="1"/>
          </p:cNvSpPr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논문의 평가는 같은 피험자의 시행이 학습·평가에 함께 포함될 수 있는 trial-wise 검증이다.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65303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BBCB47-46DE-476E-91F1-69E05B8C6BBC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234942-E174-42AA-BFA8-71CDBC2965C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측정 장비와 전극 구성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915C7C-815F-41F3-B41B-CA39B7442843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IX-BIO8 (iWorx) 5채널 시스템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9E0998-B9EE-473E-BBBB-3DCDB83A9E1B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19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6372D8-DAD7-4588-8F78-CC0D14D3337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63194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E0F45A-B1CB-4139-BD14-347998F321F1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86319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D1E293E-0FC4-413B-BDCF-71F049A3A0C0}"/>
              </a:ext>
            </a:extLst>
          </p:cNvPr>
          <p:cNvSpPr>
            <a:spLocks noGrp="1"/>
          </p:cNvSpPr>
          <p:nvPr/>
        </p:nvSpPr>
        <p:spPr>
          <a:xfrm>
            <a:off x="1411834" y="1371600"/>
            <a:ext cx="140269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4B262F-F729-4A96-986C-E5854C952B7E}"/>
              </a:ext>
            </a:extLst>
          </p:cNvPr>
          <p:cNvSpPr>
            <a:spLocks noGrp="1"/>
          </p:cNvSpPr>
          <p:nvPr/>
        </p:nvSpPr>
        <p:spPr>
          <a:xfrm>
            <a:off x="1411834" y="1435608"/>
            <a:ext cx="140269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사양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4A3DB0-94E3-4794-BC09-83041AF6FE89}"/>
              </a:ext>
            </a:extLst>
          </p:cNvPr>
          <p:cNvSpPr>
            <a:spLocks noGrp="1"/>
          </p:cNvSpPr>
          <p:nvPr/>
        </p:nvSpPr>
        <p:spPr>
          <a:xfrm>
            <a:off x="2814523" y="1371600"/>
            <a:ext cx="2481682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BDE820D-A630-4075-AA67-1146A3E01429}"/>
              </a:ext>
            </a:extLst>
          </p:cNvPr>
          <p:cNvSpPr>
            <a:spLocks noGrp="1"/>
          </p:cNvSpPr>
          <p:nvPr/>
        </p:nvSpPr>
        <p:spPr>
          <a:xfrm>
            <a:off x="2814523" y="1435608"/>
            <a:ext cx="248168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설명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D01221D-5197-4746-B23F-E412E9F0CE4F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4747565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2C61A3-A845-4A07-880A-3BBE45E15DC6}"/>
              </a:ext>
            </a:extLst>
          </p:cNvPr>
          <p:cNvSpPr>
            <a:spLocks noGrp="1"/>
          </p:cNvSpPr>
          <p:nvPr/>
        </p:nvSpPr>
        <p:spPr>
          <a:xfrm>
            <a:off x="613380" y="1837944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장비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74C529-7B1C-46DA-907F-3F76CC3F3AC3}"/>
              </a:ext>
            </a:extLst>
          </p:cNvPr>
          <p:cNvSpPr>
            <a:spLocks noGrp="1"/>
          </p:cNvSpPr>
          <p:nvPr/>
        </p:nvSpPr>
        <p:spPr>
          <a:xfrm>
            <a:off x="1476573" y="1837944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IX-BIO8 (iWorx)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8D99A1-F014-48ED-ACA8-719BC9970BF2}"/>
              </a:ext>
            </a:extLst>
          </p:cNvPr>
          <p:cNvSpPr>
            <a:spLocks noGrp="1"/>
          </p:cNvSpPr>
          <p:nvPr/>
        </p:nvSpPr>
        <p:spPr>
          <a:xfrm>
            <a:off x="2879263" y="1837944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생체전위 기록 장치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405DAD-1157-4D66-A73F-557A89B7D7F9}"/>
              </a:ext>
            </a:extLst>
          </p:cNvPr>
          <p:cNvSpPr>
            <a:spLocks noGrp="1"/>
          </p:cNvSpPr>
          <p:nvPr/>
        </p:nvSpPr>
        <p:spPr>
          <a:xfrm>
            <a:off x="613380" y="2228088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채널 수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7FC3CF5-28D5-41D5-9481-F02005CE781A}"/>
              </a:ext>
            </a:extLst>
          </p:cNvPr>
          <p:cNvSpPr>
            <a:spLocks noGrp="1"/>
          </p:cNvSpPr>
          <p:nvPr/>
        </p:nvSpPr>
        <p:spPr>
          <a:xfrm>
            <a:off x="1476573" y="2228088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5채널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B3BC2F4-003D-4395-B987-4E77FEBFAB12}"/>
              </a:ext>
            </a:extLst>
          </p:cNvPr>
          <p:cNvSpPr>
            <a:spLocks noGrp="1"/>
          </p:cNvSpPr>
          <p:nvPr/>
        </p:nvSpPr>
        <p:spPr>
          <a:xfrm>
            <a:off x="2879263" y="2228088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 3 + 상완 2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8EF2656-DF29-4147-BC56-944F55B60BFF}"/>
              </a:ext>
            </a:extLst>
          </p:cNvPr>
          <p:cNvSpPr>
            <a:spLocks noGrp="1"/>
          </p:cNvSpPr>
          <p:nvPr/>
        </p:nvSpPr>
        <p:spPr>
          <a:xfrm>
            <a:off x="548640" y="2554224"/>
            <a:ext cx="4747565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36C3E3D-23AE-4FAC-A936-453008265384}"/>
              </a:ext>
            </a:extLst>
          </p:cNvPr>
          <p:cNvSpPr>
            <a:spLocks noGrp="1"/>
          </p:cNvSpPr>
          <p:nvPr/>
        </p:nvSpPr>
        <p:spPr>
          <a:xfrm>
            <a:off x="613380" y="2618232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샘플링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F5B92FB-8CCF-493F-A29D-7B1E19DD9114}"/>
              </a:ext>
            </a:extLst>
          </p:cNvPr>
          <p:cNvSpPr>
            <a:spLocks noGrp="1"/>
          </p:cNvSpPr>
          <p:nvPr/>
        </p:nvSpPr>
        <p:spPr>
          <a:xfrm>
            <a:off x="1476573" y="2618232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1,000 Hz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A824590-810B-4EB4-BB0D-017189152904}"/>
              </a:ext>
            </a:extLst>
          </p:cNvPr>
          <p:cNvSpPr>
            <a:spLocks noGrp="1"/>
          </p:cNvSpPr>
          <p:nvPr/>
        </p:nvSpPr>
        <p:spPr>
          <a:xfrm>
            <a:off x="2879263" y="2618232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 분해능 1 ms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97718A-5167-4A1B-B1DD-5793643F535F}"/>
              </a:ext>
            </a:extLst>
          </p:cNvPr>
          <p:cNvSpPr>
            <a:spLocks noGrp="1"/>
          </p:cNvSpPr>
          <p:nvPr/>
        </p:nvSpPr>
        <p:spPr>
          <a:xfrm>
            <a:off x="613380" y="3008376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전극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94CD933-7938-406D-8D62-646751A47201}"/>
              </a:ext>
            </a:extLst>
          </p:cNvPr>
          <p:cNvSpPr>
            <a:spLocks noGrp="1"/>
          </p:cNvSpPr>
          <p:nvPr/>
        </p:nvSpPr>
        <p:spPr>
          <a:xfrm>
            <a:off x="1476573" y="3008376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일회용 Ag/AgCl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CFDFAD7-8D38-49B6-8378-EDD7DD6EA6B7}"/>
              </a:ext>
            </a:extLst>
          </p:cNvPr>
          <p:cNvSpPr>
            <a:spLocks noGrp="1"/>
          </p:cNvSpPr>
          <p:nvPr/>
        </p:nvSpPr>
        <p:spPr>
          <a:xfrm>
            <a:off x="2879263" y="3008376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습식 전극 — 임상 표준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C5962B6-E0C0-492A-BF83-AA5DA351E6A6}"/>
              </a:ext>
            </a:extLst>
          </p:cNvPr>
          <p:cNvSpPr>
            <a:spLocks noGrp="1"/>
          </p:cNvSpPr>
          <p:nvPr/>
        </p:nvSpPr>
        <p:spPr>
          <a:xfrm>
            <a:off x="548640" y="3334512"/>
            <a:ext cx="4747565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39EFFDE-833A-408D-9BD0-0453A80A1651}"/>
              </a:ext>
            </a:extLst>
          </p:cNvPr>
          <p:cNvSpPr>
            <a:spLocks noGrp="1"/>
          </p:cNvSpPr>
          <p:nvPr/>
        </p:nvSpPr>
        <p:spPr>
          <a:xfrm>
            <a:off x="613380" y="3398520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구성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33C2D85-BC86-4FAC-8B1A-2FA1D7E08DC0}"/>
              </a:ext>
            </a:extLst>
          </p:cNvPr>
          <p:cNvSpPr>
            <a:spLocks noGrp="1"/>
          </p:cNvSpPr>
          <p:nvPr/>
        </p:nvSpPr>
        <p:spPr>
          <a:xfrm>
            <a:off x="1476573" y="3398520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쌍극(bipolar) 배치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E4C75B3-46B2-49EC-AED9-72EFE3A89F7D}"/>
              </a:ext>
            </a:extLst>
          </p:cNvPr>
          <p:cNvSpPr>
            <a:spLocks noGrp="1"/>
          </p:cNvSpPr>
          <p:nvPr/>
        </p:nvSpPr>
        <p:spPr>
          <a:xfrm>
            <a:off x="2879263" y="3398520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공통모드 잡음 억제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91B85FE-C991-4364-8B04-00CEF2754DFD}"/>
              </a:ext>
            </a:extLst>
          </p:cNvPr>
          <p:cNvSpPr>
            <a:spLocks noGrp="1"/>
          </p:cNvSpPr>
          <p:nvPr/>
        </p:nvSpPr>
        <p:spPr>
          <a:xfrm>
            <a:off x="613380" y="3788664"/>
            <a:ext cx="733715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접지</a:t>
            </a:r>
            <a:endParaRPr sz="1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AE63B6A-3698-4DB0-96CF-B97B9A0B287A}"/>
              </a:ext>
            </a:extLst>
          </p:cNvPr>
          <p:cNvSpPr>
            <a:spLocks noGrp="1"/>
          </p:cNvSpPr>
          <p:nvPr/>
        </p:nvSpPr>
        <p:spPr>
          <a:xfrm>
            <a:off x="1476573" y="3788664"/>
            <a:ext cx="1273211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요골 경상돌기 부근</a:t>
            </a:r>
            <a:endParaRPr sz="1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C68CAFC-F4AE-4834-9438-581F1BA93863}"/>
              </a:ext>
            </a:extLst>
          </p:cNvPr>
          <p:cNvSpPr>
            <a:spLocks noGrp="1"/>
          </p:cNvSpPr>
          <p:nvPr/>
        </p:nvSpPr>
        <p:spPr>
          <a:xfrm>
            <a:off x="2879263" y="3788664"/>
            <a:ext cx="2352203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근활성이 적은 뼈 돌출부</a:t>
            </a:r>
            <a:endParaRPr sz="10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4EB758F-3502-46CF-AF82-558134BB3353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해부학적 지표를 기준으로 모든 피험자에게 동일한 부착 절차를 적용하였다.</a:t>
            </a:r>
            <a:endParaRPr sz="1050"/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0700" y="1403828"/>
            <a:ext cx="2990850" cy="1230945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80076" y="2886075"/>
            <a:ext cx="2632097" cy="140970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97976A-A714-4F48-92C9-FED9DF82DDA0}"/>
              </a:ext>
            </a:extLst>
          </p:cNvPr>
          <p:cNvSpPr>
            <a:spLocks noGrp="1"/>
          </p:cNvSpPr>
          <p:nvPr/>
        </p:nvSpPr>
        <p:spPr>
          <a:xfrm>
            <a:off x="5619750" y="2657475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1(a)  IX-BIO8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EE1AE8-FD12-4FDA-88A3-0ECDA1708C93}"/>
              </a:ext>
            </a:extLst>
          </p:cNvPr>
          <p:cNvSpPr>
            <a:spLocks noGrp="1"/>
          </p:cNvSpPr>
          <p:nvPr/>
        </p:nvSpPr>
        <p:spPr>
          <a:xfrm>
            <a:off x="5619750" y="4333875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1(c)  신호 수집 화면</a:t>
            </a:r>
          </a:p>
        </p:txBody>
      </p:sp>
    </p:spTree>
    <p:extLst>
      <p:ext uri="{BB962C8B-B14F-4D97-AF65-F5344CB8AC3E}">
        <p14:creationId xmlns:p14="http://schemas.microsoft.com/office/powerpoint/2010/main" val="401797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607253-68BE-478E-936F-50428B734960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A8A3EE-0380-4BA5-9B65-523F870CFE44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5채널 근육 배치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37266C-72CC-467E-A60F-D85D8F2A1DDA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손동작과 팔꿈치 각도를 함께 담기 위한 구성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8624C4-80BC-4215-85D2-6CFBAFFAE63F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47EF35-0ED4-4AB2-9F23-60C7D32C3CF0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2E1A2A-568D-4C3B-A946-C59F9F699FD0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38FAC26-EC39-4569-B222-B76FFD8E4B76}"/>
              </a:ext>
            </a:extLst>
          </p:cNvPr>
          <p:cNvSpPr>
            <a:spLocks noGrp="1"/>
          </p:cNvSpPr>
          <p:nvPr/>
        </p:nvSpPr>
        <p:spPr>
          <a:xfrm>
            <a:off x="1152144" y="1371600"/>
            <a:ext cx="1689811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962732-0584-4FB7-BA3B-BB1545A02A1A}"/>
              </a:ext>
            </a:extLst>
          </p:cNvPr>
          <p:cNvSpPr>
            <a:spLocks noGrp="1"/>
          </p:cNvSpPr>
          <p:nvPr/>
        </p:nvSpPr>
        <p:spPr>
          <a:xfrm>
            <a:off x="1152144" y="1435608"/>
            <a:ext cx="1689811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근육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2B19CE-DD9B-4C67-B03E-BF1367701081}"/>
              </a:ext>
            </a:extLst>
          </p:cNvPr>
          <p:cNvSpPr>
            <a:spLocks noGrp="1"/>
          </p:cNvSpPr>
          <p:nvPr/>
        </p:nvSpPr>
        <p:spPr>
          <a:xfrm>
            <a:off x="2841955" y="1371600"/>
            <a:ext cx="1086307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489404-D1DD-4E78-8747-D42886041C83}"/>
              </a:ext>
            </a:extLst>
          </p:cNvPr>
          <p:cNvSpPr>
            <a:spLocks noGrp="1"/>
          </p:cNvSpPr>
          <p:nvPr/>
        </p:nvSpPr>
        <p:spPr>
          <a:xfrm>
            <a:off x="2841955" y="1435608"/>
            <a:ext cx="1086307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부위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2818D94-911F-4315-ADB8-C7E841BB7719}"/>
              </a:ext>
            </a:extLst>
          </p:cNvPr>
          <p:cNvSpPr>
            <a:spLocks noGrp="1"/>
          </p:cNvSpPr>
          <p:nvPr/>
        </p:nvSpPr>
        <p:spPr>
          <a:xfrm>
            <a:off x="3928262" y="1371600"/>
            <a:ext cx="1931213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8A0956-1D86-4ABE-BD54-6B9D034B1B3F}"/>
              </a:ext>
            </a:extLst>
          </p:cNvPr>
          <p:cNvSpPr>
            <a:spLocks noGrp="1"/>
          </p:cNvSpPr>
          <p:nvPr/>
        </p:nvSpPr>
        <p:spPr>
          <a:xfrm>
            <a:off x="3928262" y="1435608"/>
            <a:ext cx="1931213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기능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32CC779-DC73-44A2-ABFC-517C06A1AC97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5310835" cy="486442"/>
          </a:xfrm>
          <a:prstGeom prst="roundRect">
            <a:avLst>
              <a:gd name="adj" fmla="val 11278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BD3178-8B05-4E3F-BE6E-11EC78F3282B}"/>
              </a:ext>
            </a:extLst>
          </p:cNvPr>
          <p:cNvSpPr>
            <a:spLocks noGrp="1"/>
          </p:cNvSpPr>
          <p:nvPr/>
        </p:nvSpPr>
        <p:spPr>
          <a:xfrm>
            <a:off x="621060" y="1837944"/>
            <a:ext cx="458663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Ch 1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74BA8A8-93BC-4205-B722-D54E250189B4}"/>
              </a:ext>
            </a:extLst>
          </p:cNvPr>
          <p:cNvSpPr>
            <a:spLocks noGrp="1"/>
          </p:cNvSpPr>
          <p:nvPr/>
        </p:nvSpPr>
        <p:spPr>
          <a:xfrm>
            <a:off x="1224564" y="1837944"/>
            <a:ext cx="1544970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요측수근신근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ECR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C6FF9E1-A280-414D-9CAA-5EE8800FB0EB}"/>
              </a:ext>
            </a:extLst>
          </p:cNvPr>
          <p:cNvSpPr>
            <a:spLocks noGrp="1"/>
          </p:cNvSpPr>
          <p:nvPr/>
        </p:nvSpPr>
        <p:spPr>
          <a:xfrm>
            <a:off x="2914376" y="1837944"/>
            <a:ext cx="941466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 후면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402AE1-AEB1-45CB-9DAC-73378ECB4DAF}"/>
              </a:ext>
            </a:extLst>
          </p:cNvPr>
          <p:cNvSpPr>
            <a:spLocks noGrp="1"/>
          </p:cNvSpPr>
          <p:nvPr/>
        </p:nvSpPr>
        <p:spPr>
          <a:xfrm>
            <a:off x="4000683" y="1837944"/>
            <a:ext cx="1786372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손목 신전 · 요측 편위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22E6A78-FD4B-4731-99C5-2652F2E110BB}"/>
              </a:ext>
            </a:extLst>
          </p:cNvPr>
          <p:cNvSpPr>
            <a:spLocks noGrp="1"/>
          </p:cNvSpPr>
          <p:nvPr/>
        </p:nvSpPr>
        <p:spPr>
          <a:xfrm>
            <a:off x="621060" y="2360962"/>
            <a:ext cx="458663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Ch 2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E3762A-8425-4E7E-9C45-409FA2CE5926}"/>
              </a:ext>
            </a:extLst>
          </p:cNvPr>
          <p:cNvSpPr>
            <a:spLocks noGrp="1"/>
          </p:cNvSpPr>
          <p:nvPr/>
        </p:nvSpPr>
        <p:spPr>
          <a:xfrm>
            <a:off x="1224564" y="2360962"/>
            <a:ext cx="1544970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총지신근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ED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00378B-8A4A-47AB-8DE8-E71E7E1F9CD3}"/>
              </a:ext>
            </a:extLst>
          </p:cNvPr>
          <p:cNvSpPr>
            <a:spLocks noGrp="1"/>
          </p:cNvSpPr>
          <p:nvPr/>
        </p:nvSpPr>
        <p:spPr>
          <a:xfrm>
            <a:off x="2914376" y="2360962"/>
            <a:ext cx="941466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 후면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481903-0EB4-40BB-BBEA-2E764F9978BC}"/>
              </a:ext>
            </a:extLst>
          </p:cNvPr>
          <p:cNvSpPr>
            <a:spLocks noGrp="1"/>
          </p:cNvSpPr>
          <p:nvPr/>
        </p:nvSpPr>
        <p:spPr>
          <a:xfrm>
            <a:off x="4000683" y="2360962"/>
            <a:ext cx="1786372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손가락 신전 — 손 펴기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B9FDBA7-9FFB-4FAF-83A6-D8BEAD8455A9}"/>
              </a:ext>
            </a:extLst>
          </p:cNvPr>
          <p:cNvSpPr>
            <a:spLocks noGrp="1"/>
          </p:cNvSpPr>
          <p:nvPr/>
        </p:nvSpPr>
        <p:spPr>
          <a:xfrm>
            <a:off x="548640" y="2819972"/>
            <a:ext cx="5310835" cy="486442"/>
          </a:xfrm>
          <a:prstGeom prst="roundRect">
            <a:avLst>
              <a:gd name="adj" fmla="val 11278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E0969B7-1270-47A3-82F5-F12C72485CD7}"/>
              </a:ext>
            </a:extLst>
          </p:cNvPr>
          <p:cNvSpPr>
            <a:spLocks noGrp="1"/>
          </p:cNvSpPr>
          <p:nvPr/>
        </p:nvSpPr>
        <p:spPr>
          <a:xfrm>
            <a:off x="621060" y="2883979"/>
            <a:ext cx="458663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Ch 3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619C2F2-3DF2-44D1-A52B-322558DCDC3C}"/>
              </a:ext>
            </a:extLst>
          </p:cNvPr>
          <p:cNvSpPr>
            <a:spLocks noGrp="1"/>
          </p:cNvSpPr>
          <p:nvPr/>
        </p:nvSpPr>
        <p:spPr>
          <a:xfrm>
            <a:off x="1224564" y="2883979"/>
            <a:ext cx="1544970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천지굴근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FDS</a:t>
            </a:r>
            <a:endParaRPr sz="1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14502E8-2823-4458-A1CF-9AAFE894C0FA}"/>
              </a:ext>
            </a:extLst>
          </p:cNvPr>
          <p:cNvSpPr>
            <a:spLocks noGrp="1"/>
          </p:cNvSpPr>
          <p:nvPr/>
        </p:nvSpPr>
        <p:spPr>
          <a:xfrm>
            <a:off x="2914376" y="2883979"/>
            <a:ext cx="941466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전완 전면</a:t>
            </a:r>
            <a:endParaRPr sz="10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7EBF9E3-7A1B-42E2-A7CC-B04A1D8F4363}"/>
              </a:ext>
            </a:extLst>
          </p:cNvPr>
          <p:cNvSpPr>
            <a:spLocks noGrp="1"/>
          </p:cNvSpPr>
          <p:nvPr/>
        </p:nvSpPr>
        <p:spPr>
          <a:xfrm>
            <a:off x="4000683" y="2883979"/>
            <a:ext cx="1786372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손가락 굴곡 — 주먹 쥐기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5887AE5-5329-4E5A-9A5B-BC6286D311DE}"/>
              </a:ext>
            </a:extLst>
          </p:cNvPr>
          <p:cNvSpPr>
            <a:spLocks noGrp="1"/>
          </p:cNvSpPr>
          <p:nvPr/>
        </p:nvSpPr>
        <p:spPr>
          <a:xfrm>
            <a:off x="621060" y="3407093"/>
            <a:ext cx="458663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Ch 4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B948CC0-82AB-4DC7-B8C5-F846C0805938}"/>
              </a:ext>
            </a:extLst>
          </p:cNvPr>
          <p:cNvSpPr>
            <a:spLocks noGrp="1"/>
          </p:cNvSpPr>
          <p:nvPr/>
        </p:nvSpPr>
        <p:spPr>
          <a:xfrm>
            <a:off x="1224564" y="3407093"/>
            <a:ext cx="1544970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상완이두근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BB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B5F8A01-7619-477A-BA3B-149645827976}"/>
              </a:ext>
            </a:extLst>
          </p:cNvPr>
          <p:cNvSpPr>
            <a:spLocks noGrp="1"/>
          </p:cNvSpPr>
          <p:nvPr/>
        </p:nvSpPr>
        <p:spPr>
          <a:xfrm>
            <a:off x="2914376" y="3407093"/>
            <a:ext cx="941466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상완 전면</a:t>
            </a:r>
            <a:endParaRPr sz="1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9D570C3-A9AD-4CEE-AE96-47F63EE8D756}"/>
              </a:ext>
            </a:extLst>
          </p:cNvPr>
          <p:cNvSpPr>
            <a:spLocks noGrp="1"/>
          </p:cNvSpPr>
          <p:nvPr/>
        </p:nvSpPr>
        <p:spPr>
          <a:xfrm>
            <a:off x="4000683" y="3407093"/>
            <a:ext cx="1786372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팔꿈치 굴곡 · 전완 회외</a:t>
            </a:r>
            <a:endParaRPr sz="10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BB25A05-20D3-41D5-9967-0833179556C1}"/>
              </a:ext>
            </a:extLst>
          </p:cNvPr>
          <p:cNvSpPr>
            <a:spLocks noGrp="1"/>
          </p:cNvSpPr>
          <p:nvPr/>
        </p:nvSpPr>
        <p:spPr>
          <a:xfrm>
            <a:off x="548640" y="3866102"/>
            <a:ext cx="5310835" cy="486442"/>
          </a:xfrm>
          <a:prstGeom prst="roundRect">
            <a:avLst>
              <a:gd name="adj" fmla="val 11278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2811FF-D479-4914-BA41-3A5CE0876B50}"/>
              </a:ext>
            </a:extLst>
          </p:cNvPr>
          <p:cNvSpPr>
            <a:spLocks noGrp="1"/>
          </p:cNvSpPr>
          <p:nvPr/>
        </p:nvSpPr>
        <p:spPr>
          <a:xfrm>
            <a:off x="621060" y="3930110"/>
            <a:ext cx="458663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Ch 5</a:t>
            </a:r>
            <a:endParaRPr sz="10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830A60F-D845-45B7-8E28-D65575A5F272}"/>
              </a:ext>
            </a:extLst>
          </p:cNvPr>
          <p:cNvSpPr>
            <a:spLocks noGrp="1"/>
          </p:cNvSpPr>
          <p:nvPr/>
        </p:nvSpPr>
        <p:spPr>
          <a:xfrm>
            <a:off x="1224564" y="3930110"/>
            <a:ext cx="1544970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상완삼두근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TB</a:t>
            </a:r>
            <a:endParaRPr sz="10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B26B0AB-2015-4BA1-9CDA-A12BA74FFA69}"/>
              </a:ext>
            </a:extLst>
          </p:cNvPr>
          <p:cNvSpPr>
            <a:spLocks noGrp="1"/>
          </p:cNvSpPr>
          <p:nvPr/>
        </p:nvSpPr>
        <p:spPr>
          <a:xfrm>
            <a:off x="2914376" y="3930110"/>
            <a:ext cx="941466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상완 후면</a:t>
            </a:r>
            <a:endParaRPr sz="10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BAA6346-9654-4E54-B064-E282BA4FE109}"/>
              </a:ext>
            </a:extLst>
          </p:cNvPr>
          <p:cNvSpPr>
            <a:spLocks noGrp="1"/>
          </p:cNvSpPr>
          <p:nvPr/>
        </p:nvSpPr>
        <p:spPr>
          <a:xfrm>
            <a:off x="4000683" y="3930110"/>
            <a:ext cx="1786372" cy="395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팔꿈치 신전</a:t>
            </a:r>
            <a:endParaRPr sz="10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477D3AD-A09E-4D36-8D1C-4B8DE0D76136}"/>
              </a:ext>
            </a:extLst>
          </p:cNvPr>
          <p:cNvSpPr>
            <a:spLocks noGrp="1"/>
          </p:cNvSpPr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전완과 상완에서 손동작 및 팔꿈치 각도 변화에 따른 근활성 정보를 함께 확보하였다.</a:t>
            </a:r>
            <a:endParaRPr sz="1050"/>
          </a:p>
        </p:txBody>
      </p:sp>
      <p:pic>
        <p:nvPicPr>
          <p:cNvPr id="76" name="그림 7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57900" y="1382412"/>
            <a:ext cx="2533650" cy="292160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D6E48DE4-B578-4214-A822-5489EE19ECEF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2  Ch 1–5 및 Ground</a:t>
            </a:r>
          </a:p>
        </p:txBody>
      </p:sp>
    </p:spTree>
    <p:extLst>
      <p:ext uri="{BB962C8B-B14F-4D97-AF65-F5344CB8AC3E}">
        <p14:creationId xmlns:p14="http://schemas.microsoft.com/office/powerpoint/2010/main" val="372049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>
            <a:extLst>
              <a:ext uri="{FF2B5EF4-FFF2-40B4-BE49-F238E27FC236}">
                <a16:creationId xmlns:a16="http://schemas.microsoft.com/office/drawing/2014/main" id="{FFBA96F4-DE3C-4E55-8824-7606E36C12B4}"/>
              </a:ext>
            </a:extLst>
          </p:cNvPr>
          <p:cNvSpPr>
            <a:spLocks noGrp="1"/>
          </p:cNvSpPr>
          <p:nvPr/>
        </p:nvSpPr>
        <p:spPr>
          <a:xfrm>
            <a:off x="548640" y="4001707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3279499-45E5-4123-ADFF-37B514DBEE7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4D74D-60A4-483C-B939-4E10C972E82B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팔꿈치 각도 조건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C4E8A2-2BE9-4805-A5CF-EF8CB8B98AED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자체 제작 각도 측정 플레이트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4930E2-4EF9-4AC0-B5D8-F24705B2C818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21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0052E8-931C-4E9F-9159-E7CF1C7B8B1F}"/>
              </a:ext>
            </a:extLst>
          </p:cNvPr>
          <p:cNvSpPr>
            <a:spLocks noGrp="1"/>
          </p:cNvSpPr>
          <p:nvPr/>
        </p:nvSpPr>
        <p:spPr>
          <a:xfrm>
            <a:off x="548640" y="1371601"/>
            <a:ext cx="3931920" cy="1294598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A697B0-4593-4499-8A4F-6709C5DB9D08}"/>
              </a:ext>
            </a:extLst>
          </p:cNvPr>
          <p:cNvSpPr>
            <a:spLocks noGrp="1"/>
          </p:cNvSpPr>
          <p:nvPr/>
        </p:nvSpPr>
        <p:spPr>
          <a:xfrm>
            <a:off x="731520" y="143320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측정 환경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D0E0DD1-04AF-42EF-92AA-D3F38DDE6B79}"/>
              </a:ext>
            </a:extLst>
          </p:cNvPr>
          <p:cNvSpPr>
            <a:spLocks noGrp="1"/>
          </p:cNvSpPr>
          <p:nvPr/>
        </p:nvSpPr>
        <p:spPr>
          <a:xfrm>
            <a:off x="731520" y="1762387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피험자는 착석 상태로 테이블 위에 팔을 올린다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테이블에 자체 제작 각도 측정 플레이트를 설치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플레이트에 30°와 60° 기준선이 표시되어 있다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모든 시행에서 동일한 각도 자세를 유지</a:t>
            </a:r>
            <a:endParaRPr sz="10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26E533C-CD1F-4546-B9ED-2424BC45705F}"/>
              </a:ext>
            </a:extLst>
          </p:cNvPr>
          <p:cNvSpPr>
            <a:spLocks noGrp="1"/>
          </p:cNvSpPr>
          <p:nvPr/>
        </p:nvSpPr>
        <p:spPr>
          <a:xfrm>
            <a:off x="731520" y="4102291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두 각도 조건의 의미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2AFA014-4623-488F-A7AD-E82D5797D38F}"/>
              </a:ext>
            </a:extLst>
          </p:cNvPr>
          <p:cNvSpPr>
            <a:spLocks noGrp="1"/>
          </p:cNvSpPr>
          <p:nvPr/>
        </p:nvSpPr>
        <p:spPr>
          <a:xfrm>
            <a:off x="731520" y="4404043"/>
            <a:ext cx="7680960" cy="5983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30°와 60°의 정적 자세를 통제해 반복 측정의 일관성을 확보하였다.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연구는 두 이산 각도 조건에서 동시 분류의 예비 타당성을 평가하였다.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연속 각도와 동적 움직임은 향후 연구에서 검증할 과제이다.</a:t>
            </a:r>
            <a:endParaRPr sz="975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6850" y="1695450"/>
            <a:ext cx="3459399" cy="20002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527727-07AB-40AD-8388-6285BED47277}"/>
              </a:ext>
            </a:extLst>
          </p:cNvPr>
          <p:cNvSpPr>
            <a:spLocks noGrp="1"/>
          </p:cNvSpPr>
          <p:nvPr/>
        </p:nvSpPr>
        <p:spPr>
          <a:xfrm>
            <a:off x="4833937" y="3714750"/>
            <a:ext cx="3619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1(b)  30° / 60° 기준선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23AB077-8783-BC85-B380-C7E55D481204}"/>
              </a:ext>
            </a:extLst>
          </p:cNvPr>
          <p:cNvSpPr/>
          <p:nvPr/>
        </p:nvSpPr>
        <p:spPr>
          <a:xfrm>
            <a:off x="548640" y="2700201"/>
            <a:ext cx="3931920" cy="1268362"/>
          </a:xfrm>
          <a:prstGeom prst="roundRect">
            <a:avLst>
              <a:gd name="adj" fmla="val 272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5312B14-D713-F021-AEA1-AB32982C08F7}"/>
              </a:ext>
            </a:extLst>
          </p:cNvPr>
          <p:cNvSpPr/>
          <p:nvPr/>
        </p:nvSpPr>
        <p:spPr>
          <a:xfrm>
            <a:off x="731520" y="27618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각도만 쓴 이유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3486A48-2113-EBA4-65DE-470B3787B359}"/>
              </a:ext>
            </a:extLst>
          </p:cNvPr>
          <p:cNvSpPr/>
          <p:nvPr/>
        </p:nvSpPr>
        <p:spPr>
          <a:xfrm>
            <a:off x="731520" y="3090988"/>
            <a:ext cx="3566160" cy="88844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이산적 두 조건으로 통제 변수를 최소화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반복 간 일관된 근활성 패턴 확보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통제된 조건에서 예비 타당성 평가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연속 각도 추정은 후속 연구 과제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446719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413495-39AC-428A-A6E7-DC3C9DC005E4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EEC7DB-E986-4C5B-B404-1B7A51F0BBD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4가지 손동작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E981C4-3C27-439A-85A2-165118A26827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기본적이고 일상에서 자주 나타나는 동작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096999-3A1E-43A7-BFF9-BEACC7AC024E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22</a:t>
            </a:r>
            <a:endParaRPr sz="9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5FD0F8-AF75-4073-BCB3-E4B17F9FBDB8}"/>
              </a:ext>
            </a:extLst>
          </p:cNvPr>
          <p:cNvSpPr>
            <a:spLocks noGrp="1"/>
          </p:cNvSpPr>
          <p:nvPr/>
        </p:nvSpPr>
        <p:spPr>
          <a:xfrm>
            <a:off x="723900" y="4391025"/>
            <a:ext cx="7143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3  논문에서 사용한 네 가지 손동작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0F839B-EE99-F875-4D13-FD0D6EA01A3F}"/>
              </a:ext>
            </a:extLst>
          </p:cNvPr>
          <p:cNvSpPr/>
          <p:nvPr/>
        </p:nvSpPr>
        <p:spPr>
          <a:xfrm>
            <a:off x="548640" y="1371600"/>
            <a:ext cx="526796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F5867CA-F711-137F-CF5F-8ED44931F170}"/>
              </a:ext>
            </a:extLst>
          </p:cNvPr>
          <p:cNvSpPr/>
          <p:nvPr/>
        </p:nvSpPr>
        <p:spPr>
          <a:xfrm>
            <a:off x="73152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Fist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ACC6CF8-C70A-E928-9225-B3AD1A5028AA}"/>
              </a:ext>
            </a:extLst>
          </p:cNvPr>
          <p:cNvSpPr/>
          <p:nvPr/>
        </p:nvSpPr>
        <p:spPr>
          <a:xfrm>
            <a:off x="731520" y="17373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 쥐기</a:t>
            </a:r>
            <a:endParaRPr lang="en-US" sz="9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44D0BC5-B296-2282-34B8-040803215F24}"/>
              </a:ext>
            </a:extLst>
          </p:cNvPr>
          <p:cNvSpPr/>
          <p:nvPr/>
        </p:nvSpPr>
        <p:spPr>
          <a:xfrm>
            <a:off x="1905950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굴근의 강한 동시 활성</a:t>
            </a:r>
            <a:endParaRPr lang="en-US" sz="10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1B52BEE-ACD8-3B14-931F-14464FE965D0}"/>
              </a:ext>
            </a:extLst>
          </p:cNvPr>
          <p:cNvSpPr/>
          <p:nvPr/>
        </p:nvSpPr>
        <p:spPr>
          <a:xfrm>
            <a:off x="3840754" y="1591056"/>
            <a:ext cx="1574682" cy="3007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30° · 60°에서 수행</a:t>
            </a:r>
            <a:endParaRPr sz="10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8080F4B-858A-2E9C-AD7F-6094994A433B}"/>
              </a:ext>
            </a:extLst>
          </p:cNvPr>
          <p:cNvSpPr/>
          <p:nvPr/>
        </p:nvSpPr>
        <p:spPr>
          <a:xfrm>
            <a:off x="548640" y="2121408"/>
            <a:ext cx="526796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52B92D6-840E-B477-F376-FCA4DDF494E7}"/>
              </a:ext>
            </a:extLst>
          </p:cNvPr>
          <p:cNvSpPr/>
          <p:nvPr/>
        </p:nvSpPr>
        <p:spPr>
          <a:xfrm>
            <a:off x="7315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2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1113DD8-DE03-6D8A-B759-4746F2CADB52}"/>
              </a:ext>
            </a:extLst>
          </p:cNvPr>
          <p:cNvSpPr/>
          <p:nvPr/>
        </p:nvSpPr>
        <p:spPr>
          <a:xfrm>
            <a:off x="731520" y="2487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펴기</a:t>
            </a:r>
            <a:endParaRPr lang="en-US" sz="9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B645DF94-0A26-776E-CEA8-35B80E0D84B9}"/>
              </a:ext>
            </a:extLst>
          </p:cNvPr>
          <p:cNvSpPr/>
          <p:nvPr/>
        </p:nvSpPr>
        <p:spPr>
          <a:xfrm>
            <a:off x="1905950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신근의 활성</a:t>
            </a:r>
            <a:endParaRPr lang="en-US" sz="10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A18C4CA-AFBE-55C8-C315-327E40B95DFF}"/>
              </a:ext>
            </a:extLst>
          </p:cNvPr>
          <p:cNvSpPr/>
          <p:nvPr/>
        </p:nvSpPr>
        <p:spPr>
          <a:xfrm>
            <a:off x="3840754" y="2340864"/>
            <a:ext cx="1574682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굴근과 대비되는 패턴</a:t>
            </a:r>
            <a:endParaRPr lang="en-US" sz="10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94A578C-0F06-B2D6-6614-14BA8769D7D8}"/>
              </a:ext>
            </a:extLst>
          </p:cNvPr>
          <p:cNvSpPr/>
          <p:nvPr/>
        </p:nvSpPr>
        <p:spPr>
          <a:xfrm>
            <a:off x="548640" y="2871216"/>
            <a:ext cx="526796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3100B8A-6D9F-3D94-7B6D-BE485E48DC2D}"/>
              </a:ext>
            </a:extLst>
          </p:cNvPr>
          <p:cNvSpPr/>
          <p:nvPr/>
        </p:nvSpPr>
        <p:spPr>
          <a:xfrm>
            <a:off x="731520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Pronation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B6EB6EB-53F2-A201-3A8A-F3B1B18157EC}"/>
              </a:ext>
            </a:extLst>
          </p:cNvPr>
          <p:cNvSpPr/>
          <p:nvPr/>
        </p:nvSpPr>
        <p:spPr>
          <a:xfrm>
            <a:off x="731520" y="3236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회내 (손등이 위로)</a:t>
            </a:r>
            <a:endParaRPr lang="en-US" sz="9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03F6CAF1-FC18-1C2F-3DDA-ADBE8495BBAA}"/>
              </a:ext>
            </a:extLst>
          </p:cNvPr>
          <p:cNvSpPr/>
          <p:nvPr/>
        </p:nvSpPr>
        <p:spPr>
          <a:xfrm>
            <a:off x="1905950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전완 회전 — 미세한 근협응</a:t>
            </a:r>
            <a:endParaRPr lang="en-US" sz="10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CB1AAF6-DFD5-BE73-BBD1-86F415C677E3}"/>
              </a:ext>
            </a:extLst>
          </p:cNvPr>
          <p:cNvSpPr/>
          <p:nvPr/>
        </p:nvSpPr>
        <p:spPr>
          <a:xfrm>
            <a:off x="3840754" y="3090672"/>
            <a:ext cx="1574682" cy="3007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30° · 60°에서 수행</a:t>
            </a:r>
            <a:endParaRPr sz="100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47879E5-2722-6D19-4A8F-6A698440C6D9}"/>
              </a:ext>
            </a:extLst>
          </p:cNvPr>
          <p:cNvSpPr/>
          <p:nvPr/>
        </p:nvSpPr>
        <p:spPr>
          <a:xfrm>
            <a:off x="548640" y="3621024"/>
            <a:ext cx="526796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C092B53-64FD-D770-E1E2-1EED2E99A7E3}"/>
              </a:ext>
            </a:extLst>
          </p:cNvPr>
          <p:cNvSpPr/>
          <p:nvPr/>
        </p:nvSpPr>
        <p:spPr>
          <a:xfrm>
            <a:off x="731520" y="3712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Supination</a:t>
            </a:r>
            <a:endParaRPr lang="en-US" sz="1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387261E-D062-88F3-EC2E-EA51A7E2FCA5}"/>
              </a:ext>
            </a:extLst>
          </p:cNvPr>
          <p:cNvSpPr/>
          <p:nvPr/>
        </p:nvSpPr>
        <p:spPr>
          <a:xfrm>
            <a:off x="731520" y="3986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회외 (손바닥이 위로)</a:t>
            </a:r>
            <a:endParaRPr lang="en-US" sz="95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7B19665-9D6A-7811-E7CB-3FFF42D07EC8}"/>
              </a:ext>
            </a:extLst>
          </p:cNvPr>
          <p:cNvSpPr/>
          <p:nvPr/>
        </p:nvSpPr>
        <p:spPr>
          <a:xfrm>
            <a:off x="190595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상완이두근 관여</a:t>
            </a:r>
            <a:endParaRPr lang="en-US" sz="105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BDED42-1A8F-D763-48F7-1D957B1424D0}"/>
              </a:ext>
            </a:extLst>
          </p:cNvPr>
          <p:cNvSpPr/>
          <p:nvPr/>
        </p:nvSpPr>
        <p:spPr>
          <a:xfrm>
            <a:off x="3840754" y="3840480"/>
            <a:ext cx="1574682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회내와 대비되는 방향</a:t>
            </a:r>
            <a:endParaRPr lang="en-US" sz="10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D5C901A-6592-66A9-EA1B-1DF331065077}"/>
              </a:ext>
            </a:extLst>
          </p:cNvPr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 Discussion은 open의 높은 정확도와 pronation의 상대적으로 낮은 성능을 정성적으로 해석한다.</a:t>
            </a:r>
            <a:endParaRPr sz="105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4470" y="1348136"/>
            <a:ext cx="3699530" cy="300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90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D5EAA7-4BC3-4E1D-B95A-3C65FA57023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702D0D-C4D1-4904-8407-7059CC241AF9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실험 프로토콜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6047E6-D9B4-446D-A79E-BBA2DB4EF0FE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메트로놈 60 bpm에 맞춘 정형화된 시행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4204AD-446F-4B89-8007-D7391A95F768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691162-BEAF-4293-979F-0B03A65DC9C2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77511C-8B78-4682-8DED-42FDAD064181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2초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84C1D8-5DC5-492E-82AF-CF83D766D957}"/>
              </a:ext>
            </a:extLst>
          </p:cNvPr>
          <p:cNvSpPr>
            <a:spLocks noGrp="1"/>
          </p:cNvSpPr>
          <p:nvPr/>
        </p:nvSpPr>
        <p:spPr>
          <a:xfrm>
            <a:off x="731520" y="1764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휴식 (Rest)</a:t>
            </a:r>
            <a:endParaRPr sz="11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3DD565-9ABF-4D9B-935F-47551F4541CE}"/>
              </a:ext>
            </a:extLst>
          </p:cNvPr>
          <p:cNvSpPr>
            <a:spLocks noGrp="1"/>
          </p:cNvSpPr>
          <p:nvPr/>
        </p:nvSpPr>
        <p:spPr>
          <a:xfrm>
            <a:off x="731520" y="204825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기저선 확보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854F387-BE9F-4A87-9D9B-9E20FFE5902A}"/>
              </a:ext>
            </a:extLst>
          </p:cNvPr>
          <p:cNvSpPr>
            <a:spLocks noGrp="1"/>
          </p:cNvSpPr>
          <p:nvPr/>
        </p:nvSpPr>
        <p:spPr>
          <a:xfrm>
            <a:off x="329184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55439C-2C30-494C-9D49-21C730A8BDC4}"/>
              </a:ext>
            </a:extLst>
          </p:cNvPr>
          <p:cNvSpPr>
            <a:spLocks noGrp="1"/>
          </p:cNvSpPr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1초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613FC5-7BDD-4AB8-9DB2-C8383E309FBC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동작 수행 (Motion)</a:t>
            </a:r>
            <a:endParaRPr sz="11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6EBCBF-7B52-424A-8054-83CD0C64E8C5}"/>
              </a:ext>
            </a:extLst>
          </p:cNvPr>
          <p:cNvSpPr>
            <a:spLocks noGrp="1"/>
          </p:cNvSpPr>
          <p:nvPr/>
        </p:nvSpPr>
        <p:spPr>
          <a:xfrm>
            <a:off x="3474720" y="204825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동작 실행 시간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3EEAFCE-6076-465E-86F7-353C04EFF803}"/>
              </a:ext>
            </a:extLst>
          </p:cNvPr>
          <p:cNvSpPr>
            <a:spLocks noGrp="1"/>
          </p:cNvSpPr>
          <p:nvPr/>
        </p:nvSpPr>
        <p:spPr>
          <a:xfrm>
            <a:off x="603504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FE4355-D447-4AA0-ACDE-26890942FE6E}"/>
              </a:ext>
            </a:extLst>
          </p:cNvPr>
          <p:cNvSpPr>
            <a:spLocks noGrp="1"/>
          </p:cNvSpPr>
          <p:nvPr/>
        </p:nvSpPr>
        <p:spPr>
          <a:xfrm>
            <a:off x="6217920" y="14630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2초</a:t>
            </a:r>
            <a:endParaRPr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ACF2C4E-678B-463B-818F-EA07CB1F353B}"/>
              </a:ext>
            </a:extLst>
          </p:cNvPr>
          <p:cNvSpPr>
            <a:spLocks noGrp="1"/>
          </p:cNvSpPr>
          <p:nvPr/>
        </p:nvSpPr>
        <p:spPr>
          <a:xfrm>
            <a:off x="6217920" y="1764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휴식 (Rest)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5B1307-F9AF-4582-A4D9-C1792EBED7FD}"/>
              </a:ext>
            </a:extLst>
          </p:cNvPr>
          <p:cNvSpPr>
            <a:spLocks noGrp="1"/>
          </p:cNvSpPr>
          <p:nvPr/>
        </p:nvSpPr>
        <p:spPr>
          <a:xfrm>
            <a:off x="6217920" y="204825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다음 시행 준비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C0C6316-E05F-4D19-AC9C-AC9C28520016}"/>
              </a:ext>
            </a:extLst>
          </p:cNvPr>
          <p:cNvSpPr>
            <a:spLocks noGrp="1"/>
          </p:cNvSpPr>
          <p:nvPr/>
        </p:nvSpPr>
        <p:spPr>
          <a:xfrm>
            <a:off x="548640" y="265176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EF989DF-46DB-4272-B3AC-CF2D67CA6EE2}"/>
              </a:ext>
            </a:extLst>
          </p:cNvPr>
          <p:cNvSpPr>
            <a:spLocks noGrp="1"/>
          </p:cNvSpPr>
          <p:nvPr/>
        </p:nvSpPr>
        <p:spPr>
          <a:xfrm>
            <a:off x="685800" y="272491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1회 시행 길이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296BF72-A205-4C92-B0CE-E128C3B07B0D}"/>
              </a:ext>
            </a:extLst>
          </p:cNvPr>
          <p:cNvSpPr>
            <a:spLocks noGrp="1"/>
          </p:cNvSpPr>
          <p:nvPr/>
        </p:nvSpPr>
        <p:spPr>
          <a:xfrm>
            <a:off x="2834640" y="272491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5초 (2 + 1 + 2)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5E1F653-A98D-497C-A34C-FAD85D26FA38}"/>
              </a:ext>
            </a:extLst>
          </p:cNvPr>
          <p:cNvSpPr>
            <a:spLocks noGrp="1"/>
          </p:cNvSpPr>
          <p:nvPr/>
        </p:nvSpPr>
        <p:spPr>
          <a:xfrm>
            <a:off x="685800" y="318211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클래스당 반복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AB4596-686D-4DFA-8A37-DFAA4E063621}"/>
              </a:ext>
            </a:extLst>
          </p:cNvPr>
          <p:cNvSpPr>
            <a:spLocks noGrp="1"/>
          </p:cNvSpPr>
          <p:nvPr/>
        </p:nvSpPr>
        <p:spPr>
          <a:xfrm>
            <a:off x="2834640" y="318211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30회 → 클래스당 2분 30초 분량</a:t>
            </a:r>
            <a:endParaRPr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18CD716-2D4C-4D19-B6D5-95B77E07D150}"/>
              </a:ext>
            </a:extLst>
          </p:cNvPr>
          <p:cNvSpPr>
            <a:spLocks noGrp="1"/>
          </p:cNvSpPr>
          <p:nvPr/>
        </p:nvSpPr>
        <p:spPr>
          <a:xfrm>
            <a:off x="548640" y="356616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6D342A4-EA36-47DD-A3C0-32C273B2562B}"/>
              </a:ext>
            </a:extLst>
          </p:cNvPr>
          <p:cNvSpPr>
            <a:spLocks noGrp="1"/>
          </p:cNvSpPr>
          <p:nvPr/>
        </p:nvSpPr>
        <p:spPr>
          <a:xfrm>
            <a:off x="685800" y="363931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피험자당 시행</a:t>
            </a:r>
            <a:endParaRPr sz="10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069F53C-32F5-4C7F-B596-58EC5D27C37E}"/>
              </a:ext>
            </a:extLst>
          </p:cNvPr>
          <p:cNvSpPr>
            <a:spLocks noGrp="1"/>
          </p:cNvSpPr>
          <p:nvPr/>
        </p:nvSpPr>
        <p:spPr>
          <a:xfrm>
            <a:off x="2834640" y="363931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8클래스 × 30회 = 240 시행</a:t>
            </a:r>
            <a:endParaRPr sz="10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C9C3779-4EEF-4BDE-B009-745F8E0F06B9}"/>
              </a:ext>
            </a:extLst>
          </p:cNvPr>
          <p:cNvSpPr>
            <a:spLocks noGrp="1"/>
          </p:cNvSpPr>
          <p:nvPr/>
        </p:nvSpPr>
        <p:spPr>
          <a:xfrm>
            <a:off x="685800" y="409651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속도 통제</a:t>
            </a:r>
            <a:endParaRPr sz="10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D0F1CCF-8FCD-4DD2-A0BE-D34BF99C751E}"/>
              </a:ext>
            </a:extLst>
          </p:cNvPr>
          <p:cNvSpPr>
            <a:spLocks noGrp="1"/>
          </p:cNvSpPr>
          <p:nvPr/>
        </p:nvSpPr>
        <p:spPr>
          <a:xfrm>
            <a:off x="2834640" y="409651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메트로놈 60 beats/min — 수행 속도의 개인차 억제</a:t>
            </a:r>
            <a:endParaRPr sz="10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B4EF777-2C59-4DBA-B9EF-08EAB4B82EF0}"/>
              </a:ext>
            </a:extLst>
          </p:cNvPr>
          <p:cNvSpPr>
            <a:spLocks noGrp="1"/>
          </p:cNvSpPr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논문: 시행은 2초 휴식–1초 동작–2초 휴식, 분석은 2초 세그먼트이다. 세그먼트의 정확한 시작점은 명시하지 않는다.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79331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D13D9F-821F-4924-A5EF-7811FAA6B7CD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데이터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633732-91F5-45A5-91E8-4C166AA5DF78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 규모 계산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BA15F7-8AFF-45D1-A6CF-4EAD471BD1BA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숫자가 어떻게 이어지는지 따라가 보자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DD9D04-6FEC-4EC7-BFE3-D0621ED28C97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24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A2BF92-7E7D-49F2-8A76-3B6D0954C566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E90931-9A43-4F3D-B93C-45922AF6A738}"/>
              </a:ext>
            </a:extLst>
          </p:cNvPr>
          <p:cNvSpPr>
            <a:spLocks noGrp="1"/>
          </p:cNvSpPr>
          <p:nvPr/>
        </p:nvSpPr>
        <p:spPr>
          <a:xfrm>
            <a:off x="603504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8명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344D98-9D98-448A-8C2B-6371C73E4DBF}"/>
              </a:ext>
            </a:extLst>
          </p:cNvPr>
          <p:cNvSpPr>
            <a:spLocks noGrp="1"/>
          </p:cNvSpPr>
          <p:nvPr/>
        </p:nvSpPr>
        <p:spPr>
          <a:xfrm>
            <a:off x="603504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피험자</a:t>
            </a:r>
            <a:endParaRPr sz="8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B13210-9B01-43B1-B701-668DF8974ABB}"/>
              </a:ext>
            </a:extLst>
          </p:cNvPr>
          <p:cNvSpPr>
            <a:spLocks noGrp="1"/>
          </p:cNvSpPr>
          <p:nvPr/>
        </p:nvSpPr>
        <p:spPr>
          <a:xfrm>
            <a:off x="1901952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3F3F1F-C1A0-4F1F-9D3A-7684DD4C15D1}"/>
              </a:ext>
            </a:extLst>
          </p:cNvPr>
          <p:cNvSpPr>
            <a:spLocks noGrp="1"/>
          </p:cNvSpPr>
          <p:nvPr/>
        </p:nvSpPr>
        <p:spPr>
          <a:xfrm>
            <a:off x="1956816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× 8클래스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7FE44F-762C-4852-A90C-D65E796D768A}"/>
              </a:ext>
            </a:extLst>
          </p:cNvPr>
          <p:cNvSpPr>
            <a:spLocks noGrp="1"/>
          </p:cNvSpPr>
          <p:nvPr/>
        </p:nvSpPr>
        <p:spPr>
          <a:xfrm>
            <a:off x="1956816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4동작 × 2각도</a:t>
            </a:r>
            <a:endParaRPr sz="8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C369B0C-7CE7-4C61-8B44-D0178237A74F}"/>
              </a:ext>
            </a:extLst>
          </p:cNvPr>
          <p:cNvSpPr>
            <a:spLocks noGrp="1"/>
          </p:cNvSpPr>
          <p:nvPr/>
        </p:nvSpPr>
        <p:spPr>
          <a:xfrm>
            <a:off x="3255264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A300C8-9299-438A-A448-57F85D23C78B}"/>
              </a:ext>
            </a:extLst>
          </p:cNvPr>
          <p:cNvSpPr>
            <a:spLocks noGrp="1"/>
          </p:cNvSpPr>
          <p:nvPr/>
        </p:nvSpPr>
        <p:spPr>
          <a:xfrm>
            <a:off x="3310128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× 30회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725AAB-E0A5-4E61-A210-E9F69D084607}"/>
              </a:ext>
            </a:extLst>
          </p:cNvPr>
          <p:cNvSpPr>
            <a:spLocks noGrp="1"/>
          </p:cNvSpPr>
          <p:nvPr/>
        </p:nvSpPr>
        <p:spPr>
          <a:xfrm>
            <a:off x="3310128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클래스당 반복</a:t>
            </a:r>
            <a:endParaRPr sz="8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A8E55C-4529-4C33-BE57-6BB4C9D4BCB1}"/>
              </a:ext>
            </a:extLst>
          </p:cNvPr>
          <p:cNvSpPr>
            <a:spLocks noGrp="1"/>
          </p:cNvSpPr>
          <p:nvPr/>
        </p:nvSpPr>
        <p:spPr>
          <a:xfrm>
            <a:off x="4608576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CDF590-401D-4845-8E64-A0E191355053}"/>
              </a:ext>
            </a:extLst>
          </p:cNvPr>
          <p:cNvSpPr>
            <a:spLocks noGrp="1"/>
          </p:cNvSpPr>
          <p:nvPr/>
        </p:nvSpPr>
        <p:spPr>
          <a:xfrm>
            <a:off x="4663440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= 1,920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56B7D4-DB84-4E0E-977D-0A84B7C625BF}"/>
              </a:ext>
            </a:extLst>
          </p:cNvPr>
          <p:cNvSpPr>
            <a:spLocks noGrp="1"/>
          </p:cNvSpPr>
          <p:nvPr/>
        </p:nvSpPr>
        <p:spPr>
          <a:xfrm>
            <a:off x="4663440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라벨 세그먼트</a:t>
            </a:r>
            <a:endParaRPr sz="8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805F97-D226-49D3-9ACE-BDF29CAB9F56}"/>
              </a:ext>
            </a:extLst>
          </p:cNvPr>
          <p:cNvSpPr>
            <a:spLocks noGrp="1"/>
          </p:cNvSpPr>
          <p:nvPr/>
        </p:nvSpPr>
        <p:spPr>
          <a:xfrm>
            <a:off x="5961888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D7360D6-DAFE-47B6-8545-2B507E512864}"/>
              </a:ext>
            </a:extLst>
          </p:cNvPr>
          <p:cNvSpPr>
            <a:spLocks noGrp="1"/>
          </p:cNvSpPr>
          <p:nvPr/>
        </p:nvSpPr>
        <p:spPr>
          <a:xfrm>
            <a:off x="6016752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19개 윈도우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93DEA02-A2BE-4A77-9690-E11728AA7A93}"/>
              </a:ext>
            </a:extLst>
          </p:cNvPr>
          <p:cNvSpPr>
            <a:spLocks noGrp="1"/>
          </p:cNvSpPr>
          <p:nvPr/>
        </p:nvSpPr>
        <p:spPr>
          <a:xfrm>
            <a:off x="6016752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2초 세그먼트당</a:t>
            </a:r>
            <a:endParaRPr sz="8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1C18E4B-C55A-48EC-96C3-D6056DFE86CF}"/>
              </a:ext>
            </a:extLst>
          </p:cNvPr>
          <p:cNvSpPr>
            <a:spLocks noGrp="1"/>
          </p:cNvSpPr>
          <p:nvPr/>
        </p:nvSpPr>
        <p:spPr>
          <a:xfrm>
            <a:off x="7315200" y="1554480"/>
            <a:ext cx="1207008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56FF6A4-9053-4216-8A7E-BC01C8B94CD8}"/>
              </a:ext>
            </a:extLst>
          </p:cNvPr>
          <p:cNvSpPr>
            <a:spLocks noGrp="1"/>
          </p:cNvSpPr>
          <p:nvPr/>
        </p:nvSpPr>
        <p:spPr>
          <a:xfrm>
            <a:off x="7370064" y="171907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윈도우당 특징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9FA9D8-522C-4F3A-A41D-55B1A4940D30}"/>
              </a:ext>
            </a:extLst>
          </p:cNvPr>
          <p:cNvSpPr>
            <a:spLocks noGrp="1"/>
          </p:cNvSpPr>
          <p:nvPr/>
        </p:nvSpPr>
        <p:spPr>
          <a:xfrm>
            <a:off x="7370064" y="20848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sz="85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25차원</a:t>
            </a:r>
            <a:endParaRPr sz="8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B9EB53A-6C01-4433-9741-545316129641}"/>
              </a:ext>
            </a:extLst>
          </p:cNvPr>
          <p:cNvSpPr>
            <a:spLocks noGrp="1"/>
          </p:cNvSpPr>
          <p:nvPr/>
        </p:nvSpPr>
        <p:spPr>
          <a:xfrm>
            <a:off x="548640" y="297180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1468BFA-828A-418A-A21A-0A0BCB8D4F0D}"/>
              </a:ext>
            </a:extLst>
          </p:cNvPr>
          <p:cNvSpPr>
            <a:spLocks noGrp="1"/>
          </p:cNvSpPr>
          <p:nvPr/>
        </p:nvSpPr>
        <p:spPr>
          <a:xfrm>
            <a:off x="685800" y="304495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학습 데이터</a:t>
            </a:r>
            <a:endParaRPr sz="10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26C76A-E861-40D2-9843-196E233D8EE9}"/>
              </a:ext>
            </a:extLst>
          </p:cNvPr>
          <p:cNvSpPr>
            <a:spLocks noGrp="1"/>
          </p:cNvSpPr>
          <p:nvPr/>
        </p:nvSpPr>
        <p:spPr>
          <a:xfrm>
            <a:off x="2651760" y="3044952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1,536개 (80%)</a:t>
            </a:r>
            <a:endParaRPr sz="10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97D0D9B-FDD2-4E64-BF7E-22E50293E194}"/>
              </a:ext>
            </a:extLst>
          </p:cNvPr>
          <p:cNvSpPr>
            <a:spLocks noGrp="1"/>
          </p:cNvSpPr>
          <p:nvPr/>
        </p:nvSpPr>
        <p:spPr>
          <a:xfrm>
            <a:off x="685800" y="35204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테스트 데이터</a:t>
            </a:r>
            <a:endParaRPr sz="10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D18D432-C819-471F-A5FC-90B4B9794E88}"/>
              </a:ext>
            </a:extLst>
          </p:cNvPr>
          <p:cNvSpPr>
            <a:spLocks noGrp="1"/>
          </p:cNvSpPr>
          <p:nvPr/>
        </p:nvSpPr>
        <p:spPr>
          <a:xfrm>
            <a:off x="2651760" y="3520440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384개 (20%)</a:t>
            </a:r>
            <a:endParaRPr sz="10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6654821-BB03-4FB7-A046-1FDE7CF87F15}"/>
              </a:ext>
            </a:extLst>
          </p:cNvPr>
          <p:cNvSpPr>
            <a:spLocks noGrp="1"/>
          </p:cNvSpPr>
          <p:nvPr/>
        </p:nvSpPr>
        <p:spPr>
          <a:xfrm>
            <a:off x="548640" y="3922776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A30353F-052D-4883-81AC-7509B4C79569}"/>
              </a:ext>
            </a:extLst>
          </p:cNvPr>
          <p:cNvSpPr>
            <a:spLocks noGrp="1"/>
          </p:cNvSpPr>
          <p:nvPr/>
        </p:nvSpPr>
        <p:spPr>
          <a:xfrm>
            <a:off x="685800" y="399592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분할 방식</a:t>
            </a:r>
            <a:endParaRPr sz="10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F3C68EE-4EA7-45B4-8007-9AFBC2D24CAD}"/>
              </a:ext>
            </a:extLst>
          </p:cNvPr>
          <p:cNvSpPr>
            <a:spLocks noGrp="1"/>
          </p:cNvSpPr>
          <p:nvPr/>
        </p:nvSpPr>
        <p:spPr>
          <a:xfrm>
            <a:off x="2651760" y="3995928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시행(trial) 단위 무작위 분할 · 5-fold에서 클래스 비율 유지</a:t>
            </a:r>
            <a:endParaRPr sz="10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4A29FA0-6037-4C69-A147-9F0B0AEC9A31}"/>
              </a:ext>
            </a:extLst>
          </p:cNvPr>
          <p:cNvSpPr>
            <a:spLocks noGrp="1"/>
          </p:cNvSpPr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논문은 총 1,920개 라벨 세그먼트와 윈도우당 25D를 보고한다. 윈도우를 모델 입력 표본으로 구성한 세부 방식은 명시하지 않는다.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11539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7DDB97-2228-4AB4-9791-4C52ED7380DA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전처리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794446-C99F-435A-8940-0D2704A1F8A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잡음 제거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92B2FB-1E13-4622-AA60-A728E37849C1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두 개의 필터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764B4C-4F5B-4A80-A7F2-A80A3CA9A14F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3064EB-032E-41FD-A410-006ACA580AD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ACECE9-C9A9-4224-939E-434D1FD05243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필터</a:t>
            </a:r>
            <a:endParaRPr sz="10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B285E6-E23B-47DC-94DA-209E5FB89BF9}"/>
              </a:ext>
            </a:extLst>
          </p:cNvPr>
          <p:cNvSpPr>
            <a:spLocks noGrp="1"/>
          </p:cNvSpPr>
          <p:nvPr/>
        </p:nvSpPr>
        <p:spPr>
          <a:xfrm>
            <a:off x="2011680" y="137160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468EDF-43CE-48A0-86B0-AE8B5B1D8914}"/>
              </a:ext>
            </a:extLst>
          </p:cNvPr>
          <p:cNvSpPr>
            <a:spLocks noGrp="1"/>
          </p:cNvSpPr>
          <p:nvPr/>
        </p:nvSpPr>
        <p:spPr>
          <a:xfrm>
            <a:off x="2011680" y="143560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대역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CD5727-0B7E-493F-9C33-6284DB75B0C7}"/>
              </a:ext>
            </a:extLst>
          </p:cNvPr>
          <p:cNvSpPr>
            <a:spLocks noGrp="1"/>
          </p:cNvSpPr>
          <p:nvPr/>
        </p:nvSpPr>
        <p:spPr>
          <a:xfrm>
            <a:off x="329184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27A99A-B687-4B66-A949-EB7E66375421}"/>
              </a:ext>
            </a:extLst>
          </p:cNvPr>
          <p:cNvSpPr>
            <a:spLocks noGrp="1"/>
          </p:cNvSpPr>
          <p:nvPr/>
        </p:nvSpPr>
        <p:spPr>
          <a:xfrm>
            <a:off x="3291840" y="143560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목적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564D38B-B3D4-457D-8BFC-CCAF69ED9A62}"/>
              </a:ext>
            </a:extLst>
          </p:cNvPr>
          <p:cNvSpPr>
            <a:spLocks noGrp="1"/>
          </p:cNvSpPr>
          <p:nvPr/>
        </p:nvSpPr>
        <p:spPr>
          <a:xfrm>
            <a:off x="5486400" y="137160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D9031-F6C3-4706-9B09-489FEEEF293D}"/>
              </a:ext>
            </a:extLst>
          </p:cNvPr>
          <p:cNvSpPr>
            <a:spLocks noGrp="1"/>
          </p:cNvSpPr>
          <p:nvPr/>
        </p:nvSpPr>
        <p:spPr>
          <a:xfrm>
            <a:off x="5486400" y="14356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비고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944E53B-1D31-4E58-9FBB-B4C6BB8ADA66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694944"/>
          </a:xfrm>
          <a:prstGeom prst="roundRect">
            <a:avLst>
              <a:gd name="adj" fmla="val 789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4D931F-2365-4878-9069-3E3F030F263C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24358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노치 필터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FA4029-D92F-4A36-983F-8611236C755D}"/>
              </a:ext>
            </a:extLst>
          </p:cNvPr>
          <p:cNvSpPr>
            <a:spLocks noGrp="1"/>
          </p:cNvSpPr>
          <p:nvPr/>
        </p:nvSpPr>
        <p:spPr>
          <a:xfrm>
            <a:off x="2121408" y="18379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 Hz</a:t>
            </a:r>
            <a:endParaRPr sz="10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743D0E5-0723-4B4D-8685-88E6981F65EA}"/>
              </a:ext>
            </a:extLst>
          </p:cNvPr>
          <p:cNvSpPr>
            <a:spLocks noGrp="1"/>
          </p:cNvSpPr>
          <p:nvPr/>
        </p:nvSpPr>
        <p:spPr>
          <a:xfrm>
            <a:off x="3401568" y="1837944"/>
            <a:ext cx="19751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전원선 간섭 제거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581D86D-7F89-4B15-98AC-653B01A70C32}"/>
              </a:ext>
            </a:extLst>
          </p:cNvPr>
          <p:cNvSpPr>
            <a:spLocks noGrp="1"/>
          </p:cNvSpPr>
          <p:nvPr/>
        </p:nvSpPr>
        <p:spPr>
          <a:xfrm>
            <a:off x="5596128" y="1837944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국내 상용 전원 주파수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5FE62A3-0854-4453-9057-BFBC756FB027}"/>
              </a:ext>
            </a:extLst>
          </p:cNvPr>
          <p:cNvSpPr>
            <a:spLocks noGrp="1"/>
          </p:cNvSpPr>
          <p:nvPr/>
        </p:nvSpPr>
        <p:spPr>
          <a:xfrm>
            <a:off x="658368" y="2569464"/>
            <a:ext cx="124358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대역통과 필터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E874DC6-A1DF-47B1-A07B-A339B24A325A}"/>
              </a:ext>
            </a:extLst>
          </p:cNvPr>
          <p:cNvSpPr>
            <a:spLocks noGrp="1"/>
          </p:cNvSpPr>
          <p:nvPr/>
        </p:nvSpPr>
        <p:spPr>
          <a:xfrm>
            <a:off x="2121408" y="256946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20 ~ 450 Hz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CBF4180-6E04-4F21-A544-BD4E4D5C7FFA}"/>
              </a:ext>
            </a:extLst>
          </p:cNvPr>
          <p:cNvSpPr>
            <a:spLocks noGrp="1"/>
          </p:cNvSpPr>
          <p:nvPr/>
        </p:nvSpPr>
        <p:spPr>
          <a:xfrm>
            <a:off x="3401568" y="2569464"/>
            <a:ext cx="19751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sEMG 주요 주파수 대역 보존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2CFD1B1-9E87-444B-88C7-F58466FBAE7E}"/>
              </a:ext>
            </a:extLst>
          </p:cNvPr>
          <p:cNvSpPr>
            <a:spLocks noGrp="1"/>
          </p:cNvSpPr>
          <p:nvPr/>
        </p:nvSpPr>
        <p:spPr>
          <a:xfrm>
            <a:off x="5596128" y="2569464"/>
            <a:ext cx="2889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Butterworth 4차 — 통과대역이 평탄</a:t>
            </a:r>
            <a:endParaRPr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7ACDE7D-62EB-46EF-8540-EAF0C25DFB5F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F2A058D-33D4-4E3C-AD41-1439DFF38C6C}"/>
              </a:ext>
            </a:extLst>
          </p:cNvPr>
          <p:cNvSpPr>
            <a:spLocks noGrp="1"/>
          </p:cNvSpPr>
          <p:nvPr/>
        </p:nvSpPr>
        <p:spPr>
          <a:xfrm>
            <a:off x="685800" y="3465576"/>
            <a:ext cx="7772400" cy="7955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ts val="1177"/>
              </a:lnSpc>
              <a:buNone/>
            </a:pPr>
            <a:r>
              <a:rPr sz="905">
                <a:solidFill>
                  <a:srgbClr val="0F2233"/>
                </a:solidFill>
                <a:latin typeface="Consolas"/>
                <a:ea typeface="Consolas"/>
                <a:cs typeface="Consolas"/>
              </a:rPr>
              <a:t>from scipy.signal import butter, iirnotch, filtfilt</a:t>
            </a:r>
            <a:endParaRPr sz="905"/>
          </a:p>
          <a:p>
            <a:pPr marL="0" indent="0">
              <a:lnSpc>
                <a:spcPts val="1177"/>
              </a:lnSpc>
              <a:buNone/>
            </a:pPr>
            <a:r>
              <a:rPr sz="905">
                <a:solidFill>
                  <a:srgbClr val="0F2233"/>
                </a:solidFill>
                <a:latin typeface="Consolas"/>
                <a:ea typeface="Consolas"/>
                <a:cs typeface="Consolas"/>
              </a:rPr>
              <a:t>fs = 1000</a:t>
            </a:r>
            <a:endParaRPr sz="905"/>
          </a:p>
          <a:p>
            <a:pPr marL="0" indent="0">
              <a:lnSpc>
                <a:spcPts val="1177"/>
              </a:lnSpc>
              <a:buNone/>
            </a:pPr>
            <a:r>
              <a:rPr sz="905">
                <a:solidFill>
                  <a:srgbClr val="0F2233"/>
                </a:solidFill>
                <a:latin typeface="Consolas"/>
                <a:ea typeface="Consolas"/>
                <a:cs typeface="Consolas"/>
              </a:rPr>
              <a:t>bn, an = iirnotch(60, 30, fs)</a:t>
            </a:r>
            <a:endParaRPr sz="905"/>
          </a:p>
          <a:p>
            <a:pPr marL="0" indent="0">
              <a:lnSpc>
                <a:spcPts val="1177"/>
              </a:lnSpc>
              <a:buNone/>
            </a:pPr>
            <a:r>
              <a:rPr sz="905">
                <a:solidFill>
                  <a:srgbClr val="0F2233"/>
                </a:solidFill>
                <a:latin typeface="Consolas"/>
                <a:ea typeface="Consolas"/>
                <a:cs typeface="Consolas"/>
              </a:rPr>
              <a:t>b,  a  = butter(4, [20/(fs/2), 450/(fs/2)], btype='band')</a:t>
            </a:r>
            <a:endParaRPr sz="905"/>
          </a:p>
          <a:p>
            <a:pPr marL="0" indent="0">
              <a:lnSpc>
                <a:spcPts val="1177"/>
              </a:lnSpc>
              <a:buNone/>
            </a:pPr>
            <a:r>
              <a:rPr sz="905">
                <a:solidFill>
                  <a:srgbClr val="0F2233"/>
                </a:solidFill>
                <a:latin typeface="Consolas"/>
                <a:ea typeface="Consolas"/>
                <a:cs typeface="Consolas"/>
              </a:rPr>
              <a:t>x = filtfilt(b, a, filtfilt(bn, an, raw))</a:t>
            </a:r>
            <a:endParaRPr sz="905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69BCCB-A28B-4049-8C70-F91998C1D917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 명시: 60 Hz 노치 → 20–450 Hz 4차 Butterworth. 위 코드는 실습 예시이며 Q=30과 filtfilt는 논문에 명시되지 않았다.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74222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5C07EC-FB0F-40EA-ACDB-A986890EDD7E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전처리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F8E944-E949-4C83-B15E-D61DEEE63240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세그먼트와 슬라이딩 윈도우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77AF7B-A599-4561-8B87-BF5C0D65B832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2초 구간을 19개의 분석 창으로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17DC4F-6D06-4987-A1CB-1650BAE00433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26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2500FA-9534-4EB7-AA71-20D0DB64CE20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8786B4-82D0-4E46-900C-7EFC0185A23F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76809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세그먼트 2초(2,000샘플)  →  윈도우 200ms(200샘플), 증분 100ms(50% 오버랩)  →  19개 윈도우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60E02D0-BE50-49E8-A0B5-F9556C5BBAD6}"/>
              </a:ext>
            </a:extLst>
          </p:cNvPr>
          <p:cNvSpPr>
            <a:spLocks noGrp="1"/>
          </p:cNvSpPr>
          <p:nvPr/>
        </p:nvSpPr>
        <p:spPr>
          <a:xfrm>
            <a:off x="548640" y="21488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AEAB3C-B7E5-4061-90D6-F66683A40D87}"/>
              </a:ext>
            </a:extLst>
          </p:cNvPr>
          <p:cNvSpPr>
            <a:spLocks noGrp="1"/>
          </p:cNvSpPr>
          <p:nvPr/>
        </p:nvSpPr>
        <p:spPr>
          <a:xfrm>
            <a:off x="685800" y="22219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200 ms 윈도우</a:t>
            </a:r>
            <a:endParaRPr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708C8A-F65C-4EF2-8FAC-185F9ED4AACF}"/>
              </a:ext>
            </a:extLst>
          </p:cNvPr>
          <p:cNvSpPr>
            <a:spLocks noGrp="1"/>
          </p:cNvSpPr>
          <p:nvPr/>
        </p:nvSpPr>
        <p:spPr>
          <a:xfrm>
            <a:off x="2651760" y="222199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논문에서 사용한 분석 창 길이: 200샘플 (1 kHz)</a:t>
            </a:r>
            <a:endParaRPr sz="10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85DA5E6-BA8E-4A02-A7C8-30599EC65BA8}"/>
              </a:ext>
            </a:extLst>
          </p:cNvPr>
          <p:cNvSpPr>
            <a:spLocks noGrp="1"/>
          </p:cNvSpPr>
          <p:nvPr/>
        </p:nvSpPr>
        <p:spPr>
          <a:xfrm>
            <a:off x="685800" y="26791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50% 오버랩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16C32BF-1151-43C7-9F1E-4DFC74436F69}"/>
              </a:ext>
            </a:extLst>
          </p:cNvPr>
          <p:cNvSpPr>
            <a:spLocks noGrp="1"/>
          </p:cNvSpPr>
          <p:nvPr/>
        </p:nvSpPr>
        <p:spPr>
          <a:xfrm>
            <a:off x="2651760" y="267919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100샘플씩 이동하며 겹치는 시간 정보를 추출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613060C-2D79-42D2-931E-41A3C4A38A17}"/>
              </a:ext>
            </a:extLst>
          </p:cNvPr>
          <p:cNvSpPr>
            <a:spLocks noGrp="1"/>
          </p:cNvSpPr>
          <p:nvPr/>
        </p:nvSpPr>
        <p:spPr>
          <a:xfrm>
            <a:off x="548640" y="30632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FFAFB3-27C4-4D34-8956-83A4F9225DC0}"/>
              </a:ext>
            </a:extLst>
          </p:cNvPr>
          <p:cNvSpPr>
            <a:spLocks noGrp="1"/>
          </p:cNvSpPr>
          <p:nvPr/>
        </p:nvSpPr>
        <p:spPr>
          <a:xfrm>
            <a:off x="685800" y="31363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19개 계산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553AA9-686C-4EFD-B0DE-3D905E5A4F36}"/>
              </a:ext>
            </a:extLst>
          </p:cNvPr>
          <p:cNvSpPr>
            <a:spLocks noGrp="1"/>
          </p:cNvSpPr>
          <p:nvPr/>
        </p:nvSpPr>
        <p:spPr>
          <a:xfrm>
            <a:off x="2651760" y="313639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(2000 − 200) / 100 + 1 = 19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4A5FFDB-ED29-4AE7-B14B-15EF56539DDD}"/>
              </a:ext>
            </a:extLst>
          </p:cNvPr>
          <p:cNvSpPr>
            <a:spLocks noGrp="1"/>
          </p:cNvSpPr>
          <p:nvPr/>
        </p:nvSpPr>
        <p:spPr>
          <a:xfrm>
            <a:off x="685800" y="35935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윈도우당 출력</a:t>
            </a:r>
            <a:endParaRPr sz="10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C2CE2B1-E427-4BC9-86F0-FDEA9B877895}"/>
              </a:ext>
            </a:extLst>
          </p:cNvPr>
          <p:cNvSpPr>
            <a:spLocks noGrp="1"/>
          </p:cNvSpPr>
          <p:nvPr/>
        </p:nvSpPr>
        <p:spPr>
          <a:xfrm>
            <a:off x="2651760" y="359359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5채널 × 5특징 = 25차원 특징 벡터 1개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701CFAA-8E8F-4147-8A6D-9DF362DADADA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논문은 2초 세그먼트마다 25차원 특징 벡터 19개를 생성한다고 설명한다. 이를 하나의 벡터로 연결한다고 명시하지 않는다.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146870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CE7501-6E92-44E2-A8D9-72BCFFB07BFB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특징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4444EB-6D27-4209-97FA-B7BAF18CF000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 5종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5F6A69-747D-4609-A9C5-8A68D76A4EB5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식 (1)~(5)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1D2A57-6612-4746-9B93-F5819FE97F29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27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FA447B-C8FA-409A-A651-FC34023322AD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4A9165-EDCA-4A99-9406-B6BB55720BDA}"/>
              </a:ext>
            </a:extLst>
          </p:cNvPr>
          <p:cNvSpPr>
            <a:spLocks noGrp="1"/>
          </p:cNvSpPr>
          <p:nvPr/>
        </p:nvSpPr>
        <p:spPr>
          <a:xfrm>
            <a:off x="731520" y="151790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RMS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AC8B77-C0EB-4467-AC6F-530F4B1F435E}"/>
              </a:ext>
            </a:extLst>
          </p:cNvPr>
          <p:cNvSpPr>
            <a:spLocks noGrp="1"/>
          </p:cNvSpPr>
          <p:nvPr/>
        </p:nvSpPr>
        <p:spPr>
          <a:xfrm>
            <a:off x="1645920" y="15179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√( (1/N)·Σ xᵢ² )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502561-5DA3-45C2-9800-EEA3FC45C133}"/>
              </a:ext>
            </a:extLst>
          </p:cNvPr>
          <p:cNvSpPr>
            <a:spLocks noGrp="1"/>
          </p:cNvSpPr>
          <p:nvPr/>
        </p:nvSpPr>
        <p:spPr>
          <a:xfrm>
            <a:off x="4572000" y="15270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신호 파워와 진폭 — 근수축 강도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9654AA-92E5-4B9E-9A77-492AE06CF03A}"/>
              </a:ext>
            </a:extLst>
          </p:cNvPr>
          <p:cNvSpPr>
            <a:spLocks noGrp="1"/>
          </p:cNvSpPr>
          <p:nvPr/>
        </p:nvSpPr>
        <p:spPr>
          <a:xfrm>
            <a:off x="548640" y="197510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F9C9EE1-5147-4DA8-BDFC-923AD16F2413}"/>
              </a:ext>
            </a:extLst>
          </p:cNvPr>
          <p:cNvSpPr>
            <a:spLocks noGrp="1"/>
          </p:cNvSpPr>
          <p:nvPr/>
        </p:nvSpPr>
        <p:spPr>
          <a:xfrm>
            <a:off x="731520" y="2121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MAV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4252A3-E33F-475B-8151-E51F621D18EB}"/>
              </a:ext>
            </a:extLst>
          </p:cNvPr>
          <p:cNvSpPr>
            <a:spLocks noGrp="1"/>
          </p:cNvSpPr>
          <p:nvPr/>
        </p:nvSpPr>
        <p:spPr>
          <a:xfrm>
            <a:off x="1645920" y="2121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(1/N)·Σ |xᵢ|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626292-AE2E-423F-8F14-1156EC76B7D2}"/>
              </a:ext>
            </a:extLst>
          </p:cNvPr>
          <p:cNvSpPr>
            <a:spLocks noGrp="1"/>
          </p:cNvSpPr>
          <p:nvPr/>
        </p:nvSpPr>
        <p:spPr>
          <a:xfrm>
            <a:off x="4572000" y="21305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평균 절대 진폭 — 근수축 수준의 대표 지표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0165869-B2F3-4EDA-91C9-EBB486131A1C}"/>
              </a:ext>
            </a:extLst>
          </p:cNvPr>
          <p:cNvSpPr>
            <a:spLocks noGrp="1"/>
          </p:cNvSpPr>
          <p:nvPr/>
        </p:nvSpPr>
        <p:spPr>
          <a:xfrm>
            <a:off x="548640" y="2578608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52E4CC-6377-4705-B58A-88A4CB6F10FB}"/>
              </a:ext>
            </a:extLst>
          </p:cNvPr>
          <p:cNvSpPr>
            <a:spLocks noGrp="1"/>
          </p:cNvSpPr>
          <p:nvPr/>
        </p:nvSpPr>
        <p:spPr>
          <a:xfrm>
            <a:off x="731520" y="27249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WL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5D1D11F-A394-4FA1-AD38-2E723456B542}"/>
              </a:ext>
            </a:extLst>
          </p:cNvPr>
          <p:cNvSpPr>
            <a:spLocks noGrp="1"/>
          </p:cNvSpPr>
          <p:nvPr/>
        </p:nvSpPr>
        <p:spPr>
          <a:xfrm>
            <a:off x="1645920" y="27249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Σ |xᵢ − xᵢ₋₁|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A1CBC54-3862-4946-9372-F1E779D3C1EC}"/>
              </a:ext>
            </a:extLst>
          </p:cNvPr>
          <p:cNvSpPr>
            <a:spLocks noGrp="1"/>
          </p:cNvSpPr>
          <p:nvPr/>
        </p:nvSpPr>
        <p:spPr>
          <a:xfrm>
            <a:off x="4572000" y="27340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파형의 누적 길이 — 복잡도·진폭·주파수 정보</a:t>
            </a:r>
            <a:endParaRPr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4A509BC-3EB7-4285-93DC-2A2580FB2B0A}"/>
              </a:ext>
            </a:extLst>
          </p:cNvPr>
          <p:cNvSpPr>
            <a:spLocks noGrp="1"/>
          </p:cNvSpPr>
          <p:nvPr/>
        </p:nvSpPr>
        <p:spPr>
          <a:xfrm>
            <a:off x="548640" y="318211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4D3C5A4-B9BD-4DD1-A48B-C8B9AB9187DB}"/>
              </a:ext>
            </a:extLst>
          </p:cNvPr>
          <p:cNvSpPr>
            <a:spLocks noGrp="1"/>
          </p:cNvSpPr>
          <p:nvPr/>
        </p:nvSpPr>
        <p:spPr>
          <a:xfrm>
            <a:off x="731520" y="33284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ZC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B33525-DA20-4905-8433-A5796ED998A7}"/>
              </a:ext>
            </a:extLst>
          </p:cNvPr>
          <p:cNvSpPr>
            <a:spLocks noGrp="1"/>
          </p:cNvSpPr>
          <p:nvPr/>
        </p:nvSpPr>
        <p:spPr>
          <a:xfrm>
            <a:off x="1645920" y="33284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부호 변화 횟수 (th = 0.01)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CF49B8A-0732-4677-AF41-77384287251A}"/>
              </a:ext>
            </a:extLst>
          </p:cNvPr>
          <p:cNvSpPr>
            <a:spLocks noGrp="1"/>
          </p:cNvSpPr>
          <p:nvPr/>
        </p:nvSpPr>
        <p:spPr>
          <a:xfrm>
            <a:off x="4572000" y="33375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0을 지나는 횟수 — 주파수 성분 추정</a:t>
            </a:r>
            <a:endParaRPr sz="10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F9449BD-DA75-4570-877A-827B1B2500E4}"/>
              </a:ext>
            </a:extLst>
          </p:cNvPr>
          <p:cNvSpPr>
            <a:spLocks noGrp="1"/>
          </p:cNvSpPr>
          <p:nvPr/>
        </p:nvSpPr>
        <p:spPr>
          <a:xfrm>
            <a:off x="548640" y="378561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61AC45-F1FD-4327-B625-B9C04E9F59A6}"/>
              </a:ext>
            </a:extLst>
          </p:cNvPr>
          <p:cNvSpPr>
            <a:spLocks noGrp="1"/>
          </p:cNvSpPr>
          <p:nvPr/>
        </p:nvSpPr>
        <p:spPr>
          <a:xfrm>
            <a:off x="731520" y="3931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SSC</a:t>
            </a:r>
            <a:endParaRPr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E6B57A9-6C39-448A-8894-A0F10D84C93B}"/>
              </a:ext>
            </a:extLst>
          </p:cNvPr>
          <p:cNvSpPr>
            <a:spLocks noGrp="1"/>
          </p:cNvSpPr>
          <p:nvPr/>
        </p:nvSpPr>
        <p:spPr>
          <a:xfrm>
            <a:off x="1645920" y="3931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Σ f[(xᵢ − xᵢ₋₁)(xᵢ − xᵢ₊₁) &gt; 0]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71BE7FF-68D9-46E8-91AF-37BB350C5C5E}"/>
              </a:ext>
            </a:extLst>
          </p:cNvPr>
          <p:cNvSpPr>
            <a:spLocks noGrp="1"/>
          </p:cNvSpPr>
          <p:nvPr/>
        </p:nvSpPr>
        <p:spPr>
          <a:xfrm>
            <a:off x="4572000" y="39410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기울기 방향 전환 — 추가적 주파수 정보</a:t>
            </a:r>
            <a:endParaRPr sz="1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668B11-B6DD-455D-B537-228D45DBA37B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 식 (4): ZC에 th = 0.01 적용. 식 (5): SSC는 기울기 부호 변화만 계산하며 임계값 항이 없다.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34240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1FB08D-2A39-4185-8421-BA581893FDB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특징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1EE2A8-C396-4007-830A-93AA240D88B0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추출 구현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B0090D-A5F3-47AF-A209-DC952F1FAC37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식 (1)–(5)에 따른 25D 계산 예시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C42AFD-A657-4865-8A44-D1C9C72FBF89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28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1D1C35C-C57D-4F56-8AE0-2579A3FC9007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566928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BD79ED-6081-4918-B52E-E30075F22FCC}"/>
              </a:ext>
            </a:extLst>
          </p:cNvPr>
          <p:cNvSpPr>
            <a:spLocks noGrp="1"/>
          </p:cNvSpPr>
          <p:nvPr/>
        </p:nvSpPr>
        <p:spPr>
          <a:xfrm>
            <a:off x="685800" y="1453896"/>
            <a:ext cx="5394960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import numpy as np</a:t>
            </a:r>
            <a:endParaRPr sz="900"/>
          </a:p>
          <a:p>
            <a:pPr marL="0" indent="0">
              <a:lnSpc>
                <a:spcPts val="1341"/>
              </a:lnSpc>
              <a:buNone/>
            </a:pP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def td_features(w, th=0.01):  # w.shape == (200, 5)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d = np.diff(w, axis=0)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rms = np.sqrt(np.mean(w*w, axis=0))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mav = np.mean(np.abs(w), axis=0)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wl = np.sum(np.abs(d), axis=0)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zc = np.sum((w[:-1]*w[1:] &lt; 0) &amp;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        (np.abs(d) &gt;= th), axis=0)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ssc = np.sum((w[1:-1]-w[:-2]) *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         (w[1:-1]-w[2:]) &gt; 0, axis=0)</a:t>
            </a:r>
            <a:endParaRPr sz="900"/>
          </a:p>
          <a:p>
            <a:pPr marL="0" indent="0">
              <a:lnSpc>
                <a:spcPts val="1341"/>
              </a:lnSpc>
              <a:buNone/>
              <a:defRPr sz="90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return np.concatenate([rms, mav, wl, zc, ssc])  # (25,)</a:t>
            </a:r>
            <a:endParaRPr sz="9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6B0E31F-42B9-4B3F-9E91-8C84D497F350}"/>
              </a:ext>
            </a:extLst>
          </p:cNvPr>
          <p:cNvSpPr>
            <a:spLocks noGrp="1"/>
          </p:cNvSpPr>
          <p:nvPr/>
        </p:nvSpPr>
        <p:spPr>
          <a:xfrm>
            <a:off x="6400800" y="1325880"/>
            <a:ext cx="2194560" cy="3108960"/>
          </a:xfrm>
          <a:prstGeom prst="roundRect">
            <a:avLst>
              <a:gd name="adj" fmla="val 25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39DF8C-FF7B-41BE-955E-B22283630255}"/>
              </a:ext>
            </a:extLst>
          </p:cNvPr>
          <p:cNvSpPr>
            <a:spLocks noGrp="1"/>
          </p:cNvSpPr>
          <p:nvPr/>
        </p:nvSpPr>
        <p:spPr>
          <a:xfrm>
            <a:off x="6583680" y="1444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차원 계산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103860-FA61-4269-B797-A2108D41900B}"/>
              </a:ext>
            </a:extLst>
          </p:cNvPr>
          <p:cNvSpPr>
            <a:spLocks noGrp="1"/>
          </p:cNvSpPr>
          <p:nvPr/>
        </p:nvSpPr>
        <p:spPr>
          <a:xfrm>
            <a:off x="6583680" y="1755648"/>
            <a:ext cx="187452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5종 × 채널 5개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= 윈도우당 25차원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2초 세그먼트에서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벡터를 19개 생성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F3D1EF-CCFC-46D7-A421-7932557D8212}"/>
              </a:ext>
            </a:extLst>
          </p:cNvPr>
          <p:cNvSpPr>
            <a:spLocks noGrp="1"/>
          </p:cNvSpPr>
          <p:nvPr/>
        </p:nvSpPr>
        <p:spPr>
          <a:xfrm>
            <a:off x="6583680" y="2880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검증 항목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1B5105-7820-42DA-93B2-73F018B4AE99}"/>
              </a:ext>
            </a:extLst>
          </p:cNvPr>
          <p:cNvSpPr>
            <a:spLocks noGrp="1"/>
          </p:cNvSpPr>
          <p:nvPr/>
        </p:nvSpPr>
        <p:spPr>
          <a:xfrm>
            <a:off x="6583680" y="3182112"/>
            <a:ext cx="187452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ZC만 th = 0.01</a:t>
            </a:r>
            <a:endParaRPr sz="9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SSC는 논문 식 (5)</a:t>
            </a:r>
            <a:endParaRPr sz="9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특징·채널 순서 고정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236935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7FD022-054E-4C7A-9BD5-219C6DC97FCE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특징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F832C7-CF5E-4ED8-949E-631CBC84A9FA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왜 시간영역 특징만 썼는가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E1A965-E2CD-457A-94D8-791C9E38BA34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선택에는 근거가 따라야 한다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BF5FAD-875D-4FBC-9421-E5CF32CD62FD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29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331D6D-BFF2-4A5F-83EC-FDCB04A5992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10EE36-8E67-4298-A634-A12F2404C476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논문의 근거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05C86F-4E51-4072-8C9D-B4FE9E7286D5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빠르게 계산할 수 있고 견고하다(robust)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EMG 기반 동작 인식 연구에서 널리 검증된 특징들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상지 동작 분류에서 경쟁력 있는 정확도를 제공한다는 선행 보고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경량·계산 효율적 프레임워크라는 연구 목표와 부합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1043D86-A460-435E-9541-9350DC36DA77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342233-3642-46DD-A114-534C56CCE649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포기한 것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6D6B0F-E2FF-4B6F-8AF3-C6595B6745F8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주파수영역 특징 (MNF · MDF)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시간–주파수 특징 (웨이블릿 계수)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이들은 추가적인 계산 복잡도를 유발한다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각도 판별 민감도 향상을 위해 후속 도입을 제안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6BA5FCB-CD3D-4318-855E-ADB347D64483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973543-19A2-42E5-8C5F-0D1ED7F6BD4A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결과와 연결해 보면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47F614B-5C76-4152-8869-1731697F17C8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같은 동작의 서로 다른 각도에서 발생하는 혼동을 주요 오류로 설명한다.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특징은 두 각도의 미세한 근활성 차이에 덜 민감할 수 있다고 해석한다.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주파수·시간–주파수 특징 추가는 향후 개선 방향으로 제안한다.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72576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061743-67ED-4EC6-96DE-6D5E33495998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2 · 특징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5E79B3-2C6B-4015-8580-BF5150F0D713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표준화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6E536A-8DDB-4937-BB8F-0C17CC82F795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StandardScaler (z-score 정규화)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449E59-9E40-4469-BDC1-40AD50AF4626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662849-97E1-420F-8D66-645760E9A836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A742C0-FC49-48CC-BF7F-82D3354C0E3A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z = ( x − μ ) / σ        각 특징 차원별로 평균 0, 표준편차 1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656EA38-1C99-4F4D-BC26-2B90E06AC9C3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AC35F7-1034-4DFF-846B-62EFEBD77717}"/>
              </a:ext>
            </a:extLst>
          </p:cNvPr>
          <p:cNvSpPr>
            <a:spLocks noGrp="1"/>
          </p:cNvSpPr>
          <p:nvPr/>
        </p:nvSpPr>
        <p:spPr>
          <a:xfrm>
            <a:off x="685800" y="213055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필요한 이유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F758FA-CA08-4AA6-8402-B2F0D274E7E1}"/>
              </a:ext>
            </a:extLst>
          </p:cNvPr>
          <p:cNvSpPr>
            <a:spLocks noGrp="1"/>
          </p:cNvSpPr>
          <p:nvPr/>
        </p:nvSpPr>
        <p:spPr>
          <a:xfrm>
            <a:off x="2560320" y="2130552"/>
            <a:ext cx="576072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RMS와 ZC는 단위와 크기 범위가 완전히 다르다 — 스케일이 큰 특징이 거리 계산을 지배한다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A67D6C-4E6E-41ED-910C-D8C637F3FD43}"/>
              </a:ext>
            </a:extLst>
          </p:cNvPr>
          <p:cNvSpPr>
            <a:spLocks noGrp="1"/>
          </p:cNvSpPr>
          <p:nvPr/>
        </p:nvSpPr>
        <p:spPr>
          <a:xfrm>
            <a:off x="685800" y="2697480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논문의 전처리</a:t>
            </a:r>
            <a:endParaRPr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6183C9-275F-4870-9A47-934991FECA38}"/>
              </a:ext>
            </a:extLst>
          </p:cNvPr>
          <p:cNvSpPr>
            <a:spLocks noGrp="1"/>
          </p:cNvSpPr>
          <p:nvPr/>
        </p:nvSpPr>
        <p:spPr>
          <a:xfrm>
            <a:off x="2560320" y="2697480"/>
            <a:ext cx="576072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추출한 특징 벡터에 StandardScaler(z-score 정규화)를 적용했다고 명시한다.</a:t>
            </a:r>
            <a:endParaRPr sz="10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00055F8-8A12-468D-AEBA-26EACA312719}"/>
              </a:ext>
            </a:extLst>
          </p:cNvPr>
          <p:cNvSpPr>
            <a:spLocks noGrp="1"/>
          </p:cNvSpPr>
          <p:nvPr/>
        </p:nvSpPr>
        <p:spPr>
          <a:xfrm>
            <a:off x="548640" y="3191256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6073638-E99F-432A-8B2F-98D24D5C9381}"/>
              </a:ext>
            </a:extLst>
          </p:cNvPr>
          <p:cNvSpPr>
            <a:spLocks noGrp="1"/>
          </p:cNvSpPr>
          <p:nvPr/>
        </p:nvSpPr>
        <p:spPr>
          <a:xfrm>
            <a:off x="685800" y="326440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세 모델 평가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79AF39-E026-4AED-9A9F-F9159A70D56A}"/>
              </a:ext>
            </a:extLst>
          </p:cNvPr>
          <p:cNvSpPr>
            <a:spLocks noGrp="1"/>
          </p:cNvSpPr>
          <p:nvPr/>
        </p:nvSpPr>
        <p:spPr>
          <a:xfrm>
            <a:off x="2560320" y="3264408"/>
            <a:ext cx="576072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표준화한 특징으로 SVM · RF · XGBoost를 학습·평가하는 흐름이다(2.4절).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4DE504-816C-47AD-A3A1-D7CBAA966C37}"/>
              </a:ext>
            </a:extLst>
          </p:cNvPr>
          <p:cNvSpPr>
            <a:spLocks noGrp="1"/>
          </p:cNvSpPr>
          <p:nvPr/>
        </p:nvSpPr>
        <p:spPr>
          <a:xfrm>
            <a:off x="685800" y="3831336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실습 적용 원칙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57359A-907D-4481-ACF6-9866851F3957}"/>
              </a:ext>
            </a:extLst>
          </p:cNvPr>
          <p:cNvSpPr>
            <a:spLocks noGrp="1"/>
          </p:cNvSpPr>
          <p:nvPr/>
        </p:nvSpPr>
        <p:spPr>
          <a:xfrm>
            <a:off x="2560320" y="3831336"/>
            <a:ext cx="576072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학습셋·학습 폴드에서만 fit하고 평가셋은 transform한다. 이는 실습 권고이다.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3EF065-27FB-455F-AC2F-6514F8C4FA2C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논문은 scaler의 fit 범위와 폴드별 적용 순서를 상세히 명시하지 않는다. 실습 설정은 별도로 기록한다.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4798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178ED6-7BBD-4E09-8064-119E600D1612}"/>
              </a:ext>
            </a:extLst>
          </p:cNvPr>
          <p:cNvSpPr>
            <a:spLocks noGrp="1"/>
          </p:cNvSpPr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spc="200">
                <a:solidFill>
                  <a:srgbClr val="7FB3C4"/>
                </a:solidFill>
                <a:latin typeface="Malgun Gothic"/>
                <a:ea typeface="Malgun Gothic"/>
                <a:cs typeface="Malgun Gothic"/>
              </a:rPr>
              <a:t>PART 3 · 3주차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E35337-5430-41D1-B60C-E3AC77299746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모델과 검증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F48565-BAEA-4A33-9180-C4B17C6E86B3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세 가지 경량 분류기를 같은 조건에서</a:t>
            </a: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33A6A9-28F0-49DA-B662-18E469D10205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3689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29165-7658-4E38-BCA6-F31018F50845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3 · 모델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FE936B-5475-4641-AC3A-2FB773C2214C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Support Vector Machine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DAD34E-FBAC-49D6-9983-3EEA10A40EC8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비선형 경계를 커널로 다룬다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0204E4-B29D-4BE1-8C27-FB74A2EC436F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32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FB2438-3641-4D65-8713-DF8C868FA6B4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49CE9A-F5CA-4A45-8FEC-BEDF5CDC0FD2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핵심 원리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3AB5F7-D774-4C0B-A1C7-7B20128D0B7A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클래스를 나누는 최대 마진 초평면을 찾는다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RBF 커널로 비선형 경계를 표현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경계 근처의 서포트 벡터만이 결정에 관여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고차원에서도 잘 작동하고 이론적 근거가 탄탄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BA89EC-F284-49EC-ADEE-679505698FA6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B129A5-1237-4446-A30C-30841415A762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논문의 설정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16BABAC-1F1E-49C2-A6CC-8F02F7FD38D2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kernel = rbf — 비선형 sEMG 특징 분류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decision_function_shape = ovr (결정함수 출력 형태)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C = 1.0 (기본값) · gamma = scale (기본값)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광범위한 튜닝 없이 안정적 기준 성능을 제공하는 설정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D85147-AB5F-472C-ABF6-D4B59215A00E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8F5209-20EB-4EF8-9FDD-BC553E068081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기본값을 그대로 쓴 것을 어떻게 볼 것인가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0D31-E3C0-4F3D-9B57-91AD52C930D7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여러 데이터셋에서 안정적인 기준 성능을 제공한다고 보고된 설정이라 근거를 밝혔다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 비교가 목적일 때는 각 모델을 과하게 튜닝하지 않는 편이 오히려 공정할 수 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다만 XGBoost만 예비 튜닝을 거쳤다는 점에서 완전히 대칭적인 비교는 아니다 — 읽을 때 유의할 지점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26862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C8C67E-4F50-45F5-B794-B65C9C9841E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3 · 모델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97D41-56AD-44C9-A6D8-9A5CAEBA8395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Random Forest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BF36C5-A4C3-4515-92E3-72BD06928048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많은 결정 트리의 다수결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3AFC86-413E-4E8B-8A69-942FDDE03AE6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64449D-8BB1-473E-862E-F3A01AFC890A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A77A32-9D8C-4830-AFDF-666398B5C610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핵심 원리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72BD49-358B-49D0-A745-2DB5349A8DF2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부트스트랩 표본으로 여러 트리를 독립 학습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각 분할에서 특징을 무작위로 일부만 고려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트리들의 예측을 다수결로 종합 (앙상블)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분산을 줄여 과적합에 강하다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4295EF8-B181-4E18-AFFA-ECD8542473BD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95C873-8C0B-4028-B456-980DC97EE74F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논문의 설정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FDE0F6-50A3-4938-A2CC-F5812621BAA1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n_estimators = 100 — 성능과 계산 효율의 균형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random_state = 42 — 재현성 확보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n_jobs = -1 — 전체 CPU 코어 활용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분할 기준·최대 깊이 등은 기본값 유지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C191B1C-B309-4C82-947B-70AA0DFE1D87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FE7A4E6-D334-4843-B25A-1A649EC9EEF4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트리 개수 100의 근거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7D1388-1CE3-4FF6-8BBC-FC378BA095E4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선행 EMG 분류 연구에서 트리 수 50~200 구간은 성능 차이가 미미하면서 계산 시간에는 큰 영향을 준다고 보고되었다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따라서 100개는 분산 감소 효과를 충분히 얻으면서 비용을 억제하는 실용적 지점이다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연구에서 RF는 세 모델 중 최고 정확도(96.72%)를 학습 시간 0.313초에 달성했다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412780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1D66E0-E381-428F-903D-3DCCE1B31D91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3 · 모델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FE9644-8811-48AD-A4AC-8BD2C0734C7A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D41573-986E-4D87-835E-3EB63D50AE85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오차를 순차적으로 보정하는 부스팅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5339BC-6EF3-465C-A35E-DF7B2E890681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34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5F85FE-6C1D-4953-BFE2-CE07386140E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A1BC56-62B5-41A3-80EA-51FFFC14169F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핵심 원리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53D83D-203E-4A2E-8C6C-12E508C7B097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이전 트리의 잔차를 다음 트리가 학습 (gradient boosting)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정규화 항을 목적함수에 포함해 과적합 억제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트리를 순차적으로 쌓으므로 학습이 느리다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표 형식 데이터에서 강력한 성능으로 알려져 있다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180F5B-0497-454B-99EF-1B393D262141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6A70D1-6B24-4D63-B6BB-48870C1F673F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논문의 설정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A8F539-489D-4536-B8A5-A959299B194A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objective = multi:softprob · n_estimators = 400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max_depth = 6 · learning_rate = 0.05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subsample = 0.9 · colsample_bytree = 0.8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reg_lambda = 1.0 · tree_method = hist · random_state = 42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0392F4-3EFE-4FD9-9021-F57FAD87E5DC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7A0737-6CDA-4B7C-A66E-4EA695840BE4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설정의 논리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E3703E1-5DFD-4AB8-ADB6-A1259EF2E753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중간 깊이의 트리와 보수적인 학습률은 생리 신호의 과적합을 막는다는 선행 연구 권고를 따랐다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서브샘플링과 정규화 파라미터는 잡음과 피험자별 변동에 대한 민감도를 낮추기 위해 선택되었다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세 모델 중 유일하게 예비 튜닝을 거쳤으나, 결과적으로 정확도는 RF에 미치지 못했다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092884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D493EF-669B-46A6-BA3C-502E8FA6360C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3 · 검증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C67A0C-573A-4D36-95E3-2D117FF5AA62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두 가지 검증 방식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77AE2E-BB5C-4E0C-A21A-B281BA63B93E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논문: hold-out과 5-fold 층화 검증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5ACD7A-2F27-4990-9523-5D381321B796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35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A8D1DC-1419-4373-BAD0-B67E13BF612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3CC28B-8995-4BC9-AAFB-192960DFC480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Hold-out 검증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50BBCB-AC69-4FAD-8AED-7B8096011B58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80% (1,536개) · 테스트 20% (384개)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한 번의 분할로 빠르게 성능 확인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단일 분할에 의존하므로 운에 좌우될 수 있다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정밀도·재현율·F1까지 함께 산출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69A5AB4-1A41-4944-88A2-F58531EBDD29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ADEE43-F52D-402A-99EB-3E9524C18D51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5-fold 층화 교차검증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07B175-BC20-40C1-A50F-1953B167CEAA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데이터를 5등분해 다섯 번 학습·평가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층화(stratified)로 클래스 비율을 각 폴드에 유지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평균 ± 표준편차로 안정성까지 평가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분할 의존성을 확인하는 것이 목적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342E5EE-77B2-4FE0-A84E-8C465764B906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D51143-B0DE-490D-9B4E-B41FC16A33E6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trial-wise 무작위 분할이라는 조건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0C08BD-FA2C-4FB2-A4A6-39E528E8C9D3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무작위 셔플 후 trial-wise 분할을 사용했다. 같은 피험자의 시행이 학습·평가에 함께 포함될 수 있다.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보고된 정확도는 수집 데이터셋 내부 성능이며, 새 피험자 일반화는 별도 검증이 필요하다.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862487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8D716B-3AA0-467C-B7E1-A11C065BF732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3 · 검증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372769-00C5-4888-B24D-7474F3F5E8E9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평가 지표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E3EC62-7359-4E07-BB1B-94A17BF7EF9C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혼동행렬에서 유도되는 네 가지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FE2BFD-C389-457D-860A-9301235E6C03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802A0B-9264-4C5B-9D59-9D8A064BF361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3F9CE3-162D-427C-B8F5-1306F07C10CF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지표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43D89A-7558-4D8D-B83B-8486D349271C}"/>
              </a:ext>
            </a:extLst>
          </p:cNvPr>
          <p:cNvSpPr>
            <a:spLocks noGrp="1"/>
          </p:cNvSpPr>
          <p:nvPr/>
        </p:nvSpPr>
        <p:spPr>
          <a:xfrm>
            <a:off x="1828800" y="137160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B53505-FBE7-4203-A535-768145F7E5DE}"/>
              </a:ext>
            </a:extLst>
          </p:cNvPr>
          <p:cNvSpPr>
            <a:spLocks noGrp="1"/>
          </p:cNvSpPr>
          <p:nvPr/>
        </p:nvSpPr>
        <p:spPr>
          <a:xfrm>
            <a:off x="1828800" y="14356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정의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9700D7-3072-4320-A5BD-8E4BCC659DD2}"/>
              </a:ext>
            </a:extLst>
          </p:cNvPr>
          <p:cNvSpPr>
            <a:spLocks noGrp="1"/>
          </p:cNvSpPr>
          <p:nvPr/>
        </p:nvSpPr>
        <p:spPr>
          <a:xfrm>
            <a:off x="4937760" y="137160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80582D-9FD9-4942-A022-4535C62C5CC6}"/>
              </a:ext>
            </a:extLst>
          </p:cNvPr>
          <p:cNvSpPr>
            <a:spLocks noGrp="1"/>
          </p:cNvSpPr>
          <p:nvPr/>
        </p:nvSpPr>
        <p:spPr>
          <a:xfrm>
            <a:off x="4937760" y="14356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FB3160A-E3D4-4EF9-8429-EA681E531F5D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1A2E8D-BE71-4759-BC2A-7AD55A1EC435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Accuracy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ECC683-E332-4B57-83F7-11026A713318}"/>
              </a:ext>
            </a:extLst>
          </p:cNvPr>
          <p:cNvSpPr>
            <a:spLocks noGrp="1"/>
          </p:cNvSpPr>
          <p:nvPr/>
        </p:nvSpPr>
        <p:spPr>
          <a:xfrm>
            <a:off x="1938528" y="1837944"/>
            <a:ext cx="28895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정답 예측 수 / 전체 표본 수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AC189C-21E6-45B1-897A-3C84E895F94B}"/>
              </a:ext>
            </a:extLst>
          </p:cNvPr>
          <p:cNvSpPr>
            <a:spLocks noGrp="1"/>
          </p:cNvSpPr>
          <p:nvPr/>
        </p:nvSpPr>
        <p:spPr>
          <a:xfrm>
            <a:off x="5047488" y="1837944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전체 중 맞춘 비율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12C92-AA2F-473D-956F-09CA3BCA1AB0}"/>
              </a:ext>
            </a:extLst>
          </p:cNvPr>
          <p:cNvSpPr>
            <a:spLocks noGrp="1"/>
          </p:cNvSpPr>
          <p:nvPr/>
        </p:nvSpPr>
        <p:spPr>
          <a:xfrm>
            <a:off x="658368" y="2423160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Precision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90F303-CB03-479C-B038-5142E668969F}"/>
              </a:ext>
            </a:extLst>
          </p:cNvPr>
          <p:cNvSpPr>
            <a:spLocks noGrp="1"/>
          </p:cNvSpPr>
          <p:nvPr/>
        </p:nvSpPr>
        <p:spPr>
          <a:xfrm>
            <a:off x="1938528" y="2423160"/>
            <a:ext cx="28895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TP / (TP + FP)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9C2C6AB-F7F7-4408-95BA-A91FDA571104}"/>
              </a:ext>
            </a:extLst>
          </p:cNvPr>
          <p:cNvSpPr>
            <a:spLocks noGrp="1"/>
          </p:cNvSpPr>
          <p:nvPr/>
        </p:nvSpPr>
        <p:spPr>
          <a:xfrm>
            <a:off x="5047488" y="2423160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양성이라 한 것 중 실제 양성의 비율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57FF20-E64E-457D-A505-A007DE1DFA27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4446DB2-30D8-443F-A713-EDF59DCBC93B}"/>
              </a:ext>
            </a:extLst>
          </p:cNvPr>
          <p:cNvSpPr>
            <a:spLocks noGrp="1"/>
          </p:cNvSpPr>
          <p:nvPr/>
        </p:nvSpPr>
        <p:spPr>
          <a:xfrm>
            <a:off x="658368" y="3008376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Recall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F0D4485-0833-432C-A645-642A45CB95D1}"/>
              </a:ext>
            </a:extLst>
          </p:cNvPr>
          <p:cNvSpPr>
            <a:spLocks noGrp="1"/>
          </p:cNvSpPr>
          <p:nvPr/>
        </p:nvSpPr>
        <p:spPr>
          <a:xfrm>
            <a:off x="1938528" y="3008376"/>
            <a:ext cx="28895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TP / (TP + FN)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30A6C37-4987-4D1A-A33E-1D63E1F408DE}"/>
              </a:ext>
            </a:extLst>
          </p:cNvPr>
          <p:cNvSpPr>
            <a:spLocks noGrp="1"/>
          </p:cNvSpPr>
          <p:nvPr/>
        </p:nvSpPr>
        <p:spPr>
          <a:xfrm>
            <a:off x="5047488" y="3008376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실제 양성 중 찾아낸 비율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6FCD6EB-6C37-4F4E-9781-3BFB59DEA6D4}"/>
              </a:ext>
            </a:extLst>
          </p:cNvPr>
          <p:cNvSpPr>
            <a:spLocks noGrp="1"/>
          </p:cNvSpPr>
          <p:nvPr/>
        </p:nvSpPr>
        <p:spPr>
          <a:xfrm>
            <a:off x="658368" y="3593592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F1-score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73ECE7-C0DF-48AE-8326-947917B66265}"/>
              </a:ext>
            </a:extLst>
          </p:cNvPr>
          <p:cNvSpPr>
            <a:spLocks noGrp="1"/>
          </p:cNvSpPr>
          <p:nvPr/>
        </p:nvSpPr>
        <p:spPr>
          <a:xfrm>
            <a:off x="1938528" y="3593592"/>
            <a:ext cx="28895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 × (Precision × Recall) / (Precision + Recall)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2D7B87F-8464-43E0-AD6E-567D3D5577A4}"/>
              </a:ext>
            </a:extLst>
          </p:cNvPr>
          <p:cNvSpPr>
            <a:spLocks noGrp="1"/>
          </p:cNvSpPr>
          <p:nvPr/>
        </p:nvSpPr>
        <p:spPr>
          <a:xfrm>
            <a:off x="5047488" y="3593592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정밀도와 재현율의 조화평균</a:t>
            </a:r>
            <a:endParaRPr sz="1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6D14969-4A6C-4809-A5A6-38D82B04AD6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논문은 Accuracy·Precision·Recall·F1을 제시한다. 다중 클래스 평균 방식(macro 등)은 명시하지 않는다.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84078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424112-2EDC-47BD-B83E-D871CCCD878B}"/>
              </a:ext>
            </a:extLst>
          </p:cNvPr>
          <p:cNvSpPr>
            <a:spLocks noGrp="1"/>
          </p:cNvSpPr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spc="200">
                <a:solidFill>
                  <a:srgbClr val="7FB3C4"/>
                </a:solidFill>
                <a:latin typeface="Malgun Gothic"/>
                <a:ea typeface="Malgun Gothic"/>
                <a:cs typeface="Malgun Gothic"/>
              </a:rPr>
              <a:t>PART 4 · 3주차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380449-9B0B-40EE-935D-ED7285E8F86D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결과와 해석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B82F0E-D804-45AD-B102-1E88D3C19D8C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숫자가 말하는 것과 말하지 않는 것</a:t>
            </a: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40D284-BCD1-4C03-914F-4B173EDAB6BC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0070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6049B2-1F97-41F5-8E49-3908CB435C76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결과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2D5BB7-DC92-4A04-BA01-48648E77C7A8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Hold-out 검증 결과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4E2013-EBD2-4F8B-80CA-A4283C631A1F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Table 2 — 세 모델 모두 95% 이상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E3A654-7E52-4EA2-BB68-DAB22D8B0F47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38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F03ED3-2C02-4962-B5AE-A146E16A7CF6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88775E-2B34-4A9A-9CDD-4DBD992C329E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10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B850CA7-3E6E-4CC1-A268-EA23F8921F67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F829E6-BAE3-4DD5-8B3F-3AF989E03475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Accuracy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F40FA9A-3825-4DBB-8612-439CE3695FE5}"/>
              </a:ext>
            </a:extLst>
          </p:cNvPr>
          <p:cNvSpPr>
            <a:spLocks noGrp="1"/>
          </p:cNvSpPr>
          <p:nvPr/>
        </p:nvSpPr>
        <p:spPr>
          <a:xfrm>
            <a:off x="384048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251EFC7-841D-42BC-861E-7E594FBE5146}"/>
              </a:ext>
            </a:extLst>
          </p:cNvPr>
          <p:cNvSpPr>
            <a:spLocks noGrp="1"/>
          </p:cNvSpPr>
          <p:nvPr/>
        </p:nvSpPr>
        <p:spPr>
          <a:xfrm>
            <a:off x="384048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Precision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DEDE96-37AC-49E0-AC6F-92481B3DEE3A}"/>
              </a:ext>
            </a:extLst>
          </p:cNvPr>
          <p:cNvSpPr>
            <a:spLocks noGrp="1"/>
          </p:cNvSpPr>
          <p:nvPr/>
        </p:nvSpPr>
        <p:spPr>
          <a:xfrm>
            <a:off x="548640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ADE724-AB64-4F7C-8D40-E5C7D9EF72CB}"/>
              </a:ext>
            </a:extLst>
          </p:cNvPr>
          <p:cNvSpPr>
            <a:spLocks noGrp="1"/>
          </p:cNvSpPr>
          <p:nvPr/>
        </p:nvSpPr>
        <p:spPr>
          <a:xfrm>
            <a:off x="548640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Recall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09C8DFD-2CFD-4510-B6D3-6BA5FA9ED7E5}"/>
              </a:ext>
            </a:extLst>
          </p:cNvPr>
          <p:cNvSpPr>
            <a:spLocks noGrp="1"/>
          </p:cNvSpPr>
          <p:nvPr/>
        </p:nvSpPr>
        <p:spPr>
          <a:xfrm>
            <a:off x="7132320" y="13716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3B0C17-D460-4529-A324-096E956156E3}"/>
              </a:ext>
            </a:extLst>
          </p:cNvPr>
          <p:cNvSpPr>
            <a:spLocks noGrp="1"/>
          </p:cNvSpPr>
          <p:nvPr/>
        </p:nvSpPr>
        <p:spPr>
          <a:xfrm>
            <a:off x="7132320" y="14356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F1-score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E4AF22F-6EAE-4C60-8C14-564AD0F94850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6E07A66-B7EC-4AA4-BDD4-A31311DE485A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48F6CC-B782-4EC4-950E-15E209A5015A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0.9688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8ACF11-BE97-40A9-A16A-51CBD3A40EBA}"/>
              </a:ext>
            </a:extLst>
          </p:cNvPr>
          <p:cNvSpPr>
            <a:spLocks noGrp="1"/>
          </p:cNvSpPr>
          <p:nvPr/>
        </p:nvSpPr>
        <p:spPr>
          <a:xfrm>
            <a:off x="3950208" y="183794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0.9695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7C9ED8-7FE6-403B-863D-982D2EFB82A9}"/>
              </a:ext>
            </a:extLst>
          </p:cNvPr>
          <p:cNvSpPr>
            <a:spLocks noGrp="1"/>
          </p:cNvSpPr>
          <p:nvPr/>
        </p:nvSpPr>
        <p:spPr>
          <a:xfrm>
            <a:off x="5596128" y="183794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0.9688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6D2574B-5B58-43ED-B44F-6AFAD4E97773}"/>
              </a:ext>
            </a:extLst>
          </p:cNvPr>
          <p:cNvSpPr>
            <a:spLocks noGrp="1"/>
          </p:cNvSpPr>
          <p:nvPr/>
        </p:nvSpPr>
        <p:spPr>
          <a:xfrm>
            <a:off x="7242048" y="1837944"/>
            <a:ext cx="124358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0.9687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E19606-F889-4D75-BAE0-3F8259C9A019}"/>
              </a:ext>
            </a:extLst>
          </p:cNvPr>
          <p:cNvSpPr>
            <a:spLocks noGrp="1"/>
          </p:cNvSpPr>
          <p:nvPr/>
        </p:nvSpPr>
        <p:spPr>
          <a:xfrm>
            <a:off x="658368" y="238658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</a:t>
            </a:r>
            <a:endParaRPr sz="10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850B3BC-F672-4656-8714-9321E2C19C46}"/>
              </a:ext>
            </a:extLst>
          </p:cNvPr>
          <p:cNvSpPr>
            <a:spLocks noGrp="1"/>
          </p:cNvSpPr>
          <p:nvPr/>
        </p:nvSpPr>
        <p:spPr>
          <a:xfrm>
            <a:off x="2304288" y="238658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0.9635</a:t>
            </a:r>
            <a:endParaRPr sz="10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7F07B85-00D2-46B5-854E-D5F289C39DA3}"/>
              </a:ext>
            </a:extLst>
          </p:cNvPr>
          <p:cNvSpPr>
            <a:spLocks noGrp="1"/>
          </p:cNvSpPr>
          <p:nvPr/>
        </p:nvSpPr>
        <p:spPr>
          <a:xfrm>
            <a:off x="3950208" y="238658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0.9641</a:t>
            </a:r>
            <a:endParaRPr sz="10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643E4D7-1A89-45D8-AA78-55A81477CBAF}"/>
              </a:ext>
            </a:extLst>
          </p:cNvPr>
          <p:cNvSpPr>
            <a:spLocks noGrp="1"/>
          </p:cNvSpPr>
          <p:nvPr/>
        </p:nvSpPr>
        <p:spPr>
          <a:xfrm>
            <a:off x="5596128" y="238658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0.9635</a:t>
            </a:r>
            <a:endParaRPr sz="10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E26EF77-FFE8-48D5-823D-DDAD24A6F1F5}"/>
              </a:ext>
            </a:extLst>
          </p:cNvPr>
          <p:cNvSpPr>
            <a:spLocks noGrp="1"/>
          </p:cNvSpPr>
          <p:nvPr/>
        </p:nvSpPr>
        <p:spPr>
          <a:xfrm>
            <a:off x="7242048" y="2386584"/>
            <a:ext cx="124358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0.9635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D2B5F61-8A19-479C-A2C7-5565354C9B62}"/>
              </a:ext>
            </a:extLst>
          </p:cNvPr>
          <p:cNvSpPr>
            <a:spLocks noGrp="1"/>
          </p:cNvSpPr>
          <p:nvPr/>
        </p:nvSpPr>
        <p:spPr>
          <a:xfrm>
            <a:off x="548640" y="2871216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00DF603-C0F5-40E3-AF79-4B352E7098DC}"/>
              </a:ext>
            </a:extLst>
          </p:cNvPr>
          <p:cNvSpPr>
            <a:spLocks noGrp="1"/>
          </p:cNvSpPr>
          <p:nvPr/>
        </p:nvSpPr>
        <p:spPr>
          <a:xfrm>
            <a:off x="658368" y="293522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10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B868F49-38F0-4F43-BF90-2C8CE886C0B9}"/>
              </a:ext>
            </a:extLst>
          </p:cNvPr>
          <p:cNvSpPr>
            <a:spLocks noGrp="1"/>
          </p:cNvSpPr>
          <p:nvPr/>
        </p:nvSpPr>
        <p:spPr>
          <a:xfrm>
            <a:off x="2304288" y="293522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0.9557</a:t>
            </a:r>
            <a:endParaRPr sz="10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FFA1FB-C675-49E8-AA1F-A0554696DCA7}"/>
              </a:ext>
            </a:extLst>
          </p:cNvPr>
          <p:cNvSpPr>
            <a:spLocks noGrp="1"/>
          </p:cNvSpPr>
          <p:nvPr/>
        </p:nvSpPr>
        <p:spPr>
          <a:xfrm>
            <a:off x="3950208" y="293522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0.9567</a:t>
            </a:r>
            <a:endParaRPr sz="10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A1089FE-0D80-4E57-AF25-EDFEDA7CACC3}"/>
              </a:ext>
            </a:extLst>
          </p:cNvPr>
          <p:cNvSpPr>
            <a:spLocks noGrp="1"/>
          </p:cNvSpPr>
          <p:nvPr/>
        </p:nvSpPr>
        <p:spPr>
          <a:xfrm>
            <a:off x="5596128" y="2935224"/>
            <a:ext cx="142646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0.9557</a:t>
            </a:r>
            <a:endParaRPr sz="10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710A361-1847-4F33-B6D1-1064C55D2E7B}"/>
              </a:ext>
            </a:extLst>
          </p:cNvPr>
          <p:cNvSpPr>
            <a:spLocks noGrp="1"/>
          </p:cNvSpPr>
          <p:nvPr/>
        </p:nvSpPr>
        <p:spPr>
          <a:xfrm>
            <a:off x="7242048" y="2935224"/>
            <a:ext cx="124358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0.9559</a:t>
            </a:r>
            <a:endParaRPr sz="105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B106391-3A94-4766-A414-8A84A960909C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D996DC1-180E-4AE9-97A6-5F90F2D2FBB6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표에서 읽어야 할 것</a:t>
            </a:r>
            <a:endParaRPr sz="12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DADB627-661C-41E8-8AF3-67EBF427BD58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Table 2의 수치를 제시했으며 Fig. 4와 일치한다. RF–XGBoost 정확도 차이는 약 1.31%p이다.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확인: Fig. 5의 혼동행렬로 계산한 정확도와 Table 2는 일치하지 않는다.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 표와 그림의 값을 그대로 보존하고 서로 다른 수치를 임의로 통합하지 않는다.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38817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EE1208-E10B-4E1C-8C11-551CF511081F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결과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14A5A6-94C7-4BCD-AA24-498A64A96A65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지표별 성능 비교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9B4228-E008-4511-A5EB-4163939935FB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Figure 4 — 세로축 범위에 주의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48AD36-3E29-4A83-B0C5-66B86D6D32B7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39</a:t>
            </a:r>
            <a:endParaRPr sz="900"/>
          </a:p>
        </p:txBody>
      </p:sp>
      <p:graphicFrame>
        <p:nvGraphicFramePr>
          <p:cNvPr id="19" name="Chart 0"/>
          <p:cNvGraphicFramePr/>
          <p:nvPr/>
        </p:nvGraphicFramePr>
        <p:xfrm>
          <a:off x="552450" y="1581150"/>
          <a:ext cx="3952875" cy="248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8AC5A5D1-EFE1-4576-9BA2-03D6D2897E1B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Fig. 4는 hold-out 결과이다. y축 0.94~1.00에 유의하며, 정확도 최대 격차는 약 1.31%p이다.</a:t>
            </a:r>
            <a:endParaRPr sz="105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38675" y="1584388"/>
            <a:ext cx="3962400" cy="253669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F7FF2C-1914-4B7D-A729-51633089F55D}"/>
              </a:ext>
            </a:extLst>
          </p:cNvPr>
          <p:cNvSpPr>
            <a:spLocks noGrp="1"/>
          </p:cNvSpPr>
          <p:nvPr/>
        </p:nvSpPr>
        <p:spPr>
          <a:xfrm>
            <a:off x="657225" y="1343025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rPr>
              <a:t>편집 가능한 비교 차트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6D61CA-C68F-44C1-BC9B-3A89D1091999}"/>
              </a:ext>
            </a:extLst>
          </p:cNvPr>
          <p:cNvSpPr>
            <a:spLocks noGrp="1"/>
          </p:cNvSpPr>
          <p:nvPr/>
        </p:nvSpPr>
        <p:spPr>
          <a:xfrm>
            <a:off x="4714875" y="1343025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rPr>
              <a:t>논문 Fig. 4 원본</a:t>
            </a:r>
          </a:p>
        </p:txBody>
      </p:sp>
    </p:spTree>
    <p:extLst>
      <p:ext uri="{BB962C8B-B14F-4D97-AF65-F5344CB8AC3E}">
        <p14:creationId xmlns:p14="http://schemas.microsoft.com/office/powerpoint/2010/main" val="20740325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8A82E8-2E14-420E-98D7-599008AEAE21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검증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2BBE05-3485-41DC-9369-0809CC1810C3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5-fold 교차검증 결과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A4DABE-981F-4B8A-B97E-CDC7BB8CBE87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Table 3 — 평균과 안정성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DDE5CA-4D0A-44FD-9FBC-4F06838DCCAE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40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71B6C0-D719-47E5-B19B-99A7EAAEBDA6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E619DB-D444-4F46-AD34-551E73FF9EC1}"/>
              </a:ext>
            </a:extLst>
          </p:cNvPr>
          <p:cNvSpPr>
            <a:spLocks noGrp="1"/>
          </p:cNvSpPr>
          <p:nvPr/>
        </p:nvSpPr>
        <p:spPr>
          <a:xfrm>
            <a:off x="777240" y="159105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Random Forest</a:t>
            </a:r>
            <a:endParaRPr sz="12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173624-C882-4A2D-A86A-E98637BA546D}"/>
              </a:ext>
            </a:extLst>
          </p:cNvPr>
          <p:cNvSpPr>
            <a:spLocks noGrp="1"/>
          </p:cNvSpPr>
          <p:nvPr/>
        </p:nvSpPr>
        <p:spPr>
          <a:xfrm>
            <a:off x="3200400" y="153619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96.72 %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B0A673-DF2D-4FFA-9E64-53730C3E58FD}"/>
              </a:ext>
            </a:extLst>
          </p:cNvPr>
          <p:cNvSpPr>
            <a:spLocks noGrp="1"/>
          </p:cNvSpPr>
          <p:nvPr/>
        </p:nvSpPr>
        <p:spPr>
          <a:xfrm>
            <a:off x="4937760" y="16093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Consolas"/>
                <a:ea typeface="Consolas"/>
                <a:cs typeface="Consolas"/>
              </a:rPr>
              <a:t>± 0.58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07411F-E3A9-4482-9A7C-C844B9870612}"/>
              </a:ext>
            </a:extLst>
          </p:cNvPr>
          <p:cNvSpPr>
            <a:spLocks noGrp="1"/>
          </p:cNvSpPr>
          <p:nvPr/>
        </p:nvSpPr>
        <p:spPr>
          <a:xfrm>
            <a:off x="6400800" y="16093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최고 정확도</a:t>
            </a:r>
            <a:endParaRPr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7A205D-C6A4-48E6-B715-E59E86BD3A96}"/>
              </a:ext>
            </a:extLst>
          </p:cNvPr>
          <p:cNvSpPr>
            <a:spLocks noGrp="1"/>
          </p:cNvSpPr>
          <p:nvPr/>
        </p:nvSpPr>
        <p:spPr>
          <a:xfrm>
            <a:off x="548640" y="215798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752C0D-006D-405D-AFC8-42151AA9FCD3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12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72D383-A849-42F9-BC12-09C67A6E90B9}"/>
              </a:ext>
            </a:extLst>
          </p:cNvPr>
          <p:cNvSpPr>
            <a:spLocks noGrp="1"/>
          </p:cNvSpPr>
          <p:nvPr/>
        </p:nvSpPr>
        <p:spPr>
          <a:xfrm>
            <a:off x="3200400" y="232257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96.15 %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4E9EA1-4DA1-4138-A722-AB2418966FEC}"/>
              </a:ext>
            </a:extLst>
          </p:cNvPr>
          <p:cNvSpPr>
            <a:spLocks noGrp="1"/>
          </p:cNvSpPr>
          <p:nvPr/>
        </p:nvSpPr>
        <p:spPr>
          <a:xfrm>
            <a:off x="4937760" y="23957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Consolas"/>
                <a:ea typeface="Consolas"/>
                <a:cs typeface="Consolas"/>
              </a:rPr>
              <a:t>± 0.56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C0F366-6E9C-4B91-8FC4-676912060CD4}"/>
              </a:ext>
            </a:extLst>
          </p:cNvPr>
          <p:cNvSpPr>
            <a:spLocks noGrp="1"/>
          </p:cNvSpPr>
          <p:nvPr/>
        </p:nvSpPr>
        <p:spPr>
          <a:xfrm>
            <a:off x="6400800" y="23957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2위</a:t>
            </a:r>
            <a:endParaRPr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FA422AA-8BC7-4EA1-9580-D9B69B43CEE7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EC718ED-888A-4B2F-AEAB-64A6A7104A8F}"/>
              </a:ext>
            </a:extLst>
          </p:cNvPr>
          <p:cNvSpPr>
            <a:spLocks noGrp="1"/>
          </p:cNvSpPr>
          <p:nvPr/>
        </p:nvSpPr>
        <p:spPr>
          <a:xfrm>
            <a:off x="777240" y="31638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</a:t>
            </a:r>
            <a:endParaRPr sz="12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6ABF80-C569-4E93-A296-368E41F59BF4}"/>
              </a:ext>
            </a:extLst>
          </p:cNvPr>
          <p:cNvSpPr>
            <a:spLocks noGrp="1"/>
          </p:cNvSpPr>
          <p:nvPr/>
        </p:nvSpPr>
        <p:spPr>
          <a:xfrm>
            <a:off x="3200400" y="31089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95.83 %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5B00C3D-84B4-414B-A1E1-72DA3EDB4E73}"/>
              </a:ext>
            </a:extLst>
          </p:cNvPr>
          <p:cNvSpPr>
            <a:spLocks noGrp="1"/>
          </p:cNvSpPr>
          <p:nvPr/>
        </p:nvSpPr>
        <p:spPr>
          <a:xfrm>
            <a:off x="4937760" y="31821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Consolas"/>
                <a:ea typeface="Consolas"/>
                <a:cs typeface="Consolas"/>
              </a:rPr>
              <a:t>± 0.79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153920-7F76-4DF9-A2F6-808913976AC2}"/>
              </a:ext>
            </a:extLst>
          </p:cNvPr>
          <p:cNvSpPr>
            <a:spLocks noGrp="1"/>
          </p:cNvSpPr>
          <p:nvPr/>
        </p:nvSpPr>
        <p:spPr>
          <a:xfrm>
            <a:off x="6400800" y="31821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표준편차 최대</a:t>
            </a:r>
            <a:endParaRPr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21A40E9-102F-4FC9-94AB-05A7BE6B4525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BA3738-526A-454B-8CB7-2D67AA84E996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표준편차가 말해주는 것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BF45AA8-102A-4B4A-9591-7AD163D2E8E6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이번 5개 폴드의 표준편차는 모두 0.8%p 미만으로 작았다.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결과만으로 다른 분할이나 새 피험자에서도 안정적이라고 단정할 수 없다.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hold-out과 5-fold에서 SVM·XGBoost의 순위가 바뀐다는 점도 확인한다.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5093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85D30F-3F29-44C3-99FD-D944FD7C9BC0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검증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085BE3-FE14-4DD8-9ED4-1454B6C9E4B8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통계적 유의성 검정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96F489-8B1E-4C06-8595-B89B9EE051BA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대응표본 t-검정 — 유의한 차이를 검출하지 못함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E62F4-FD40-47DE-AEB6-827D0EEDE67D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41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C73A02-02C9-4094-8E9E-FE425FBD1478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C6A0C8-FB56-4637-B657-E0648EEA44F7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DA5129-5113-4B48-B9D4-E628C88F9E8A}"/>
              </a:ext>
            </a:extLst>
          </p:cNvPr>
          <p:cNvSpPr>
            <a:spLocks noGrp="1"/>
          </p:cNvSpPr>
          <p:nvPr/>
        </p:nvSpPr>
        <p:spPr>
          <a:xfrm>
            <a:off x="292608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F698FF-1DA8-46A0-B7C6-C187AB390016}"/>
              </a:ext>
            </a:extLst>
          </p:cNvPr>
          <p:cNvSpPr>
            <a:spLocks noGrp="1"/>
          </p:cNvSpPr>
          <p:nvPr/>
        </p:nvSpPr>
        <p:spPr>
          <a:xfrm>
            <a:off x="2926080" y="143560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p-value</a:t>
            </a:r>
            <a:endParaRPr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03742E-E93D-4468-B252-D22E12AA80A9}"/>
              </a:ext>
            </a:extLst>
          </p:cNvPr>
          <p:cNvSpPr>
            <a:spLocks noGrp="1"/>
          </p:cNvSpPr>
          <p:nvPr/>
        </p:nvSpPr>
        <p:spPr>
          <a:xfrm>
            <a:off x="5120640" y="137160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0975B0-7433-4809-B062-DF27D4873DFB}"/>
              </a:ext>
            </a:extLst>
          </p:cNvPr>
          <p:cNvSpPr>
            <a:spLocks noGrp="1"/>
          </p:cNvSpPr>
          <p:nvPr/>
        </p:nvSpPr>
        <p:spPr>
          <a:xfrm>
            <a:off x="5120640" y="14356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 (α = 0.05)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534EE5D-434E-4A7F-BBDF-291483C30214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472440"/>
          </a:xfrm>
          <a:prstGeom prst="roundRect">
            <a:avLst>
              <a:gd name="adj" fmla="val 1161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CA3072-75F1-42B0-863D-72EEACB08DAB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215798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 vs SVM</a:t>
            </a:r>
            <a:endParaRPr sz="11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006C72B-3C5A-4655-BC5B-E4E85A015F77}"/>
              </a:ext>
            </a:extLst>
          </p:cNvPr>
          <p:cNvSpPr>
            <a:spLocks noGrp="1"/>
          </p:cNvSpPr>
          <p:nvPr/>
        </p:nvSpPr>
        <p:spPr>
          <a:xfrm>
            <a:off x="3035808" y="1837944"/>
            <a:ext cx="197510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p = 0.1193</a:t>
            </a:r>
            <a:endParaRPr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243FBE0-FCEF-4886-BBBE-64ABD0DEC2B5}"/>
              </a:ext>
            </a:extLst>
          </p:cNvPr>
          <p:cNvSpPr>
            <a:spLocks noGrp="1"/>
          </p:cNvSpPr>
          <p:nvPr/>
        </p:nvSpPr>
        <p:spPr>
          <a:xfrm>
            <a:off x="5230368" y="1837944"/>
            <a:ext cx="325526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유의하지 않음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E3E9EE-C7EC-45B2-AFC2-C2EF2A658295}"/>
              </a:ext>
            </a:extLst>
          </p:cNvPr>
          <p:cNvSpPr>
            <a:spLocks noGrp="1"/>
          </p:cNvSpPr>
          <p:nvPr/>
        </p:nvSpPr>
        <p:spPr>
          <a:xfrm>
            <a:off x="658368" y="2346960"/>
            <a:ext cx="215798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 vs XGBoost</a:t>
            </a:r>
            <a:endParaRPr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F9A492-5DC6-45B1-8644-AD94E1DCE171}"/>
              </a:ext>
            </a:extLst>
          </p:cNvPr>
          <p:cNvSpPr>
            <a:spLocks noGrp="1"/>
          </p:cNvSpPr>
          <p:nvPr/>
        </p:nvSpPr>
        <p:spPr>
          <a:xfrm>
            <a:off x="3035808" y="2346960"/>
            <a:ext cx="197510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p = 0.1609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28C6FCC-09F7-421E-8152-2AA4F8451606}"/>
              </a:ext>
            </a:extLst>
          </p:cNvPr>
          <p:cNvSpPr>
            <a:spLocks noGrp="1"/>
          </p:cNvSpPr>
          <p:nvPr/>
        </p:nvSpPr>
        <p:spPr>
          <a:xfrm>
            <a:off x="5230368" y="2346960"/>
            <a:ext cx="325526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유의하지 않음</a:t>
            </a:r>
            <a:endParaRPr sz="11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5FE1AFE-65BA-47BF-BCC5-1F7E5D16964F}"/>
              </a:ext>
            </a:extLst>
          </p:cNvPr>
          <p:cNvSpPr>
            <a:spLocks noGrp="1"/>
          </p:cNvSpPr>
          <p:nvPr/>
        </p:nvSpPr>
        <p:spPr>
          <a:xfrm>
            <a:off x="548640" y="2791968"/>
            <a:ext cx="8046720" cy="472440"/>
          </a:xfrm>
          <a:prstGeom prst="roundRect">
            <a:avLst>
              <a:gd name="adj" fmla="val 1161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B7510CA-4BC3-4DAB-A091-88DE6594700A}"/>
              </a:ext>
            </a:extLst>
          </p:cNvPr>
          <p:cNvSpPr>
            <a:spLocks noGrp="1"/>
          </p:cNvSpPr>
          <p:nvPr/>
        </p:nvSpPr>
        <p:spPr>
          <a:xfrm>
            <a:off x="658368" y="2855976"/>
            <a:ext cx="215798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vs XGBoost</a:t>
            </a:r>
            <a:endParaRPr sz="11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2BA682-9DFC-4380-941E-03987F642204}"/>
              </a:ext>
            </a:extLst>
          </p:cNvPr>
          <p:cNvSpPr>
            <a:spLocks noGrp="1"/>
          </p:cNvSpPr>
          <p:nvPr/>
        </p:nvSpPr>
        <p:spPr>
          <a:xfrm>
            <a:off x="3035808" y="2855976"/>
            <a:ext cx="197510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p = 0.3739</a:t>
            </a:r>
            <a:endParaRPr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FABDD74-7D74-43A7-AA10-D1D6ABC341A5}"/>
              </a:ext>
            </a:extLst>
          </p:cNvPr>
          <p:cNvSpPr>
            <a:spLocks noGrp="1"/>
          </p:cNvSpPr>
          <p:nvPr/>
        </p:nvSpPr>
        <p:spPr>
          <a:xfrm>
            <a:off x="5230368" y="2855976"/>
            <a:ext cx="3255264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유의하지 않음</a:t>
            </a:r>
            <a:endParaRPr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AD35770-E664-4FBA-A3F2-4C3AAACE1CE9}"/>
              </a:ext>
            </a:extLst>
          </p:cNvPr>
          <p:cNvSpPr>
            <a:spLocks noGrp="1"/>
          </p:cNvSpPr>
          <p:nvPr/>
        </p:nvSpPr>
        <p:spPr>
          <a:xfrm>
            <a:off x="548640" y="3410712"/>
            <a:ext cx="8046720" cy="1207008"/>
          </a:xfrm>
          <a:prstGeom prst="roundRect">
            <a:avLst>
              <a:gd name="adj" fmla="val 454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0D3B04-8DD5-47F4-8A3C-312E92DBBB7E}"/>
              </a:ext>
            </a:extLst>
          </p:cNvPr>
          <p:cNvSpPr>
            <a:spLocks noGrp="1"/>
          </p:cNvSpPr>
          <p:nvPr/>
        </p:nvSpPr>
        <p:spPr>
          <a:xfrm>
            <a:off x="731520" y="35112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이 결과의 의미</a:t>
            </a:r>
            <a:endParaRPr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DC4DA76-C03C-45C3-B7AE-6D38605C2054}"/>
              </a:ext>
            </a:extLst>
          </p:cNvPr>
          <p:cNvSpPr>
            <a:spLocks noGrp="1"/>
          </p:cNvSpPr>
          <p:nvPr/>
        </p:nvSpPr>
        <p:spPr>
          <a:xfrm>
            <a:off x="731520" y="3813048"/>
            <a:ext cx="7680960" cy="115900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5개 폴드 정확도에 대한 대응표본 t-검정에서 세 쌍 모두 p &gt; 0.05였다.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RF의 평균 정확도가 가장 높지만, 모델 간 유의한 차이는 검출하지 못했다.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이는 세 모델이 동등하다는 증거가 아니며 특정 모델의 보편적 우월성을 뒷받침하지 않는다.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정확도와 함께 학습·추론 시간 및 모델 크기를 보고한다.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853574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F7C195-06FA-444B-B107-E12711A22C89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결과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A655E7-ED93-4B6E-B86B-2467BC1C6475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피험자별 분류 성능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8460F6-72A8-4DFB-B3B5-A537D52FF42E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Table 4 — trial-wise 예측을 피험자별로 집계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281A3A-A333-4724-A8DA-7C366747566B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42</a:t>
            </a:r>
            <a:endParaRPr sz="90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132588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5F5082BA-052C-4B60-B210-4DD0E953D3D4}"/>
              </a:ext>
            </a:extLst>
          </p:cNvPr>
          <p:cNvSpPr>
            <a:spLocks noGrp="1"/>
          </p:cNvSpPr>
          <p:nvPr/>
        </p:nvSpPr>
        <p:spPr>
          <a:xfrm>
            <a:off x="6217920" y="1371600"/>
            <a:ext cx="2377440" cy="2651760"/>
          </a:xfrm>
          <a:prstGeom prst="roundRect">
            <a:avLst>
              <a:gd name="adj" fmla="val 2308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CF67D51-8011-4ED5-B714-E7A9EDCB243B}"/>
              </a:ext>
            </a:extLst>
          </p:cNvPr>
          <p:cNvSpPr>
            <a:spLocks noGrp="1"/>
          </p:cNvSpPr>
          <p:nvPr/>
        </p:nvSpPr>
        <p:spPr>
          <a:xfrm>
            <a:off x="6400800" y="14813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관찰 포인트</a:t>
            </a:r>
            <a:endParaRPr sz="1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17D234A-8CA0-4188-9DE8-0E1BB1D206F4}"/>
              </a:ext>
            </a:extLst>
          </p:cNvPr>
          <p:cNvSpPr>
            <a:spLocks noGrp="1"/>
          </p:cNvSpPr>
          <p:nvPr/>
        </p:nvSpPr>
        <p:spPr>
          <a:xfrm>
            <a:off x="6400800" y="1810512"/>
            <a:ext cx="2057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 94.2~100%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87.5~100%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 94.6~100%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KMS는 세 모델 모두 100%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LSJ에서 SVM만 87.5%로 급락</a:t>
            </a:r>
            <a:endParaRPr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4E3D663-6006-49B0-AAA5-3590F4FE7247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Table 4는 trial-wise 예측의 피험자별 집계이다. LSJ의 SVM 저하 원인은 추가 분석이 필요하다.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2597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5E0752-E033-4DEE-B68F-8031C16F80F3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결과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AF5207-C03C-4E75-925B-0977354A76B8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계산 비용 비교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34CACF-9737-4077-9F5E-0F172514029C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Table 5 — 실용성의 근거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EF7C21-69BD-498B-86BF-EF380A5488B2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CF15C8B-6A7C-44F9-AB65-9F9CC76D542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26E4B1-B66A-418B-B178-B7FF1E3B2CB7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10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6088249-0D6D-4E34-AB0B-B2C5EF231856}"/>
              </a:ext>
            </a:extLst>
          </p:cNvPr>
          <p:cNvSpPr>
            <a:spLocks noGrp="1"/>
          </p:cNvSpPr>
          <p:nvPr/>
        </p:nvSpPr>
        <p:spPr>
          <a:xfrm>
            <a:off x="2560320" y="13716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9D0AE6-36A8-4DD6-BF3B-8BD3859565DC}"/>
              </a:ext>
            </a:extLst>
          </p:cNvPr>
          <p:cNvSpPr>
            <a:spLocks noGrp="1"/>
          </p:cNvSpPr>
          <p:nvPr/>
        </p:nvSpPr>
        <p:spPr>
          <a:xfrm>
            <a:off x="2560320" y="1435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시간 (초)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1F905C-611E-4CC5-85F5-89AEB34A50F6}"/>
              </a:ext>
            </a:extLst>
          </p:cNvPr>
          <p:cNvSpPr>
            <a:spLocks noGrp="1"/>
          </p:cNvSpPr>
          <p:nvPr/>
        </p:nvSpPr>
        <p:spPr>
          <a:xfrm>
            <a:off x="438912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340C19-6726-44B6-8F03-BDC352B8B034}"/>
              </a:ext>
            </a:extLst>
          </p:cNvPr>
          <p:cNvSpPr>
            <a:spLocks noGrp="1"/>
          </p:cNvSpPr>
          <p:nvPr/>
        </p:nvSpPr>
        <p:spPr>
          <a:xfrm>
            <a:off x="4389120" y="1435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샘플당 추론 (ms)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BA20611-5E70-4EB6-9442-00126B923B52}"/>
              </a:ext>
            </a:extLst>
          </p:cNvPr>
          <p:cNvSpPr>
            <a:spLocks noGrp="1"/>
          </p:cNvSpPr>
          <p:nvPr/>
        </p:nvSpPr>
        <p:spPr>
          <a:xfrm>
            <a:off x="640080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8AB487-4ED0-40B4-A46A-54EEFFBF424D}"/>
              </a:ext>
            </a:extLst>
          </p:cNvPr>
          <p:cNvSpPr>
            <a:spLocks noGrp="1"/>
          </p:cNvSpPr>
          <p:nvPr/>
        </p:nvSpPr>
        <p:spPr>
          <a:xfrm>
            <a:off x="6400800" y="143560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 크기 (MB)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9BBDD0-87F1-4FBE-B9C1-6F8DDF838E37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EAB1715-02B5-4881-9877-1D1D42A74460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DD15054-FD73-48D3-BCF6-4A4C920E7293}"/>
              </a:ext>
            </a:extLst>
          </p:cNvPr>
          <p:cNvSpPr>
            <a:spLocks noGrp="1"/>
          </p:cNvSpPr>
          <p:nvPr/>
        </p:nvSpPr>
        <p:spPr>
          <a:xfrm>
            <a:off x="2670048" y="1837944"/>
            <a:ext cx="160934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0.313</a:t>
            </a:r>
            <a:endParaRPr sz="10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B30A578-7729-4A4A-AD33-9784D7416B49}"/>
              </a:ext>
            </a:extLst>
          </p:cNvPr>
          <p:cNvSpPr>
            <a:spLocks noGrp="1"/>
          </p:cNvSpPr>
          <p:nvPr/>
        </p:nvSpPr>
        <p:spPr>
          <a:xfrm>
            <a:off x="4498848" y="183794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0.036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2C9A31-6BFE-4007-BF16-3AE9E5435E1E}"/>
              </a:ext>
            </a:extLst>
          </p:cNvPr>
          <p:cNvSpPr>
            <a:spLocks noGrp="1"/>
          </p:cNvSpPr>
          <p:nvPr/>
        </p:nvSpPr>
        <p:spPr>
          <a:xfrm>
            <a:off x="6510528" y="1837944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4.31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E7CE2C5-5F63-49D6-A023-517C70052600}"/>
              </a:ext>
            </a:extLst>
          </p:cNvPr>
          <p:cNvSpPr>
            <a:spLocks noGrp="1"/>
          </p:cNvSpPr>
          <p:nvPr/>
        </p:nvSpPr>
        <p:spPr>
          <a:xfrm>
            <a:off x="658368" y="238658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F6307F9-465A-4731-A356-943BD8F518EA}"/>
              </a:ext>
            </a:extLst>
          </p:cNvPr>
          <p:cNvSpPr>
            <a:spLocks noGrp="1"/>
          </p:cNvSpPr>
          <p:nvPr/>
        </p:nvSpPr>
        <p:spPr>
          <a:xfrm>
            <a:off x="2670048" y="2386584"/>
            <a:ext cx="160934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0.334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5AC525-7DF5-471C-B1D9-195053D39798}"/>
              </a:ext>
            </a:extLst>
          </p:cNvPr>
          <p:cNvSpPr>
            <a:spLocks noGrp="1"/>
          </p:cNvSpPr>
          <p:nvPr/>
        </p:nvSpPr>
        <p:spPr>
          <a:xfrm>
            <a:off x="4498848" y="238658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0.382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252AD3-DD13-475B-BDCC-13E3A0D7BC39}"/>
              </a:ext>
            </a:extLst>
          </p:cNvPr>
          <p:cNvSpPr>
            <a:spLocks noGrp="1"/>
          </p:cNvSpPr>
          <p:nvPr/>
        </p:nvSpPr>
        <p:spPr>
          <a:xfrm>
            <a:off x="6510528" y="2386584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4.36</a:t>
            </a:r>
            <a:endParaRPr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F434A69-A553-4D36-8066-9606F093DD30}"/>
              </a:ext>
            </a:extLst>
          </p:cNvPr>
          <p:cNvSpPr>
            <a:spLocks noGrp="1"/>
          </p:cNvSpPr>
          <p:nvPr/>
        </p:nvSpPr>
        <p:spPr>
          <a:xfrm>
            <a:off x="548640" y="2871216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5B088BC-AAE0-4FCE-A8B4-661861E7A1A4}"/>
              </a:ext>
            </a:extLst>
          </p:cNvPr>
          <p:cNvSpPr>
            <a:spLocks noGrp="1"/>
          </p:cNvSpPr>
          <p:nvPr/>
        </p:nvSpPr>
        <p:spPr>
          <a:xfrm>
            <a:off x="658368" y="293522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10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8942FC8-66DA-4F94-AC22-6B902954A5FF}"/>
              </a:ext>
            </a:extLst>
          </p:cNvPr>
          <p:cNvSpPr>
            <a:spLocks noGrp="1"/>
          </p:cNvSpPr>
          <p:nvPr/>
        </p:nvSpPr>
        <p:spPr>
          <a:xfrm>
            <a:off x="2670048" y="2935224"/>
            <a:ext cx="160934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19.846</a:t>
            </a:r>
            <a:endParaRPr sz="10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9E78E5E-3322-4357-AACC-0808150C71D6}"/>
              </a:ext>
            </a:extLst>
          </p:cNvPr>
          <p:cNvSpPr>
            <a:spLocks noGrp="1"/>
          </p:cNvSpPr>
          <p:nvPr/>
        </p:nvSpPr>
        <p:spPr>
          <a:xfrm>
            <a:off x="4498848" y="2935224"/>
            <a:ext cx="17922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0.031</a:t>
            </a:r>
            <a:endParaRPr sz="10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395A02C-03AA-40BA-A1A5-96B4B777FF08}"/>
              </a:ext>
            </a:extLst>
          </p:cNvPr>
          <p:cNvSpPr>
            <a:spLocks noGrp="1"/>
          </p:cNvSpPr>
          <p:nvPr/>
        </p:nvSpPr>
        <p:spPr>
          <a:xfrm>
            <a:off x="6510528" y="2935224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3.59</a:t>
            </a:r>
            <a:endParaRPr sz="10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42AEF7F-3685-486F-83F5-9E7455F90F5B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24D79F-59A3-486C-AF71-4F857F2E7146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숫자에서 읽어야 할 세 가지</a:t>
            </a:r>
            <a:endParaRPr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5CEF641-3CCE-4D86-91BE-02B54C34C828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해당 측정 환경에서 XGBoost 학습은 19.846초, RF는 0.313초였다.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추론은 XGBoost 0.031ms, RF 0.036ms, SVM 0.382ms/표본이었다.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2초 신호 취득·전처리·특징 추출 시간과 실제 배포 장치의 지연은 별도로 평가해야 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331101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622F26-55DA-44C2-954E-E213F0B778AA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결과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792C6E-E1FD-4101-A32C-A40657F4674F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어느 모델을 고를 것인가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FA6B55-EDCD-4B24-89BE-76735D24D403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유의한 차이를 검출하지 못했을 때의 선택 기준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F09547-BA93-429F-83F0-48F867234752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44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F90996-F6C1-4D4B-8B34-3EB217797948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FEF0E8-87DA-4E0D-9C91-7E1270DFFE9C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63AF5E-9BBB-4BCB-A427-E3860C7A97A3}"/>
              </a:ext>
            </a:extLst>
          </p:cNvPr>
          <p:cNvSpPr>
            <a:spLocks noGrp="1"/>
          </p:cNvSpPr>
          <p:nvPr/>
        </p:nvSpPr>
        <p:spPr>
          <a:xfrm>
            <a:off x="2011680" y="13716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EBBD32-AE50-4022-9055-55B354C0205C}"/>
              </a:ext>
            </a:extLst>
          </p:cNvPr>
          <p:cNvSpPr>
            <a:spLocks noGrp="1"/>
          </p:cNvSpPr>
          <p:nvPr/>
        </p:nvSpPr>
        <p:spPr>
          <a:xfrm>
            <a:off x="2011680" y="1435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5-fold 정확도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28394D2-C8FF-4563-9923-75E562AF8712}"/>
              </a:ext>
            </a:extLst>
          </p:cNvPr>
          <p:cNvSpPr>
            <a:spLocks noGrp="1"/>
          </p:cNvSpPr>
          <p:nvPr/>
        </p:nvSpPr>
        <p:spPr>
          <a:xfrm>
            <a:off x="3383280" y="137160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572107-8A84-4F19-BE8C-F3CCF75C219C}"/>
              </a:ext>
            </a:extLst>
          </p:cNvPr>
          <p:cNvSpPr>
            <a:spLocks noGrp="1"/>
          </p:cNvSpPr>
          <p:nvPr/>
        </p:nvSpPr>
        <p:spPr>
          <a:xfrm>
            <a:off x="3383280" y="1435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계산 비용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BB37E1-67C4-4D56-9D75-57780A501A1D}"/>
              </a:ext>
            </a:extLst>
          </p:cNvPr>
          <p:cNvSpPr>
            <a:spLocks noGrp="1"/>
          </p:cNvSpPr>
          <p:nvPr/>
        </p:nvSpPr>
        <p:spPr>
          <a:xfrm>
            <a:off x="5486400" y="137160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388C07-77AC-490A-936A-CFA9D5CFD7D2}"/>
              </a:ext>
            </a:extLst>
          </p:cNvPr>
          <p:cNvSpPr>
            <a:spLocks noGrp="1"/>
          </p:cNvSpPr>
          <p:nvPr/>
        </p:nvSpPr>
        <p:spPr>
          <a:xfrm>
            <a:off x="5486400" y="14356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실무 관점의 위치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D80ED07-92B4-4175-BD72-2D0AF18DBAA8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539496"/>
          </a:xfrm>
          <a:prstGeom prst="roundRect">
            <a:avLst>
              <a:gd name="adj" fmla="val 10169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5A947F-5FA7-4C83-8710-D6AED16FFB46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24358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RF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2B2586-F4CA-488A-A770-3FE11CBD00D2}"/>
              </a:ext>
            </a:extLst>
          </p:cNvPr>
          <p:cNvSpPr>
            <a:spLocks noGrp="1"/>
          </p:cNvSpPr>
          <p:nvPr/>
        </p:nvSpPr>
        <p:spPr>
          <a:xfrm>
            <a:off x="2121408" y="1837944"/>
            <a:ext cx="115214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96.72%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08B533-1797-4FFF-9762-996CC383935A}"/>
              </a:ext>
            </a:extLst>
          </p:cNvPr>
          <p:cNvSpPr>
            <a:spLocks noGrp="1"/>
          </p:cNvSpPr>
          <p:nvPr/>
        </p:nvSpPr>
        <p:spPr>
          <a:xfrm>
            <a:off x="3493008" y="1837944"/>
            <a:ext cx="188366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0.313s · 추론 0.036ms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EF956D-E320-4419-9ECB-8E5365EAB303}"/>
              </a:ext>
            </a:extLst>
          </p:cNvPr>
          <p:cNvSpPr>
            <a:spLocks noGrp="1"/>
          </p:cNvSpPr>
          <p:nvPr/>
        </p:nvSpPr>
        <p:spPr>
          <a:xfrm>
            <a:off x="5596128" y="1837944"/>
            <a:ext cx="288950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평균 정확도 최대 · 보고된 학습 시간 최소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A5408C-25F9-4E06-83F1-2A32947C1148}"/>
              </a:ext>
            </a:extLst>
          </p:cNvPr>
          <p:cNvSpPr>
            <a:spLocks noGrp="1"/>
          </p:cNvSpPr>
          <p:nvPr/>
        </p:nvSpPr>
        <p:spPr>
          <a:xfrm>
            <a:off x="658368" y="2414016"/>
            <a:ext cx="124358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7072982-2A17-4DC6-8EEC-98E0C2F8E041}"/>
              </a:ext>
            </a:extLst>
          </p:cNvPr>
          <p:cNvSpPr>
            <a:spLocks noGrp="1"/>
          </p:cNvSpPr>
          <p:nvPr/>
        </p:nvSpPr>
        <p:spPr>
          <a:xfrm>
            <a:off x="2121408" y="2414016"/>
            <a:ext cx="115214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96.15%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8ABF2D-AFB1-46CD-A36C-F670E73B4DAE}"/>
              </a:ext>
            </a:extLst>
          </p:cNvPr>
          <p:cNvSpPr>
            <a:spLocks noGrp="1"/>
          </p:cNvSpPr>
          <p:nvPr/>
        </p:nvSpPr>
        <p:spPr>
          <a:xfrm>
            <a:off x="3493008" y="2414016"/>
            <a:ext cx="188366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19.8s · 추론 0.031ms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3EABA92-5348-47E3-8ADC-7B6861F81E0B}"/>
              </a:ext>
            </a:extLst>
          </p:cNvPr>
          <p:cNvSpPr>
            <a:spLocks noGrp="1"/>
          </p:cNvSpPr>
          <p:nvPr/>
        </p:nvSpPr>
        <p:spPr>
          <a:xfrm>
            <a:off x="5596128" y="2414016"/>
            <a:ext cx="288950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보고된 추론 최속 · 실제 장치 성능은 별도 검증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E0AA8CF-C0C3-4C3B-A424-6489FFE24516}"/>
              </a:ext>
            </a:extLst>
          </p:cNvPr>
          <p:cNvSpPr>
            <a:spLocks noGrp="1"/>
          </p:cNvSpPr>
          <p:nvPr/>
        </p:nvSpPr>
        <p:spPr>
          <a:xfrm>
            <a:off x="548640" y="2926080"/>
            <a:ext cx="8046720" cy="539496"/>
          </a:xfrm>
          <a:prstGeom prst="roundRect">
            <a:avLst>
              <a:gd name="adj" fmla="val 10169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AF1C343-1121-45CC-9B13-24FFD38FA7CA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124358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465D4E-B5C5-4DEB-BBEB-955811C58290}"/>
              </a:ext>
            </a:extLst>
          </p:cNvPr>
          <p:cNvSpPr>
            <a:spLocks noGrp="1"/>
          </p:cNvSpPr>
          <p:nvPr/>
        </p:nvSpPr>
        <p:spPr>
          <a:xfrm>
            <a:off x="2121408" y="2990088"/>
            <a:ext cx="115214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95.83%</a:t>
            </a:r>
            <a:endParaRPr sz="1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B6B9EA8-A7DE-441E-B580-B44C6125E47B}"/>
              </a:ext>
            </a:extLst>
          </p:cNvPr>
          <p:cNvSpPr>
            <a:spLocks noGrp="1"/>
          </p:cNvSpPr>
          <p:nvPr/>
        </p:nvSpPr>
        <p:spPr>
          <a:xfrm>
            <a:off x="3493008" y="2990088"/>
            <a:ext cx="188366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학습 0.334s · 추론 0.382ms</a:t>
            </a:r>
            <a:endParaRPr sz="10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C8250C-1637-48B8-B085-46550D0CA3F0}"/>
              </a:ext>
            </a:extLst>
          </p:cNvPr>
          <p:cNvSpPr>
            <a:spLocks noGrp="1"/>
          </p:cNvSpPr>
          <p:nvPr/>
        </p:nvSpPr>
        <p:spPr>
          <a:xfrm>
            <a:off x="5596128" y="2990088"/>
            <a:ext cx="2889504" cy="448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보고된 추론 시간 최대 · 장치별 검증 필요</a:t>
            </a:r>
            <a:endParaRPr sz="10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7CF98BC-4517-45E9-9B33-29C69C2D417F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57EDAAB-297D-4027-B9BF-69F117F45359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실제 선택의 논리</a:t>
            </a:r>
            <a:endParaRPr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A766680-FBC9-4B90-A873-D1FB69F3ED72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유의하지 않다는 결과가 세 모델의 동등성을 입증하지는 않는다.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보고된 계산 비용을 참고하되, 목표 장치에서 전체 처리 지연과 정확도를 함께 측정한다.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재학습 빈도와 메모리 제약도 모델 선택의 근거로 기록한다.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965322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4D44B8-BB24-4E3D-95E1-CFAA24900752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오분류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33FCB-3603-45E9-B95B-37C8C131BC50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Random Forest 혼동행렬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0E94C8-595B-4503-AEF9-32DA291FE9D2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Figure 5(a) — 8클래스 분류 결과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BAD499-B4AB-405B-8644-28FE82470C5D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45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D7ED0E-19EF-466B-8F29-7BBA00500750}"/>
              </a:ext>
            </a:extLst>
          </p:cNvPr>
          <p:cNvSpPr>
            <a:spLocks noGrp="1"/>
          </p:cNvSpPr>
          <p:nvPr/>
        </p:nvSpPr>
        <p:spPr>
          <a:xfrm>
            <a:off x="1078992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7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F9CAB8-0EDA-47C2-8370-60F3B154FDF6}"/>
              </a:ext>
            </a:extLst>
          </p:cNvPr>
          <p:cNvSpPr>
            <a:spLocks noGrp="1"/>
          </p:cNvSpPr>
          <p:nvPr/>
        </p:nvSpPr>
        <p:spPr>
          <a:xfrm>
            <a:off x="1517904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7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E268D2-5FB6-4B20-B0BF-F6E05AC5E836}"/>
              </a:ext>
            </a:extLst>
          </p:cNvPr>
          <p:cNvSpPr>
            <a:spLocks noGrp="1"/>
          </p:cNvSpPr>
          <p:nvPr/>
        </p:nvSpPr>
        <p:spPr>
          <a:xfrm>
            <a:off x="1956816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E9DA26-9ABF-4981-B5ED-A94E310D6D94}"/>
              </a:ext>
            </a:extLst>
          </p:cNvPr>
          <p:cNvSpPr>
            <a:spLocks noGrp="1"/>
          </p:cNvSpPr>
          <p:nvPr/>
        </p:nvSpPr>
        <p:spPr>
          <a:xfrm>
            <a:off x="2395728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3F1308-11DB-478D-874E-C67F8D22D876}"/>
              </a:ext>
            </a:extLst>
          </p:cNvPr>
          <p:cNvSpPr>
            <a:spLocks noGrp="1"/>
          </p:cNvSpPr>
          <p:nvPr/>
        </p:nvSpPr>
        <p:spPr>
          <a:xfrm>
            <a:off x="2834640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2BFDFE-684B-49C2-BC27-8D30E1367054}"/>
              </a:ext>
            </a:extLst>
          </p:cNvPr>
          <p:cNvSpPr>
            <a:spLocks noGrp="1"/>
          </p:cNvSpPr>
          <p:nvPr/>
        </p:nvSpPr>
        <p:spPr>
          <a:xfrm>
            <a:off x="3273552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7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C295C4-A8B7-42DA-A176-1E6174B6D5C4}"/>
              </a:ext>
            </a:extLst>
          </p:cNvPr>
          <p:cNvSpPr>
            <a:spLocks noGrp="1"/>
          </p:cNvSpPr>
          <p:nvPr/>
        </p:nvSpPr>
        <p:spPr>
          <a:xfrm>
            <a:off x="3712464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7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342489-7B9A-4457-AC4B-1BBE6E0A2BAF}"/>
              </a:ext>
            </a:extLst>
          </p:cNvPr>
          <p:cNvSpPr>
            <a:spLocks noGrp="1"/>
          </p:cNvSpPr>
          <p:nvPr/>
        </p:nvSpPr>
        <p:spPr>
          <a:xfrm>
            <a:off x="4151376" y="1353312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7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EA4948-7679-4FD6-81CA-7FA8F2DD578E}"/>
              </a:ext>
            </a:extLst>
          </p:cNvPr>
          <p:cNvSpPr>
            <a:spLocks noGrp="1"/>
          </p:cNvSpPr>
          <p:nvPr/>
        </p:nvSpPr>
        <p:spPr>
          <a:xfrm>
            <a:off x="640080" y="1591056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7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F6DD335-5871-4332-9AE5-C64587B68410}"/>
              </a:ext>
            </a:extLst>
          </p:cNvPr>
          <p:cNvSpPr>
            <a:spLocks noGrp="1"/>
          </p:cNvSpPr>
          <p:nvPr/>
        </p:nvSpPr>
        <p:spPr>
          <a:xfrm>
            <a:off x="1078992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B6D82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0F80A18-0525-493A-A3E2-F4346E9A77A5}"/>
              </a:ext>
            </a:extLst>
          </p:cNvPr>
          <p:cNvSpPr>
            <a:spLocks noGrp="1"/>
          </p:cNvSpPr>
          <p:nvPr/>
        </p:nvSpPr>
        <p:spPr>
          <a:xfrm>
            <a:off x="1078992" y="159105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A49BB3D-687F-4E3A-9B31-7E8981E664E5}"/>
              </a:ext>
            </a:extLst>
          </p:cNvPr>
          <p:cNvSpPr>
            <a:spLocks noGrp="1"/>
          </p:cNvSpPr>
          <p:nvPr/>
        </p:nvSpPr>
        <p:spPr>
          <a:xfrm>
            <a:off x="1517904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A120677-2F55-4E82-A13F-67D5B18EB162}"/>
              </a:ext>
            </a:extLst>
          </p:cNvPr>
          <p:cNvSpPr>
            <a:spLocks noGrp="1"/>
          </p:cNvSpPr>
          <p:nvPr/>
        </p:nvSpPr>
        <p:spPr>
          <a:xfrm>
            <a:off x="1956816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DCE9EC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74FE6C1-0D47-4429-AAF8-7AAFB852F8AE}"/>
              </a:ext>
            </a:extLst>
          </p:cNvPr>
          <p:cNvSpPr>
            <a:spLocks noGrp="1"/>
          </p:cNvSpPr>
          <p:nvPr/>
        </p:nvSpPr>
        <p:spPr>
          <a:xfrm>
            <a:off x="1956816" y="159105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2</a:t>
            </a:r>
            <a:endParaRPr sz="8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A7ECB17-1FC4-4444-9233-A2866483B5A7}"/>
              </a:ext>
            </a:extLst>
          </p:cNvPr>
          <p:cNvSpPr>
            <a:spLocks noGrp="1"/>
          </p:cNvSpPr>
          <p:nvPr/>
        </p:nvSpPr>
        <p:spPr>
          <a:xfrm>
            <a:off x="2395728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6EC6278-0308-488D-BBF5-B66F4F343D4E}"/>
              </a:ext>
            </a:extLst>
          </p:cNvPr>
          <p:cNvSpPr>
            <a:spLocks noGrp="1"/>
          </p:cNvSpPr>
          <p:nvPr/>
        </p:nvSpPr>
        <p:spPr>
          <a:xfrm>
            <a:off x="2834640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419C271-4E62-4026-97D2-E5117CBA4295}"/>
              </a:ext>
            </a:extLst>
          </p:cNvPr>
          <p:cNvSpPr>
            <a:spLocks noGrp="1"/>
          </p:cNvSpPr>
          <p:nvPr/>
        </p:nvSpPr>
        <p:spPr>
          <a:xfrm>
            <a:off x="3273552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D1953BC-72F5-4870-8278-278CE710E5A2}"/>
              </a:ext>
            </a:extLst>
          </p:cNvPr>
          <p:cNvSpPr>
            <a:spLocks noGrp="1"/>
          </p:cNvSpPr>
          <p:nvPr/>
        </p:nvSpPr>
        <p:spPr>
          <a:xfrm>
            <a:off x="3712464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864AD88-387F-4B7F-90C8-7D632BCE3CD2}"/>
              </a:ext>
            </a:extLst>
          </p:cNvPr>
          <p:cNvSpPr>
            <a:spLocks noGrp="1"/>
          </p:cNvSpPr>
          <p:nvPr/>
        </p:nvSpPr>
        <p:spPr>
          <a:xfrm>
            <a:off x="4151376" y="159105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2E957C-10D3-42FA-8017-1E3500D3700A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7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B3AC0CB-D502-4B6F-BB2D-88011F86DF46}"/>
              </a:ext>
            </a:extLst>
          </p:cNvPr>
          <p:cNvSpPr>
            <a:spLocks noGrp="1"/>
          </p:cNvSpPr>
          <p:nvPr/>
        </p:nvSpPr>
        <p:spPr>
          <a:xfrm>
            <a:off x="1078992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F0E725C-3862-4A88-A7CD-8D440BB30F77}"/>
              </a:ext>
            </a:extLst>
          </p:cNvPr>
          <p:cNvSpPr>
            <a:spLocks noGrp="1"/>
          </p:cNvSpPr>
          <p:nvPr/>
        </p:nvSpPr>
        <p:spPr>
          <a:xfrm>
            <a:off x="1517904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86B81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320C4EE-C39A-4BBD-B34F-E1A706E9BEC4}"/>
              </a:ext>
            </a:extLst>
          </p:cNvPr>
          <p:cNvSpPr>
            <a:spLocks noGrp="1"/>
          </p:cNvSpPr>
          <p:nvPr/>
        </p:nvSpPr>
        <p:spPr>
          <a:xfrm>
            <a:off x="1517904" y="1920240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8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498AC8C-D953-4773-9E23-7498981491BB}"/>
              </a:ext>
            </a:extLst>
          </p:cNvPr>
          <p:cNvSpPr>
            <a:spLocks noGrp="1"/>
          </p:cNvSpPr>
          <p:nvPr/>
        </p:nvSpPr>
        <p:spPr>
          <a:xfrm>
            <a:off x="1956816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E8209A0-8A17-4877-8FE7-3A8470FB6EDC}"/>
              </a:ext>
            </a:extLst>
          </p:cNvPr>
          <p:cNvSpPr>
            <a:spLocks noGrp="1"/>
          </p:cNvSpPr>
          <p:nvPr/>
        </p:nvSpPr>
        <p:spPr>
          <a:xfrm>
            <a:off x="2395728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DFD119B-CC9E-4AD3-8270-3D5E19D0502D}"/>
              </a:ext>
            </a:extLst>
          </p:cNvPr>
          <p:cNvSpPr>
            <a:spLocks noGrp="1"/>
          </p:cNvSpPr>
          <p:nvPr/>
        </p:nvSpPr>
        <p:spPr>
          <a:xfrm>
            <a:off x="2834640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3181573-B14E-48E1-B855-F006FF391ADA}"/>
              </a:ext>
            </a:extLst>
          </p:cNvPr>
          <p:cNvSpPr>
            <a:spLocks noGrp="1"/>
          </p:cNvSpPr>
          <p:nvPr/>
        </p:nvSpPr>
        <p:spPr>
          <a:xfrm>
            <a:off x="3273552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E8F0F2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C248780-20D1-4F79-9B99-11D1E1D786A7}"/>
              </a:ext>
            </a:extLst>
          </p:cNvPr>
          <p:cNvSpPr>
            <a:spLocks noGrp="1"/>
          </p:cNvSpPr>
          <p:nvPr/>
        </p:nvSpPr>
        <p:spPr>
          <a:xfrm>
            <a:off x="3273552" y="1920240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8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5540CB3-6A9D-4260-925B-70C3E0B0BC67}"/>
              </a:ext>
            </a:extLst>
          </p:cNvPr>
          <p:cNvSpPr>
            <a:spLocks noGrp="1"/>
          </p:cNvSpPr>
          <p:nvPr/>
        </p:nvSpPr>
        <p:spPr>
          <a:xfrm>
            <a:off x="3712464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982123F-5E68-401E-A9F0-6650F8077559}"/>
              </a:ext>
            </a:extLst>
          </p:cNvPr>
          <p:cNvSpPr>
            <a:spLocks noGrp="1"/>
          </p:cNvSpPr>
          <p:nvPr/>
        </p:nvSpPr>
        <p:spPr>
          <a:xfrm>
            <a:off x="4151376" y="192024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54082E2-B47E-4182-9B60-3B54465B5ECD}"/>
              </a:ext>
            </a:extLst>
          </p:cNvPr>
          <p:cNvSpPr>
            <a:spLocks noGrp="1"/>
          </p:cNvSpPr>
          <p:nvPr/>
        </p:nvSpPr>
        <p:spPr>
          <a:xfrm>
            <a:off x="640080" y="2249424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75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C6BA3C0-A098-44F1-9E7B-B560F842BC46}"/>
              </a:ext>
            </a:extLst>
          </p:cNvPr>
          <p:cNvSpPr>
            <a:spLocks noGrp="1"/>
          </p:cNvSpPr>
          <p:nvPr/>
        </p:nvSpPr>
        <p:spPr>
          <a:xfrm>
            <a:off x="1078992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F5D8A63-CBE1-470F-9954-052DC1DEB86F}"/>
              </a:ext>
            </a:extLst>
          </p:cNvPr>
          <p:cNvSpPr>
            <a:spLocks noGrp="1"/>
          </p:cNvSpPr>
          <p:nvPr/>
        </p:nvSpPr>
        <p:spPr>
          <a:xfrm>
            <a:off x="1517904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587554E-EC0C-49A7-9160-C551ED40BA8B}"/>
              </a:ext>
            </a:extLst>
          </p:cNvPr>
          <p:cNvSpPr>
            <a:spLocks noGrp="1"/>
          </p:cNvSpPr>
          <p:nvPr/>
        </p:nvSpPr>
        <p:spPr>
          <a:xfrm>
            <a:off x="1956816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86B81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47A126E-B158-43D4-98CD-2ABD98BDC89C}"/>
              </a:ext>
            </a:extLst>
          </p:cNvPr>
          <p:cNvSpPr>
            <a:spLocks noGrp="1"/>
          </p:cNvSpPr>
          <p:nvPr/>
        </p:nvSpPr>
        <p:spPr>
          <a:xfrm>
            <a:off x="1956816" y="2249424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8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15A26AD-F8EA-408F-B633-D7A4BF3888AB}"/>
              </a:ext>
            </a:extLst>
          </p:cNvPr>
          <p:cNvSpPr>
            <a:spLocks noGrp="1"/>
          </p:cNvSpPr>
          <p:nvPr/>
        </p:nvSpPr>
        <p:spPr>
          <a:xfrm>
            <a:off x="2395728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21C4503-7640-4F98-9BA4-471B51309A58}"/>
              </a:ext>
            </a:extLst>
          </p:cNvPr>
          <p:cNvSpPr>
            <a:spLocks noGrp="1"/>
          </p:cNvSpPr>
          <p:nvPr/>
        </p:nvSpPr>
        <p:spPr>
          <a:xfrm>
            <a:off x="2834640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8DD37AB-FC24-488D-9DDC-20AB46069CDE}"/>
              </a:ext>
            </a:extLst>
          </p:cNvPr>
          <p:cNvSpPr>
            <a:spLocks noGrp="1"/>
          </p:cNvSpPr>
          <p:nvPr/>
        </p:nvSpPr>
        <p:spPr>
          <a:xfrm>
            <a:off x="3273552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2F510E2-AB72-4F2C-8E6D-97A207EFE551}"/>
              </a:ext>
            </a:extLst>
          </p:cNvPr>
          <p:cNvSpPr>
            <a:spLocks noGrp="1"/>
          </p:cNvSpPr>
          <p:nvPr/>
        </p:nvSpPr>
        <p:spPr>
          <a:xfrm>
            <a:off x="3712464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E8F0F2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770DE94-7A33-4898-B100-8D22BBF72AE1}"/>
              </a:ext>
            </a:extLst>
          </p:cNvPr>
          <p:cNvSpPr>
            <a:spLocks noGrp="1"/>
          </p:cNvSpPr>
          <p:nvPr/>
        </p:nvSpPr>
        <p:spPr>
          <a:xfrm>
            <a:off x="3712464" y="2249424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8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A5F8A96-B02C-4E21-917D-00E2E30BEF32}"/>
              </a:ext>
            </a:extLst>
          </p:cNvPr>
          <p:cNvSpPr>
            <a:spLocks noGrp="1"/>
          </p:cNvSpPr>
          <p:nvPr/>
        </p:nvSpPr>
        <p:spPr>
          <a:xfrm>
            <a:off x="4151376" y="224942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A38C2BB-C3E9-4881-8B93-B17CF282EFDA}"/>
              </a:ext>
            </a:extLst>
          </p:cNvPr>
          <p:cNvSpPr>
            <a:spLocks noGrp="1"/>
          </p:cNvSpPr>
          <p:nvPr/>
        </p:nvSpPr>
        <p:spPr>
          <a:xfrm>
            <a:off x="640080" y="2578608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75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579410E-A740-47C0-9582-E823E45F387F}"/>
              </a:ext>
            </a:extLst>
          </p:cNvPr>
          <p:cNvSpPr>
            <a:spLocks noGrp="1"/>
          </p:cNvSpPr>
          <p:nvPr/>
        </p:nvSpPr>
        <p:spPr>
          <a:xfrm>
            <a:off x="1078992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63CC2DF-FF02-4BA3-AE3C-FCC02FBF28E7}"/>
              </a:ext>
            </a:extLst>
          </p:cNvPr>
          <p:cNvSpPr>
            <a:spLocks noGrp="1"/>
          </p:cNvSpPr>
          <p:nvPr/>
        </p:nvSpPr>
        <p:spPr>
          <a:xfrm>
            <a:off x="1517904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9DEB6A6-2F0E-411A-B66D-C873B2CF96B2}"/>
              </a:ext>
            </a:extLst>
          </p:cNvPr>
          <p:cNvSpPr>
            <a:spLocks noGrp="1"/>
          </p:cNvSpPr>
          <p:nvPr/>
        </p:nvSpPr>
        <p:spPr>
          <a:xfrm>
            <a:off x="1956816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E8F0F2"/>
          </a:solidFill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727B5E1-1CC8-4EDE-AD03-AADBC3A3D8D0}"/>
              </a:ext>
            </a:extLst>
          </p:cNvPr>
          <p:cNvSpPr>
            <a:spLocks noGrp="1"/>
          </p:cNvSpPr>
          <p:nvPr/>
        </p:nvSpPr>
        <p:spPr>
          <a:xfrm>
            <a:off x="1956816" y="257860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80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1542AF4-86A2-479F-884D-83C8DE145587}"/>
              </a:ext>
            </a:extLst>
          </p:cNvPr>
          <p:cNvSpPr>
            <a:spLocks noGrp="1"/>
          </p:cNvSpPr>
          <p:nvPr/>
        </p:nvSpPr>
        <p:spPr>
          <a:xfrm>
            <a:off x="2395728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86B81"/>
          </a:solidFill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D9E6CD7-577F-4BF8-AD5D-E552E45011C9}"/>
              </a:ext>
            </a:extLst>
          </p:cNvPr>
          <p:cNvSpPr>
            <a:spLocks noGrp="1"/>
          </p:cNvSpPr>
          <p:nvPr/>
        </p:nvSpPr>
        <p:spPr>
          <a:xfrm>
            <a:off x="2395728" y="257860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8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2D91D853-C0FB-4296-A728-872C2287939A}"/>
              </a:ext>
            </a:extLst>
          </p:cNvPr>
          <p:cNvSpPr>
            <a:spLocks noGrp="1"/>
          </p:cNvSpPr>
          <p:nvPr/>
        </p:nvSpPr>
        <p:spPr>
          <a:xfrm>
            <a:off x="2834640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98F00BB-18C3-4BEE-A580-08AE9D6B1A37}"/>
              </a:ext>
            </a:extLst>
          </p:cNvPr>
          <p:cNvSpPr>
            <a:spLocks noGrp="1"/>
          </p:cNvSpPr>
          <p:nvPr/>
        </p:nvSpPr>
        <p:spPr>
          <a:xfrm>
            <a:off x="3273552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76CCC1B-6C86-4C24-8967-1EEC928A5DCD}"/>
              </a:ext>
            </a:extLst>
          </p:cNvPr>
          <p:cNvSpPr>
            <a:spLocks noGrp="1"/>
          </p:cNvSpPr>
          <p:nvPr/>
        </p:nvSpPr>
        <p:spPr>
          <a:xfrm>
            <a:off x="3712464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07D8F7C2-D7BC-42A4-9327-D00BED41CDCE}"/>
              </a:ext>
            </a:extLst>
          </p:cNvPr>
          <p:cNvSpPr>
            <a:spLocks noGrp="1"/>
          </p:cNvSpPr>
          <p:nvPr/>
        </p:nvSpPr>
        <p:spPr>
          <a:xfrm>
            <a:off x="4151376" y="2578608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56A29CC-3370-4737-8E92-8037EBDD8358}"/>
              </a:ext>
            </a:extLst>
          </p:cNvPr>
          <p:cNvSpPr>
            <a:spLocks noGrp="1"/>
          </p:cNvSpPr>
          <p:nvPr/>
        </p:nvSpPr>
        <p:spPr>
          <a:xfrm>
            <a:off x="640080" y="290779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75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D339969-8A22-4B6F-AB88-544166E3D984}"/>
              </a:ext>
            </a:extLst>
          </p:cNvPr>
          <p:cNvSpPr>
            <a:spLocks noGrp="1"/>
          </p:cNvSpPr>
          <p:nvPr/>
        </p:nvSpPr>
        <p:spPr>
          <a:xfrm>
            <a:off x="1078992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E8F0F2"/>
          </a:solidFill>
        </p:spPr>
        <p:txBody>
          <a:bodyPr/>
          <a:lstStyle/>
          <a:p>
            <a:endParaRPr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693A54D-1FEF-4E3C-8325-A606130D6EBB}"/>
              </a:ext>
            </a:extLst>
          </p:cNvPr>
          <p:cNvSpPr>
            <a:spLocks noGrp="1"/>
          </p:cNvSpPr>
          <p:nvPr/>
        </p:nvSpPr>
        <p:spPr>
          <a:xfrm>
            <a:off x="1078992" y="290779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80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D44EE08-AC96-489C-8403-5A291701F913}"/>
              </a:ext>
            </a:extLst>
          </p:cNvPr>
          <p:cNvSpPr>
            <a:spLocks noGrp="1"/>
          </p:cNvSpPr>
          <p:nvPr/>
        </p:nvSpPr>
        <p:spPr>
          <a:xfrm>
            <a:off x="1517904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E8F0F2"/>
          </a:solidFill>
        </p:spPr>
        <p:txBody>
          <a:bodyPr/>
          <a:lstStyle/>
          <a:p>
            <a:endParaRPr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D1048A6-793D-46B3-8755-89357588D4C9}"/>
              </a:ext>
            </a:extLst>
          </p:cNvPr>
          <p:cNvSpPr>
            <a:spLocks noGrp="1"/>
          </p:cNvSpPr>
          <p:nvPr/>
        </p:nvSpPr>
        <p:spPr>
          <a:xfrm>
            <a:off x="1517904" y="290779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80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76D94E9-42FE-4141-8EBB-649066E2E00A}"/>
              </a:ext>
            </a:extLst>
          </p:cNvPr>
          <p:cNvSpPr>
            <a:spLocks noGrp="1"/>
          </p:cNvSpPr>
          <p:nvPr/>
        </p:nvSpPr>
        <p:spPr>
          <a:xfrm>
            <a:off x="1956816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6EAC301-6707-4442-93AD-228AD0562F82}"/>
              </a:ext>
            </a:extLst>
          </p:cNvPr>
          <p:cNvSpPr>
            <a:spLocks noGrp="1"/>
          </p:cNvSpPr>
          <p:nvPr/>
        </p:nvSpPr>
        <p:spPr>
          <a:xfrm>
            <a:off x="2395728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4359854E-CE39-47AC-B2F5-9E1B37181D53}"/>
              </a:ext>
            </a:extLst>
          </p:cNvPr>
          <p:cNvSpPr>
            <a:spLocks noGrp="1"/>
          </p:cNvSpPr>
          <p:nvPr/>
        </p:nvSpPr>
        <p:spPr>
          <a:xfrm>
            <a:off x="2834640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B6D82"/>
          </a:solidFill>
        </p:spPr>
        <p:txBody>
          <a:bodyPr/>
          <a:lstStyle/>
          <a:p>
            <a:endParaRPr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29958B9-E453-40BB-B534-5FD2A12C83BB}"/>
              </a:ext>
            </a:extLst>
          </p:cNvPr>
          <p:cNvSpPr>
            <a:spLocks noGrp="1"/>
          </p:cNvSpPr>
          <p:nvPr/>
        </p:nvSpPr>
        <p:spPr>
          <a:xfrm>
            <a:off x="2834640" y="290779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80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A229D296-003A-4A55-80C9-4D424707A6A6}"/>
              </a:ext>
            </a:extLst>
          </p:cNvPr>
          <p:cNvSpPr>
            <a:spLocks noGrp="1"/>
          </p:cNvSpPr>
          <p:nvPr/>
        </p:nvSpPr>
        <p:spPr>
          <a:xfrm>
            <a:off x="3273552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FEBD2A8-D48F-47C2-A3D1-E9681F89E01A}"/>
              </a:ext>
            </a:extLst>
          </p:cNvPr>
          <p:cNvSpPr>
            <a:spLocks noGrp="1"/>
          </p:cNvSpPr>
          <p:nvPr/>
        </p:nvSpPr>
        <p:spPr>
          <a:xfrm>
            <a:off x="3712464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D93A7C8-5619-4FDB-A87F-25D8506AE318}"/>
              </a:ext>
            </a:extLst>
          </p:cNvPr>
          <p:cNvSpPr>
            <a:spLocks noGrp="1"/>
          </p:cNvSpPr>
          <p:nvPr/>
        </p:nvSpPr>
        <p:spPr>
          <a:xfrm>
            <a:off x="4151376" y="2907792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8CEE9080-6576-4A3C-ACB7-401FEF4E229D}"/>
              </a:ext>
            </a:extLst>
          </p:cNvPr>
          <p:cNvSpPr>
            <a:spLocks noGrp="1"/>
          </p:cNvSpPr>
          <p:nvPr/>
        </p:nvSpPr>
        <p:spPr>
          <a:xfrm>
            <a:off x="640080" y="3236976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75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9D8C616-F6B2-4ABE-9049-4219F115E5A2}"/>
              </a:ext>
            </a:extLst>
          </p:cNvPr>
          <p:cNvSpPr>
            <a:spLocks noGrp="1"/>
          </p:cNvSpPr>
          <p:nvPr/>
        </p:nvSpPr>
        <p:spPr>
          <a:xfrm>
            <a:off x="1078992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C8F9B5B1-7A16-40C4-913F-0037FD3E2F35}"/>
              </a:ext>
            </a:extLst>
          </p:cNvPr>
          <p:cNvSpPr>
            <a:spLocks noGrp="1"/>
          </p:cNvSpPr>
          <p:nvPr/>
        </p:nvSpPr>
        <p:spPr>
          <a:xfrm>
            <a:off x="1517904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35691779-9F0C-4A0C-9424-7B657E28F7F7}"/>
              </a:ext>
            </a:extLst>
          </p:cNvPr>
          <p:cNvSpPr>
            <a:spLocks noGrp="1"/>
          </p:cNvSpPr>
          <p:nvPr/>
        </p:nvSpPr>
        <p:spPr>
          <a:xfrm>
            <a:off x="1956816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F00C7368-595E-45BB-BCA6-3A026E5D6E4A}"/>
              </a:ext>
            </a:extLst>
          </p:cNvPr>
          <p:cNvSpPr>
            <a:spLocks noGrp="1"/>
          </p:cNvSpPr>
          <p:nvPr/>
        </p:nvSpPr>
        <p:spPr>
          <a:xfrm>
            <a:off x="2395728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169B0DF9-A4FB-408B-A119-89B9A60319C0}"/>
              </a:ext>
            </a:extLst>
          </p:cNvPr>
          <p:cNvSpPr>
            <a:spLocks noGrp="1"/>
          </p:cNvSpPr>
          <p:nvPr/>
        </p:nvSpPr>
        <p:spPr>
          <a:xfrm>
            <a:off x="2834640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CED0C65E-A3F2-48CA-9D5C-854FABA99CD6}"/>
              </a:ext>
            </a:extLst>
          </p:cNvPr>
          <p:cNvSpPr>
            <a:spLocks noGrp="1"/>
          </p:cNvSpPr>
          <p:nvPr/>
        </p:nvSpPr>
        <p:spPr>
          <a:xfrm>
            <a:off x="3273552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5697F"/>
          </a:solidFill>
        </p:spPr>
        <p:txBody>
          <a:bodyPr/>
          <a:lstStyle/>
          <a:p>
            <a:endParaRPr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AF38B8B-6C90-47C1-93F6-CF6D880982D3}"/>
              </a:ext>
            </a:extLst>
          </p:cNvPr>
          <p:cNvSpPr>
            <a:spLocks noGrp="1"/>
          </p:cNvSpPr>
          <p:nvPr/>
        </p:nvSpPr>
        <p:spPr>
          <a:xfrm>
            <a:off x="3273552" y="323697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48</a:t>
            </a:r>
            <a:endParaRPr sz="80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593E9816-3121-412F-8622-B5DB4281B6C0}"/>
              </a:ext>
            </a:extLst>
          </p:cNvPr>
          <p:cNvSpPr>
            <a:spLocks noGrp="1"/>
          </p:cNvSpPr>
          <p:nvPr/>
        </p:nvSpPr>
        <p:spPr>
          <a:xfrm>
            <a:off x="3712464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F899E9B7-554C-4BC7-BD4A-E43DF2573362}"/>
              </a:ext>
            </a:extLst>
          </p:cNvPr>
          <p:cNvSpPr>
            <a:spLocks noGrp="1"/>
          </p:cNvSpPr>
          <p:nvPr/>
        </p:nvSpPr>
        <p:spPr>
          <a:xfrm>
            <a:off x="4151376" y="3236976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FAF1662E-D86E-44DA-A2E2-8A2D79EACA0C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75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79F2398B-16DA-4FE6-BEE0-DA16D7FE58D1}"/>
              </a:ext>
            </a:extLst>
          </p:cNvPr>
          <p:cNvSpPr>
            <a:spLocks noGrp="1"/>
          </p:cNvSpPr>
          <p:nvPr/>
        </p:nvSpPr>
        <p:spPr>
          <a:xfrm>
            <a:off x="1078992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73673C2E-6B39-48D9-8229-1D7D8B497A72}"/>
              </a:ext>
            </a:extLst>
          </p:cNvPr>
          <p:cNvSpPr>
            <a:spLocks noGrp="1"/>
          </p:cNvSpPr>
          <p:nvPr/>
        </p:nvSpPr>
        <p:spPr>
          <a:xfrm>
            <a:off x="1517904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D7B95BA4-C709-44A4-BA37-916579FED00D}"/>
              </a:ext>
            </a:extLst>
          </p:cNvPr>
          <p:cNvSpPr>
            <a:spLocks noGrp="1"/>
          </p:cNvSpPr>
          <p:nvPr/>
        </p:nvSpPr>
        <p:spPr>
          <a:xfrm>
            <a:off x="1956816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BCD4DA"/>
          </a:solidFill>
        </p:spPr>
        <p:txBody>
          <a:bodyPr/>
          <a:lstStyle/>
          <a:p>
            <a:endParaRPr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1A563372-9F0B-4260-8505-1356F10CDDAA}"/>
              </a:ext>
            </a:extLst>
          </p:cNvPr>
          <p:cNvSpPr>
            <a:spLocks noGrp="1"/>
          </p:cNvSpPr>
          <p:nvPr/>
        </p:nvSpPr>
        <p:spPr>
          <a:xfrm>
            <a:off x="1956816" y="3566160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6</a:t>
            </a:r>
            <a:endParaRPr sz="80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559012ED-FF33-44FF-A9C0-F107B8ADB456}"/>
              </a:ext>
            </a:extLst>
          </p:cNvPr>
          <p:cNvSpPr>
            <a:spLocks noGrp="1"/>
          </p:cNvSpPr>
          <p:nvPr/>
        </p:nvSpPr>
        <p:spPr>
          <a:xfrm>
            <a:off x="2395728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1212C4D2-99B1-48FF-A402-3E721FEEF631}"/>
              </a:ext>
            </a:extLst>
          </p:cNvPr>
          <p:cNvSpPr>
            <a:spLocks noGrp="1"/>
          </p:cNvSpPr>
          <p:nvPr/>
        </p:nvSpPr>
        <p:spPr>
          <a:xfrm>
            <a:off x="2834640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6687ABB1-975C-4408-BAB2-B730BC247861}"/>
              </a:ext>
            </a:extLst>
          </p:cNvPr>
          <p:cNvSpPr>
            <a:spLocks noGrp="1"/>
          </p:cNvSpPr>
          <p:nvPr/>
        </p:nvSpPr>
        <p:spPr>
          <a:xfrm>
            <a:off x="3273552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E3803DD8-911D-4D16-9FB1-A0C359696F28}"/>
              </a:ext>
            </a:extLst>
          </p:cNvPr>
          <p:cNvSpPr>
            <a:spLocks noGrp="1"/>
          </p:cNvSpPr>
          <p:nvPr/>
        </p:nvSpPr>
        <p:spPr>
          <a:xfrm>
            <a:off x="3712464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277589"/>
          </a:solidFill>
        </p:spPr>
        <p:txBody>
          <a:bodyPr/>
          <a:lstStyle/>
          <a:p>
            <a:endParaRPr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67B8525E-C4DA-49AD-8A2D-D2868ABC3CFC}"/>
              </a:ext>
            </a:extLst>
          </p:cNvPr>
          <p:cNvSpPr>
            <a:spLocks noGrp="1"/>
          </p:cNvSpPr>
          <p:nvPr/>
        </p:nvSpPr>
        <p:spPr>
          <a:xfrm>
            <a:off x="3712464" y="3566160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42</a:t>
            </a:r>
            <a:endParaRPr sz="80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356A797A-7885-4B87-991C-BF873E20E14A}"/>
              </a:ext>
            </a:extLst>
          </p:cNvPr>
          <p:cNvSpPr>
            <a:spLocks noGrp="1"/>
          </p:cNvSpPr>
          <p:nvPr/>
        </p:nvSpPr>
        <p:spPr>
          <a:xfrm>
            <a:off x="4151376" y="35661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DA6BF719-4B3B-4E95-8A98-2379451BC886}"/>
              </a:ext>
            </a:extLst>
          </p:cNvPr>
          <p:cNvSpPr>
            <a:spLocks noGrp="1"/>
          </p:cNvSpPr>
          <p:nvPr/>
        </p:nvSpPr>
        <p:spPr>
          <a:xfrm>
            <a:off x="640080" y="3895344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75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724C7376-1303-44BE-8BE2-61AEEB0E9AAB}"/>
              </a:ext>
            </a:extLst>
          </p:cNvPr>
          <p:cNvSpPr>
            <a:spLocks noGrp="1"/>
          </p:cNvSpPr>
          <p:nvPr/>
        </p:nvSpPr>
        <p:spPr>
          <a:xfrm>
            <a:off x="1078992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55C42768-7366-401D-8D51-451E68C1B73B}"/>
              </a:ext>
            </a:extLst>
          </p:cNvPr>
          <p:cNvSpPr>
            <a:spLocks noGrp="1"/>
          </p:cNvSpPr>
          <p:nvPr/>
        </p:nvSpPr>
        <p:spPr>
          <a:xfrm>
            <a:off x="1517904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5F102E82-40F6-4A89-AA0B-6102B52D8EF2}"/>
              </a:ext>
            </a:extLst>
          </p:cNvPr>
          <p:cNvSpPr>
            <a:spLocks noGrp="1"/>
          </p:cNvSpPr>
          <p:nvPr/>
        </p:nvSpPr>
        <p:spPr>
          <a:xfrm>
            <a:off x="1956816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4F87D5E2-E07E-4843-84F2-21220B869E97}"/>
              </a:ext>
            </a:extLst>
          </p:cNvPr>
          <p:cNvSpPr>
            <a:spLocks noGrp="1"/>
          </p:cNvSpPr>
          <p:nvPr/>
        </p:nvSpPr>
        <p:spPr>
          <a:xfrm>
            <a:off x="2395728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ED006226-5FCC-48E6-BCAB-B217E4FAE9DB}"/>
              </a:ext>
            </a:extLst>
          </p:cNvPr>
          <p:cNvSpPr>
            <a:spLocks noGrp="1"/>
          </p:cNvSpPr>
          <p:nvPr/>
        </p:nvSpPr>
        <p:spPr>
          <a:xfrm>
            <a:off x="2834640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C9767C0B-C0C5-4671-B650-71E790063427}"/>
              </a:ext>
            </a:extLst>
          </p:cNvPr>
          <p:cNvSpPr>
            <a:spLocks noGrp="1"/>
          </p:cNvSpPr>
          <p:nvPr/>
        </p:nvSpPr>
        <p:spPr>
          <a:xfrm>
            <a:off x="3273552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374D93F1-2DB7-4DD6-90E0-D8397FCE2D0D}"/>
              </a:ext>
            </a:extLst>
          </p:cNvPr>
          <p:cNvSpPr>
            <a:spLocks noGrp="1"/>
          </p:cNvSpPr>
          <p:nvPr/>
        </p:nvSpPr>
        <p:spPr>
          <a:xfrm>
            <a:off x="3712464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8D4F7093-9A81-4B6F-B650-CD885C573E5A}"/>
              </a:ext>
            </a:extLst>
          </p:cNvPr>
          <p:cNvSpPr>
            <a:spLocks noGrp="1"/>
          </p:cNvSpPr>
          <p:nvPr/>
        </p:nvSpPr>
        <p:spPr>
          <a:xfrm>
            <a:off x="4151376" y="3895344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5697F"/>
          </a:solidFill>
        </p:spPr>
        <p:txBody>
          <a:bodyPr/>
          <a:lstStyle/>
          <a:p>
            <a:endParaRPr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C7B3C29D-16FF-4549-B5AD-32E68F4CD0B5}"/>
              </a:ext>
            </a:extLst>
          </p:cNvPr>
          <p:cNvSpPr>
            <a:spLocks noGrp="1"/>
          </p:cNvSpPr>
          <p:nvPr/>
        </p:nvSpPr>
        <p:spPr>
          <a:xfrm>
            <a:off x="4151376" y="3895344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48</a:t>
            </a:r>
            <a:endParaRPr sz="80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85ABB142-EEDE-4D23-BE61-2963DC874C81}"/>
              </a:ext>
            </a:extLst>
          </p:cNvPr>
          <p:cNvSpPr>
            <a:spLocks noGrp="1"/>
          </p:cNvSpPr>
          <p:nvPr/>
        </p:nvSpPr>
        <p:spPr>
          <a:xfrm>
            <a:off x="1078992" y="4261104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예측 라벨</a:t>
            </a:r>
            <a:endParaRPr sz="90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0D3C27F2-7581-47A7-A0A1-87A0F86E4943}"/>
              </a:ext>
            </a:extLst>
          </p:cNvPr>
          <p:cNvSpPr>
            <a:spLocks noGrp="1"/>
          </p:cNvSpPr>
          <p:nvPr/>
        </p:nvSpPr>
        <p:spPr>
          <a:xfrm>
            <a:off x="4937760" y="1353312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31CCB955-1865-40FF-9805-9D66A37C324E}"/>
              </a:ext>
            </a:extLst>
          </p:cNvPr>
          <p:cNvSpPr>
            <a:spLocks noGrp="1"/>
          </p:cNvSpPr>
          <p:nvPr/>
        </p:nvSpPr>
        <p:spPr>
          <a:xfrm>
            <a:off x="5120640" y="1481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읽어내야 할 것</a:t>
            </a:r>
            <a:endParaRPr sz="120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CA309DC8-5898-4AAA-89BB-618FB9AD52CF}"/>
              </a:ext>
            </a:extLst>
          </p:cNvPr>
          <p:cNvSpPr>
            <a:spLocks noGrp="1"/>
          </p:cNvSpPr>
          <p:nvPr/>
        </p:nvSpPr>
        <p:spPr>
          <a:xfrm>
            <a:off x="5120640" y="1810512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30F=주먹, 30O=펴기, 30P=회내, 30S=회외 (30°)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평가에서 60O와 60S는 각각 48/48 정답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최대 오류: 60P → 30P 6건 (같은 회내, 다른 각도)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 → 30P 2건, 60F → 30F 1건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전체 오류 13건 중 같은 동작의 각도 혼동 8건</a:t>
            </a:r>
            <a:endParaRPr sz="100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6681ADE8-9BC9-4BF9-AC25-55E9D28743D7}"/>
              </a:ext>
            </a:extLst>
          </p:cNvPr>
          <p:cNvSpPr>
            <a:spLocks noGrp="1"/>
          </p:cNvSpPr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추가 확인: Fig. 5(a)는 371/384 = 96.61%로, Table 2의 RF 96.88%와 불일치한다. 원문 수치를 보존하였다.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92752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715D7D-7904-48AB-9176-AEE42C187781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오분류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036067-A4D8-4E16-9C69-4580DBC3F3C9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SVM과 XGBoost 혼동행렬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F3A79C-EA45-40E6-A74B-829BA8CFEFFF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Figure 5(b), (c) — 오분류 패턴 비교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FAF229-BC62-4FD5-A896-62D7A53BF5B7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46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EE7EEC-8B54-4E6F-B644-2363577912FC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SVM</a:t>
            </a:r>
            <a:endParaRPr sz="1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697D78-F881-417E-BB2C-5528453FDD3C}"/>
              </a:ext>
            </a:extLst>
          </p:cNvPr>
          <p:cNvSpPr>
            <a:spLocks noGrp="1"/>
          </p:cNvSpPr>
          <p:nvPr/>
        </p:nvSpPr>
        <p:spPr>
          <a:xfrm>
            <a:off x="104241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0D40C4-3C07-4A93-B7CA-AA14B65EA180}"/>
              </a:ext>
            </a:extLst>
          </p:cNvPr>
          <p:cNvSpPr>
            <a:spLocks noGrp="1"/>
          </p:cNvSpPr>
          <p:nvPr/>
        </p:nvSpPr>
        <p:spPr>
          <a:xfrm>
            <a:off x="1353312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5B3520-C161-412F-AD26-85048B02C754}"/>
              </a:ext>
            </a:extLst>
          </p:cNvPr>
          <p:cNvSpPr>
            <a:spLocks noGrp="1"/>
          </p:cNvSpPr>
          <p:nvPr/>
        </p:nvSpPr>
        <p:spPr>
          <a:xfrm>
            <a:off x="1664208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D88062-0263-4FA1-B884-F3745E62E21F}"/>
              </a:ext>
            </a:extLst>
          </p:cNvPr>
          <p:cNvSpPr>
            <a:spLocks noGrp="1"/>
          </p:cNvSpPr>
          <p:nvPr/>
        </p:nvSpPr>
        <p:spPr>
          <a:xfrm>
            <a:off x="1975104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941A8E-67B6-4A76-9DC7-307833E6D147}"/>
              </a:ext>
            </a:extLst>
          </p:cNvPr>
          <p:cNvSpPr>
            <a:spLocks noGrp="1"/>
          </p:cNvSpPr>
          <p:nvPr/>
        </p:nvSpPr>
        <p:spPr>
          <a:xfrm>
            <a:off x="2286000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40DAE7-48C9-4D3A-BCD0-6A79175BE923}"/>
              </a:ext>
            </a:extLst>
          </p:cNvPr>
          <p:cNvSpPr>
            <a:spLocks noGrp="1"/>
          </p:cNvSpPr>
          <p:nvPr/>
        </p:nvSpPr>
        <p:spPr>
          <a:xfrm>
            <a:off x="259689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B22523-6ADB-4371-B2A7-B49DB8F830E2}"/>
              </a:ext>
            </a:extLst>
          </p:cNvPr>
          <p:cNvSpPr>
            <a:spLocks noGrp="1"/>
          </p:cNvSpPr>
          <p:nvPr/>
        </p:nvSpPr>
        <p:spPr>
          <a:xfrm>
            <a:off x="2907792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A94971F-0C72-458D-BCB6-404BF1DB181E}"/>
              </a:ext>
            </a:extLst>
          </p:cNvPr>
          <p:cNvSpPr>
            <a:spLocks noGrp="1"/>
          </p:cNvSpPr>
          <p:nvPr/>
        </p:nvSpPr>
        <p:spPr>
          <a:xfrm>
            <a:off x="3218688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CEC0C5C-EB84-4F59-A18A-973443E0847A}"/>
              </a:ext>
            </a:extLst>
          </p:cNvPr>
          <p:cNvSpPr>
            <a:spLocks noGrp="1"/>
          </p:cNvSpPr>
          <p:nvPr/>
        </p:nvSpPr>
        <p:spPr>
          <a:xfrm>
            <a:off x="731520" y="165506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6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F25FE3B-158B-451E-8028-CB41C91C4E2F}"/>
              </a:ext>
            </a:extLst>
          </p:cNvPr>
          <p:cNvSpPr>
            <a:spLocks noGrp="1"/>
          </p:cNvSpPr>
          <p:nvPr/>
        </p:nvSpPr>
        <p:spPr>
          <a:xfrm>
            <a:off x="1042416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66720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ABCFFEF-095E-4184-A60B-4FF748FBEEB3}"/>
              </a:ext>
            </a:extLst>
          </p:cNvPr>
          <p:cNvSpPr>
            <a:spLocks noGrp="1"/>
          </p:cNvSpPr>
          <p:nvPr/>
        </p:nvSpPr>
        <p:spPr>
          <a:xfrm>
            <a:off x="1042416" y="16550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6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294E95C-EEE7-4528-8C9A-C39DA7A6B9FD}"/>
              </a:ext>
            </a:extLst>
          </p:cNvPr>
          <p:cNvSpPr>
            <a:spLocks noGrp="1"/>
          </p:cNvSpPr>
          <p:nvPr/>
        </p:nvSpPr>
        <p:spPr>
          <a:xfrm>
            <a:off x="1353312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1491A47-3680-48D6-97CA-3B815EB23156}"/>
              </a:ext>
            </a:extLst>
          </p:cNvPr>
          <p:cNvSpPr>
            <a:spLocks noGrp="1"/>
          </p:cNvSpPr>
          <p:nvPr/>
        </p:nvSpPr>
        <p:spPr>
          <a:xfrm>
            <a:off x="1664208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5651A58-27E9-41B5-89B3-E0B9082681F1}"/>
              </a:ext>
            </a:extLst>
          </p:cNvPr>
          <p:cNvSpPr>
            <a:spLocks noGrp="1"/>
          </p:cNvSpPr>
          <p:nvPr/>
        </p:nvSpPr>
        <p:spPr>
          <a:xfrm>
            <a:off x="1664208" y="16550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423D431-1894-4635-A71F-0D3FB8F963E0}"/>
              </a:ext>
            </a:extLst>
          </p:cNvPr>
          <p:cNvSpPr>
            <a:spLocks noGrp="1"/>
          </p:cNvSpPr>
          <p:nvPr/>
        </p:nvSpPr>
        <p:spPr>
          <a:xfrm>
            <a:off x="1975104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9061CA9-4EF9-44D8-8E37-846D0822BD08}"/>
              </a:ext>
            </a:extLst>
          </p:cNvPr>
          <p:cNvSpPr>
            <a:spLocks noGrp="1"/>
          </p:cNvSpPr>
          <p:nvPr/>
        </p:nvSpPr>
        <p:spPr>
          <a:xfrm>
            <a:off x="2286000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5ED772D-1F88-4D85-B419-C0678A6EA495}"/>
              </a:ext>
            </a:extLst>
          </p:cNvPr>
          <p:cNvSpPr>
            <a:spLocks noGrp="1"/>
          </p:cNvSpPr>
          <p:nvPr/>
        </p:nvSpPr>
        <p:spPr>
          <a:xfrm>
            <a:off x="2596896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F1CF2C1-3621-4C7D-A4C7-3D9B15F5A72B}"/>
              </a:ext>
            </a:extLst>
          </p:cNvPr>
          <p:cNvSpPr>
            <a:spLocks noGrp="1"/>
          </p:cNvSpPr>
          <p:nvPr/>
        </p:nvSpPr>
        <p:spPr>
          <a:xfrm>
            <a:off x="2907792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CECA6E9-7430-4A71-BA76-2646355CE394}"/>
              </a:ext>
            </a:extLst>
          </p:cNvPr>
          <p:cNvSpPr>
            <a:spLocks noGrp="1"/>
          </p:cNvSpPr>
          <p:nvPr/>
        </p:nvSpPr>
        <p:spPr>
          <a:xfrm>
            <a:off x="2907792" y="16550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F5CD425-05A6-4DD8-B2B7-A24CE41BCB4D}"/>
              </a:ext>
            </a:extLst>
          </p:cNvPr>
          <p:cNvSpPr>
            <a:spLocks noGrp="1"/>
          </p:cNvSpPr>
          <p:nvPr/>
        </p:nvSpPr>
        <p:spPr>
          <a:xfrm>
            <a:off x="3218688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A4036B3-6E06-41AF-9FEA-151A40C80B00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6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F123919-F89B-465C-BB84-5998D10062ED}"/>
              </a:ext>
            </a:extLst>
          </p:cNvPr>
          <p:cNvSpPr>
            <a:spLocks noGrp="1"/>
          </p:cNvSpPr>
          <p:nvPr/>
        </p:nvSpPr>
        <p:spPr>
          <a:xfrm>
            <a:off x="1042416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870B92C-2DE0-41CC-847E-A6E162C96B36}"/>
              </a:ext>
            </a:extLst>
          </p:cNvPr>
          <p:cNvSpPr>
            <a:spLocks noGrp="1"/>
          </p:cNvSpPr>
          <p:nvPr/>
        </p:nvSpPr>
        <p:spPr>
          <a:xfrm>
            <a:off x="1353312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5651D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9A60E55-55B7-40BC-ACCD-34E8EFA3329C}"/>
              </a:ext>
            </a:extLst>
          </p:cNvPr>
          <p:cNvSpPr>
            <a:spLocks noGrp="1"/>
          </p:cNvSpPr>
          <p:nvPr/>
        </p:nvSpPr>
        <p:spPr>
          <a:xfrm>
            <a:off x="1353312" y="189280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6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BB5B863-DA24-422A-8677-F053FBBB978B}"/>
              </a:ext>
            </a:extLst>
          </p:cNvPr>
          <p:cNvSpPr>
            <a:spLocks noGrp="1"/>
          </p:cNvSpPr>
          <p:nvPr/>
        </p:nvSpPr>
        <p:spPr>
          <a:xfrm>
            <a:off x="1664208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7AD9A7C-ECB6-49DC-8EDB-3618CE512976}"/>
              </a:ext>
            </a:extLst>
          </p:cNvPr>
          <p:cNvSpPr>
            <a:spLocks noGrp="1"/>
          </p:cNvSpPr>
          <p:nvPr/>
        </p:nvSpPr>
        <p:spPr>
          <a:xfrm>
            <a:off x="1975104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92FEFCB-7888-4D23-99AA-20CBBED485AD}"/>
              </a:ext>
            </a:extLst>
          </p:cNvPr>
          <p:cNvSpPr>
            <a:spLocks noGrp="1"/>
          </p:cNvSpPr>
          <p:nvPr/>
        </p:nvSpPr>
        <p:spPr>
          <a:xfrm>
            <a:off x="2286000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D61B54A-6063-49CE-ADFE-CA9A872DF09C}"/>
              </a:ext>
            </a:extLst>
          </p:cNvPr>
          <p:cNvSpPr>
            <a:spLocks noGrp="1"/>
          </p:cNvSpPr>
          <p:nvPr/>
        </p:nvSpPr>
        <p:spPr>
          <a:xfrm>
            <a:off x="2596896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411CC5C-2254-48C9-84D9-99885E9D19E5}"/>
              </a:ext>
            </a:extLst>
          </p:cNvPr>
          <p:cNvSpPr>
            <a:spLocks noGrp="1"/>
          </p:cNvSpPr>
          <p:nvPr/>
        </p:nvSpPr>
        <p:spPr>
          <a:xfrm>
            <a:off x="2596896" y="189280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B1B72D6-CC73-41C7-9CFE-99C46EDF4480}"/>
              </a:ext>
            </a:extLst>
          </p:cNvPr>
          <p:cNvSpPr>
            <a:spLocks noGrp="1"/>
          </p:cNvSpPr>
          <p:nvPr/>
        </p:nvSpPr>
        <p:spPr>
          <a:xfrm>
            <a:off x="2907792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D7BE8A6-253E-4FB0-A568-876B3B5BDB92}"/>
              </a:ext>
            </a:extLst>
          </p:cNvPr>
          <p:cNvSpPr>
            <a:spLocks noGrp="1"/>
          </p:cNvSpPr>
          <p:nvPr/>
        </p:nvSpPr>
        <p:spPr>
          <a:xfrm>
            <a:off x="3218688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EE17E67-4D1D-4984-9A1E-28580158BA15}"/>
              </a:ext>
            </a:extLst>
          </p:cNvPr>
          <p:cNvSpPr>
            <a:spLocks noGrp="1"/>
          </p:cNvSpPr>
          <p:nvPr/>
        </p:nvSpPr>
        <p:spPr>
          <a:xfrm>
            <a:off x="731520" y="213055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6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D9E2AD-C496-45F1-B16A-7A6F3A1782A0}"/>
              </a:ext>
            </a:extLst>
          </p:cNvPr>
          <p:cNvSpPr>
            <a:spLocks noGrp="1"/>
          </p:cNvSpPr>
          <p:nvPr/>
        </p:nvSpPr>
        <p:spPr>
          <a:xfrm>
            <a:off x="1042416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4E8DD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DC9786E-4E7E-4ABA-9C34-3B6AD46B2962}"/>
              </a:ext>
            </a:extLst>
          </p:cNvPr>
          <p:cNvSpPr>
            <a:spLocks noGrp="1"/>
          </p:cNvSpPr>
          <p:nvPr/>
        </p:nvSpPr>
        <p:spPr>
          <a:xfrm>
            <a:off x="1042416" y="213055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2</a:t>
            </a:r>
            <a:endParaRPr sz="65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D7ED9DD-F345-4BFF-8B09-EC0B041D77CC}"/>
              </a:ext>
            </a:extLst>
          </p:cNvPr>
          <p:cNvSpPr>
            <a:spLocks noGrp="1"/>
          </p:cNvSpPr>
          <p:nvPr/>
        </p:nvSpPr>
        <p:spPr>
          <a:xfrm>
            <a:off x="1353312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9DF40F5-0089-45AB-9CF4-709CDEF54231}"/>
              </a:ext>
            </a:extLst>
          </p:cNvPr>
          <p:cNvSpPr>
            <a:spLocks noGrp="1"/>
          </p:cNvSpPr>
          <p:nvPr/>
        </p:nvSpPr>
        <p:spPr>
          <a:xfrm>
            <a:off x="1664208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66720"/>
          </a:solidFill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FE387DC-5D25-4A8E-8EB1-496557C650B4}"/>
              </a:ext>
            </a:extLst>
          </p:cNvPr>
          <p:cNvSpPr>
            <a:spLocks noGrp="1"/>
          </p:cNvSpPr>
          <p:nvPr/>
        </p:nvSpPr>
        <p:spPr>
          <a:xfrm>
            <a:off x="1664208" y="213055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65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361B83C-7D5C-4CE1-9323-3698A33F1245}"/>
              </a:ext>
            </a:extLst>
          </p:cNvPr>
          <p:cNvSpPr>
            <a:spLocks noGrp="1"/>
          </p:cNvSpPr>
          <p:nvPr/>
        </p:nvSpPr>
        <p:spPr>
          <a:xfrm>
            <a:off x="1975104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C20BE40-A8D3-4B67-A65A-8CF454011CD2}"/>
              </a:ext>
            </a:extLst>
          </p:cNvPr>
          <p:cNvSpPr>
            <a:spLocks noGrp="1"/>
          </p:cNvSpPr>
          <p:nvPr/>
        </p:nvSpPr>
        <p:spPr>
          <a:xfrm>
            <a:off x="2286000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C409E08-AB65-4860-80BD-A8D7CC4A611C}"/>
              </a:ext>
            </a:extLst>
          </p:cNvPr>
          <p:cNvSpPr>
            <a:spLocks noGrp="1"/>
          </p:cNvSpPr>
          <p:nvPr/>
        </p:nvSpPr>
        <p:spPr>
          <a:xfrm>
            <a:off x="2596896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17524FE-FA42-4D9E-859C-A78BD77B613F}"/>
              </a:ext>
            </a:extLst>
          </p:cNvPr>
          <p:cNvSpPr>
            <a:spLocks noGrp="1"/>
          </p:cNvSpPr>
          <p:nvPr/>
        </p:nvSpPr>
        <p:spPr>
          <a:xfrm>
            <a:off x="2907792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5972C6C-EEE2-417A-8E67-2752217C1654}"/>
              </a:ext>
            </a:extLst>
          </p:cNvPr>
          <p:cNvSpPr>
            <a:spLocks noGrp="1"/>
          </p:cNvSpPr>
          <p:nvPr/>
        </p:nvSpPr>
        <p:spPr>
          <a:xfrm>
            <a:off x="3218688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CD61801-8A9F-4CCA-BEED-B6DB3171E83B}"/>
              </a:ext>
            </a:extLst>
          </p:cNvPr>
          <p:cNvSpPr>
            <a:spLocks noGrp="1"/>
          </p:cNvSpPr>
          <p:nvPr/>
        </p:nvSpPr>
        <p:spPr>
          <a:xfrm>
            <a:off x="731520" y="236829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60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E5C875E-74E9-4FBE-A087-8B474F7A2C50}"/>
              </a:ext>
            </a:extLst>
          </p:cNvPr>
          <p:cNvSpPr>
            <a:spLocks noGrp="1"/>
          </p:cNvSpPr>
          <p:nvPr/>
        </p:nvSpPr>
        <p:spPr>
          <a:xfrm>
            <a:off x="1042416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DD5B4EC-7874-4F1F-AB48-91311769340A}"/>
              </a:ext>
            </a:extLst>
          </p:cNvPr>
          <p:cNvSpPr>
            <a:spLocks noGrp="1"/>
          </p:cNvSpPr>
          <p:nvPr/>
        </p:nvSpPr>
        <p:spPr>
          <a:xfrm>
            <a:off x="1353312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15DBFF5-190E-41F0-A502-C278CA252387}"/>
              </a:ext>
            </a:extLst>
          </p:cNvPr>
          <p:cNvSpPr>
            <a:spLocks noGrp="1"/>
          </p:cNvSpPr>
          <p:nvPr/>
        </p:nvSpPr>
        <p:spPr>
          <a:xfrm>
            <a:off x="1664208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1E1D4"/>
          </a:solidFill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71BAA18-B937-4223-8744-BC6286F51EB5}"/>
              </a:ext>
            </a:extLst>
          </p:cNvPr>
          <p:cNvSpPr>
            <a:spLocks noGrp="1"/>
          </p:cNvSpPr>
          <p:nvPr/>
        </p:nvSpPr>
        <p:spPr>
          <a:xfrm>
            <a:off x="1664208" y="236829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3</a:t>
            </a:r>
            <a:endParaRPr sz="65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B917ACE-A278-40E3-B4A6-902BA9177EEA}"/>
              </a:ext>
            </a:extLst>
          </p:cNvPr>
          <p:cNvSpPr>
            <a:spLocks noGrp="1"/>
          </p:cNvSpPr>
          <p:nvPr/>
        </p:nvSpPr>
        <p:spPr>
          <a:xfrm>
            <a:off x="1975104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A6F2C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0BD27A7-4176-4004-AA88-0A722AAD4A36}"/>
              </a:ext>
            </a:extLst>
          </p:cNvPr>
          <p:cNvSpPr>
            <a:spLocks noGrp="1"/>
          </p:cNvSpPr>
          <p:nvPr/>
        </p:nvSpPr>
        <p:spPr>
          <a:xfrm>
            <a:off x="1975104" y="236829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42</a:t>
            </a:r>
            <a:endParaRPr sz="65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FE76145-20AF-4378-A7E5-0B97D75BA1D7}"/>
              </a:ext>
            </a:extLst>
          </p:cNvPr>
          <p:cNvSpPr>
            <a:spLocks noGrp="1"/>
          </p:cNvSpPr>
          <p:nvPr/>
        </p:nvSpPr>
        <p:spPr>
          <a:xfrm>
            <a:off x="2286000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2558725-2752-43F8-9C38-2A332BAA10B5}"/>
              </a:ext>
            </a:extLst>
          </p:cNvPr>
          <p:cNvSpPr>
            <a:spLocks noGrp="1"/>
          </p:cNvSpPr>
          <p:nvPr/>
        </p:nvSpPr>
        <p:spPr>
          <a:xfrm>
            <a:off x="2596896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6910317-0C74-4875-8CBB-97519EC1154F}"/>
              </a:ext>
            </a:extLst>
          </p:cNvPr>
          <p:cNvSpPr>
            <a:spLocks noGrp="1"/>
          </p:cNvSpPr>
          <p:nvPr/>
        </p:nvSpPr>
        <p:spPr>
          <a:xfrm>
            <a:off x="2907792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5DAEE48-63B3-4B71-BB18-1E85AF14B92F}"/>
              </a:ext>
            </a:extLst>
          </p:cNvPr>
          <p:cNvSpPr>
            <a:spLocks noGrp="1"/>
          </p:cNvSpPr>
          <p:nvPr/>
        </p:nvSpPr>
        <p:spPr>
          <a:xfrm>
            <a:off x="3218688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1E1D4"/>
          </a:solidFill>
        </p:spPr>
        <p:txBody>
          <a:bodyPr/>
          <a:lstStyle/>
          <a:p>
            <a:endParaRPr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398856D-948C-4BB8-BEAD-30991C404281}"/>
              </a:ext>
            </a:extLst>
          </p:cNvPr>
          <p:cNvSpPr>
            <a:spLocks noGrp="1"/>
          </p:cNvSpPr>
          <p:nvPr/>
        </p:nvSpPr>
        <p:spPr>
          <a:xfrm>
            <a:off x="3218688" y="236829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3</a:t>
            </a:r>
            <a:endParaRPr sz="65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478BF67A-6F2D-46BE-B7A6-E2D586DD36A6}"/>
              </a:ext>
            </a:extLst>
          </p:cNvPr>
          <p:cNvSpPr>
            <a:spLocks noGrp="1"/>
          </p:cNvSpPr>
          <p:nvPr/>
        </p:nvSpPr>
        <p:spPr>
          <a:xfrm>
            <a:off x="731520" y="260604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60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FAD0B6C-E254-4045-9414-F28FFB38C4FA}"/>
              </a:ext>
            </a:extLst>
          </p:cNvPr>
          <p:cNvSpPr>
            <a:spLocks noGrp="1"/>
          </p:cNvSpPr>
          <p:nvPr/>
        </p:nvSpPr>
        <p:spPr>
          <a:xfrm>
            <a:off x="1042416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D7DF6BB5-A3F2-4919-BC24-88E087E09787}"/>
              </a:ext>
            </a:extLst>
          </p:cNvPr>
          <p:cNvSpPr>
            <a:spLocks noGrp="1"/>
          </p:cNvSpPr>
          <p:nvPr/>
        </p:nvSpPr>
        <p:spPr>
          <a:xfrm>
            <a:off x="1353312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003C57D2-A01B-412C-9A31-15B4B41B18B3}"/>
              </a:ext>
            </a:extLst>
          </p:cNvPr>
          <p:cNvSpPr>
            <a:spLocks noGrp="1"/>
          </p:cNvSpPr>
          <p:nvPr/>
        </p:nvSpPr>
        <p:spPr>
          <a:xfrm>
            <a:off x="1664208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4D2459D-69CA-4D27-BFEF-358E059635CD}"/>
              </a:ext>
            </a:extLst>
          </p:cNvPr>
          <p:cNvSpPr>
            <a:spLocks noGrp="1"/>
          </p:cNvSpPr>
          <p:nvPr/>
        </p:nvSpPr>
        <p:spPr>
          <a:xfrm>
            <a:off x="1664208" y="260604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5E69B446-D03F-4DA2-8F9A-67A4FE40AE6B}"/>
              </a:ext>
            </a:extLst>
          </p:cNvPr>
          <p:cNvSpPr>
            <a:spLocks noGrp="1"/>
          </p:cNvSpPr>
          <p:nvPr/>
        </p:nvSpPr>
        <p:spPr>
          <a:xfrm>
            <a:off x="1975104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11A08B8F-495F-4CA9-B9B0-9A9267F82EDB}"/>
              </a:ext>
            </a:extLst>
          </p:cNvPr>
          <p:cNvSpPr>
            <a:spLocks noGrp="1"/>
          </p:cNvSpPr>
          <p:nvPr/>
        </p:nvSpPr>
        <p:spPr>
          <a:xfrm>
            <a:off x="2286000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5651D"/>
          </a:solidFill>
        </p:spPr>
        <p:txBody>
          <a:bodyPr/>
          <a:lstStyle/>
          <a:p>
            <a:endParaRPr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D70AEE5-7CC7-44CC-AE07-FAA59AC840CE}"/>
              </a:ext>
            </a:extLst>
          </p:cNvPr>
          <p:cNvSpPr>
            <a:spLocks noGrp="1"/>
          </p:cNvSpPr>
          <p:nvPr/>
        </p:nvSpPr>
        <p:spPr>
          <a:xfrm>
            <a:off x="2286000" y="260604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65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2F05DB1-0EDE-4F74-ACBE-01935CFF779D}"/>
              </a:ext>
            </a:extLst>
          </p:cNvPr>
          <p:cNvSpPr>
            <a:spLocks noGrp="1"/>
          </p:cNvSpPr>
          <p:nvPr/>
        </p:nvSpPr>
        <p:spPr>
          <a:xfrm>
            <a:off x="2596896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B75964A7-8B2E-4605-854C-2CE2C4908F27}"/>
              </a:ext>
            </a:extLst>
          </p:cNvPr>
          <p:cNvSpPr>
            <a:spLocks noGrp="1"/>
          </p:cNvSpPr>
          <p:nvPr/>
        </p:nvSpPr>
        <p:spPr>
          <a:xfrm>
            <a:off x="2907792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7AC46756-CFC0-4A6D-9A55-CA1AED712E71}"/>
              </a:ext>
            </a:extLst>
          </p:cNvPr>
          <p:cNvSpPr>
            <a:spLocks noGrp="1"/>
          </p:cNvSpPr>
          <p:nvPr/>
        </p:nvSpPr>
        <p:spPr>
          <a:xfrm>
            <a:off x="3218688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E1CA3998-A4DE-4830-807A-65FB54F26222}"/>
              </a:ext>
            </a:extLst>
          </p:cNvPr>
          <p:cNvSpPr>
            <a:spLocks noGrp="1"/>
          </p:cNvSpPr>
          <p:nvPr/>
        </p:nvSpPr>
        <p:spPr>
          <a:xfrm>
            <a:off x="731520" y="284378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60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C7A6D2B-FE8D-485B-880D-EA7A88A18A99}"/>
              </a:ext>
            </a:extLst>
          </p:cNvPr>
          <p:cNvSpPr>
            <a:spLocks noGrp="1"/>
          </p:cNvSpPr>
          <p:nvPr/>
        </p:nvSpPr>
        <p:spPr>
          <a:xfrm>
            <a:off x="1042416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C6BC7AF8-AB03-4F56-AF75-B33099B1FB1B}"/>
              </a:ext>
            </a:extLst>
          </p:cNvPr>
          <p:cNvSpPr>
            <a:spLocks noGrp="1"/>
          </p:cNvSpPr>
          <p:nvPr/>
        </p:nvSpPr>
        <p:spPr>
          <a:xfrm>
            <a:off x="1353312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E726ECF8-4B81-4D9B-B1D5-32160DBD12B6}"/>
              </a:ext>
            </a:extLst>
          </p:cNvPr>
          <p:cNvSpPr>
            <a:spLocks noGrp="1"/>
          </p:cNvSpPr>
          <p:nvPr/>
        </p:nvSpPr>
        <p:spPr>
          <a:xfrm>
            <a:off x="1353312" y="284378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EAFDEEF2-525D-4740-A09F-13619B727F0A}"/>
              </a:ext>
            </a:extLst>
          </p:cNvPr>
          <p:cNvSpPr>
            <a:spLocks noGrp="1"/>
          </p:cNvSpPr>
          <p:nvPr/>
        </p:nvSpPr>
        <p:spPr>
          <a:xfrm>
            <a:off x="1664208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3686338C-852B-4E61-B3B2-5117A2EA3B02}"/>
              </a:ext>
            </a:extLst>
          </p:cNvPr>
          <p:cNvSpPr>
            <a:spLocks noGrp="1"/>
          </p:cNvSpPr>
          <p:nvPr/>
        </p:nvSpPr>
        <p:spPr>
          <a:xfrm>
            <a:off x="1975104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829F790-6246-4038-AD81-74AA75CFF32E}"/>
              </a:ext>
            </a:extLst>
          </p:cNvPr>
          <p:cNvSpPr>
            <a:spLocks noGrp="1"/>
          </p:cNvSpPr>
          <p:nvPr/>
        </p:nvSpPr>
        <p:spPr>
          <a:xfrm>
            <a:off x="2286000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E00171B6-2DB8-4791-BDA4-50FE8D032D0B}"/>
              </a:ext>
            </a:extLst>
          </p:cNvPr>
          <p:cNvSpPr>
            <a:spLocks noGrp="1"/>
          </p:cNvSpPr>
          <p:nvPr/>
        </p:nvSpPr>
        <p:spPr>
          <a:xfrm>
            <a:off x="2596896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5651D"/>
          </a:solidFill>
        </p:spPr>
        <p:txBody>
          <a:bodyPr/>
          <a:lstStyle/>
          <a:p>
            <a:endParaRPr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908A7A7F-7F1A-450B-8482-E1203482331B}"/>
              </a:ext>
            </a:extLst>
          </p:cNvPr>
          <p:cNvSpPr>
            <a:spLocks noGrp="1"/>
          </p:cNvSpPr>
          <p:nvPr/>
        </p:nvSpPr>
        <p:spPr>
          <a:xfrm>
            <a:off x="2596896" y="284378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65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A6017642-97DE-43B1-9E57-02AC4605EB7F}"/>
              </a:ext>
            </a:extLst>
          </p:cNvPr>
          <p:cNvSpPr>
            <a:spLocks noGrp="1"/>
          </p:cNvSpPr>
          <p:nvPr/>
        </p:nvSpPr>
        <p:spPr>
          <a:xfrm>
            <a:off x="2907792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093C9856-515C-4FA5-892B-FDFE7B674165}"/>
              </a:ext>
            </a:extLst>
          </p:cNvPr>
          <p:cNvSpPr>
            <a:spLocks noGrp="1"/>
          </p:cNvSpPr>
          <p:nvPr/>
        </p:nvSpPr>
        <p:spPr>
          <a:xfrm>
            <a:off x="3218688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DA041727-1513-4ABB-8CA3-58DD81B9CF52}"/>
              </a:ext>
            </a:extLst>
          </p:cNvPr>
          <p:cNvSpPr>
            <a:spLocks noGrp="1"/>
          </p:cNvSpPr>
          <p:nvPr/>
        </p:nvSpPr>
        <p:spPr>
          <a:xfrm>
            <a:off x="731520" y="30815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60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FF457B12-2845-4FA9-A6C2-98C797F37822}"/>
              </a:ext>
            </a:extLst>
          </p:cNvPr>
          <p:cNvSpPr>
            <a:spLocks noGrp="1"/>
          </p:cNvSpPr>
          <p:nvPr/>
        </p:nvSpPr>
        <p:spPr>
          <a:xfrm>
            <a:off x="1042416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CFBFD40B-9838-4E85-B0BB-956707BAD4E4}"/>
              </a:ext>
            </a:extLst>
          </p:cNvPr>
          <p:cNvSpPr>
            <a:spLocks noGrp="1"/>
          </p:cNvSpPr>
          <p:nvPr/>
        </p:nvSpPr>
        <p:spPr>
          <a:xfrm>
            <a:off x="1353312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D0A67A7-B2B7-4D77-998E-B980292938DF}"/>
              </a:ext>
            </a:extLst>
          </p:cNvPr>
          <p:cNvSpPr>
            <a:spLocks noGrp="1"/>
          </p:cNvSpPr>
          <p:nvPr/>
        </p:nvSpPr>
        <p:spPr>
          <a:xfrm>
            <a:off x="1664208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1E1D4"/>
          </a:solidFill>
        </p:spPr>
        <p:txBody>
          <a:bodyPr/>
          <a:lstStyle/>
          <a:p>
            <a:endParaRPr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4B057EE-36F9-40C1-9940-6E2F9C5A760D}"/>
              </a:ext>
            </a:extLst>
          </p:cNvPr>
          <p:cNvSpPr>
            <a:spLocks noGrp="1"/>
          </p:cNvSpPr>
          <p:nvPr/>
        </p:nvSpPr>
        <p:spPr>
          <a:xfrm>
            <a:off x="1664208" y="308152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3</a:t>
            </a:r>
            <a:endParaRPr sz="65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B1B6BAAE-0003-4D9F-B608-594071C5157D}"/>
              </a:ext>
            </a:extLst>
          </p:cNvPr>
          <p:cNvSpPr>
            <a:spLocks noGrp="1"/>
          </p:cNvSpPr>
          <p:nvPr/>
        </p:nvSpPr>
        <p:spPr>
          <a:xfrm>
            <a:off x="1975104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BED14E45-A265-4FDA-9199-52BF5FD4A243}"/>
              </a:ext>
            </a:extLst>
          </p:cNvPr>
          <p:cNvSpPr>
            <a:spLocks noGrp="1"/>
          </p:cNvSpPr>
          <p:nvPr/>
        </p:nvSpPr>
        <p:spPr>
          <a:xfrm>
            <a:off x="2286000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A7C84625-C083-457A-84E3-3B51165B8833}"/>
              </a:ext>
            </a:extLst>
          </p:cNvPr>
          <p:cNvSpPr>
            <a:spLocks noGrp="1"/>
          </p:cNvSpPr>
          <p:nvPr/>
        </p:nvSpPr>
        <p:spPr>
          <a:xfrm>
            <a:off x="2596896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AE0CE341-AD64-42F4-9E06-B29D0F88D29A}"/>
              </a:ext>
            </a:extLst>
          </p:cNvPr>
          <p:cNvSpPr>
            <a:spLocks noGrp="1"/>
          </p:cNvSpPr>
          <p:nvPr/>
        </p:nvSpPr>
        <p:spPr>
          <a:xfrm>
            <a:off x="2907792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76923"/>
          </a:solidFill>
        </p:spPr>
        <p:txBody>
          <a:bodyPr/>
          <a:lstStyle/>
          <a:p>
            <a:endParaRPr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0B1642A9-2090-402B-A0FC-F7E88275479D}"/>
              </a:ext>
            </a:extLst>
          </p:cNvPr>
          <p:cNvSpPr>
            <a:spLocks noGrp="1"/>
          </p:cNvSpPr>
          <p:nvPr/>
        </p:nvSpPr>
        <p:spPr>
          <a:xfrm>
            <a:off x="2907792" y="308152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45</a:t>
            </a:r>
            <a:endParaRPr sz="65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6E64748-DC3A-4D27-AB2B-45BA578E7B7E}"/>
              </a:ext>
            </a:extLst>
          </p:cNvPr>
          <p:cNvSpPr>
            <a:spLocks noGrp="1"/>
          </p:cNvSpPr>
          <p:nvPr/>
        </p:nvSpPr>
        <p:spPr>
          <a:xfrm>
            <a:off x="3218688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67E369C-364C-4B3B-A069-26BC5E4FE60C}"/>
              </a:ext>
            </a:extLst>
          </p:cNvPr>
          <p:cNvSpPr>
            <a:spLocks noGrp="1"/>
          </p:cNvSpPr>
          <p:nvPr/>
        </p:nvSpPr>
        <p:spPr>
          <a:xfrm>
            <a:off x="731520" y="33192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60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8FBD5CC6-3E76-4057-BBBD-6AE59F1D95A5}"/>
              </a:ext>
            </a:extLst>
          </p:cNvPr>
          <p:cNvSpPr>
            <a:spLocks noGrp="1"/>
          </p:cNvSpPr>
          <p:nvPr/>
        </p:nvSpPr>
        <p:spPr>
          <a:xfrm>
            <a:off x="1042416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784548A8-9012-4F0B-A104-844BD58138B5}"/>
              </a:ext>
            </a:extLst>
          </p:cNvPr>
          <p:cNvSpPr>
            <a:spLocks noGrp="1"/>
          </p:cNvSpPr>
          <p:nvPr/>
        </p:nvSpPr>
        <p:spPr>
          <a:xfrm>
            <a:off x="1353312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5004ECA7-E9DB-4ABE-BB03-E070A1DEC99A}"/>
              </a:ext>
            </a:extLst>
          </p:cNvPr>
          <p:cNvSpPr>
            <a:spLocks noGrp="1"/>
          </p:cNvSpPr>
          <p:nvPr/>
        </p:nvSpPr>
        <p:spPr>
          <a:xfrm>
            <a:off x="1664208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BFA43CCB-BEC0-42E9-9CDB-6F088B3295FD}"/>
              </a:ext>
            </a:extLst>
          </p:cNvPr>
          <p:cNvSpPr>
            <a:spLocks noGrp="1"/>
          </p:cNvSpPr>
          <p:nvPr/>
        </p:nvSpPr>
        <p:spPr>
          <a:xfrm>
            <a:off x="1975104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0E915E33-E4E2-4298-BC86-48C3B28F0415}"/>
              </a:ext>
            </a:extLst>
          </p:cNvPr>
          <p:cNvSpPr>
            <a:spLocks noGrp="1"/>
          </p:cNvSpPr>
          <p:nvPr/>
        </p:nvSpPr>
        <p:spPr>
          <a:xfrm>
            <a:off x="1975104" y="331927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DBF49837-E97B-42A8-A9A4-8EBD528C4A19}"/>
              </a:ext>
            </a:extLst>
          </p:cNvPr>
          <p:cNvSpPr>
            <a:spLocks noGrp="1"/>
          </p:cNvSpPr>
          <p:nvPr/>
        </p:nvSpPr>
        <p:spPr>
          <a:xfrm>
            <a:off x="2286000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C4EF46D9-37F2-48ED-94A2-2956AE34F535}"/>
              </a:ext>
            </a:extLst>
          </p:cNvPr>
          <p:cNvSpPr>
            <a:spLocks noGrp="1"/>
          </p:cNvSpPr>
          <p:nvPr/>
        </p:nvSpPr>
        <p:spPr>
          <a:xfrm>
            <a:off x="2596896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A66FE2AA-E775-45F2-8374-4C75FA7FD9A1}"/>
              </a:ext>
            </a:extLst>
          </p:cNvPr>
          <p:cNvSpPr>
            <a:spLocks noGrp="1"/>
          </p:cNvSpPr>
          <p:nvPr/>
        </p:nvSpPr>
        <p:spPr>
          <a:xfrm>
            <a:off x="2907792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8F0E9"/>
          </a:solidFill>
        </p:spPr>
        <p:txBody>
          <a:bodyPr/>
          <a:lstStyle/>
          <a:p>
            <a:endParaRPr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A4FFEA7C-137D-4240-828A-C855DB64C0D1}"/>
              </a:ext>
            </a:extLst>
          </p:cNvPr>
          <p:cNvSpPr>
            <a:spLocks noGrp="1"/>
          </p:cNvSpPr>
          <p:nvPr/>
        </p:nvSpPr>
        <p:spPr>
          <a:xfrm>
            <a:off x="2907792" y="331927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4AEE3DC6-71DF-4F08-987E-E944CD7D06B5}"/>
              </a:ext>
            </a:extLst>
          </p:cNvPr>
          <p:cNvSpPr>
            <a:spLocks noGrp="1"/>
          </p:cNvSpPr>
          <p:nvPr/>
        </p:nvSpPr>
        <p:spPr>
          <a:xfrm>
            <a:off x="3218688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B66720"/>
          </a:solidFill>
        </p:spPr>
        <p:txBody>
          <a:bodyPr/>
          <a:lstStyle/>
          <a:p>
            <a:endParaRPr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348CBAA8-25E7-4640-BD11-8289F4A1AFE6}"/>
              </a:ext>
            </a:extLst>
          </p:cNvPr>
          <p:cNvSpPr>
            <a:spLocks noGrp="1"/>
          </p:cNvSpPr>
          <p:nvPr/>
        </p:nvSpPr>
        <p:spPr>
          <a:xfrm>
            <a:off x="3218688" y="331927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65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0C369747-C43C-483B-B825-E92D970ED4CA}"/>
              </a:ext>
            </a:extLst>
          </p:cNvPr>
          <p:cNvSpPr>
            <a:spLocks noGrp="1"/>
          </p:cNvSpPr>
          <p:nvPr/>
        </p:nvSpPr>
        <p:spPr>
          <a:xfrm>
            <a:off x="4846320" y="12070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4C3A8C"/>
                </a:solidFill>
                <a:latin typeface="Malgun Gothic"/>
                <a:ea typeface="Malgun Gothic"/>
                <a:cs typeface="Malgun Gothic"/>
              </a:rPr>
              <a:t>XGBoost</a:t>
            </a:r>
            <a:endParaRPr sz="1100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CC55CDEB-3EF1-4DA0-B78D-C26925D59F46}"/>
              </a:ext>
            </a:extLst>
          </p:cNvPr>
          <p:cNvSpPr>
            <a:spLocks noGrp="1"/>
          </p:cNvSpPr>
          <p:nvPr/>
        </p:nvSpPr>
        <p:spPr>
          <a:xfrm>
            <a:off x="515721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600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57796BF9-5C17-412C-A81E-6BC726A3D523}"/>
              </a:ext>
            </a:extLst>
          </p:cNvPr>
          <p:cNvSpPr>
            <a:spLocks noGrp="1"/>
          </p:cNvSpPr>
          <p:nvPr/>
        </p:nvSpPr>
        <p:spPr>
          <a:xfrm>
            <a:off x="5468112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600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01B09246-4105-47E3-B6CB-94EFA564DF24}"/>
              </a:ext>
            </a:extLst>
          </p:cNvPr>
          <p:cNvSpPr>
            <a:spLocks noGrp="1"/>
          </p:cNvSpPr>
          <p:nvPr/>
        </p:nvSpPr>
        <p:spPr>
          <a:xfrm>
            <a:off x="5779008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600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F8709DA6-F6F6-4606-9D29-B7D243C58B9D}"/>
              </a:ext>
            </a:extLst>
          </p:cNvPr>
          <p:cNvSpPr>
            <a:spLocks noGrp="1"/>
          </p:cNvSpPr>
          <p:nvPr/>
        </p:nvSpPr>
        <p:spPr>
          <a:xfrm>
            <a:off x="6089904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600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0942D76F-73B0-435B-B593-E39B98EC33D8}"/>
              </a:ext>
            </a:extLst>
          </p:cNvPr>
          <p:cNvSpPr>
            <a:spLocks noGrp="1"/>
          </p:cNvSpPr>
          <p:nvPr/>
        </p:nvSpPr>
        <p:spPr>
          <a:xfrm>
            <a:off x="6400800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600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F58F603D-075B-49D9-9619-0C3BA2B1A544}"/>
              </a:ext>
            </a:extLst>
          </p:cNvPr>
          <p:cNvSpPr>
            <a:spLocks noGrp="1"/>
          </p:cNvSpPr>
          <p:nvPr/>
        </p:nvSpPr>
        <p:spPr>
          <a:xfrm>
            <a:off x="671169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600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B578997E-2AEB-4F66-BC43-B6A2BCEBA9AF}"/>
              </a:ext>
            </a:extLst>
          </p:cNvPr>
          <p:cNvSpPr>
            <a:spLocks noGrp="1"/>
          </p:cNvSpPr>
          <p:nvPr/>
        </p:nvSpPr>
        <p:spPr>
          <a:xfrm>
            <a:off x="7022592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60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381CCDF0-6786-4F8F-9D68-4C96FB6D86BD}"/>
              </a:ext>
            </a:extLst>
          </p:cNvPr>
          <p:cNvSpPr>
            <a:spLocks noGrp="1"/>
          </p:cNvSpPr>
          <p:nvPr/>
        </p:nvSpPr>
        <p:spPr>
          <a:xfrm>
            <a:off x="7333488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600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36E56DA2-2185-4289-AD4B-67BA5D0E2BF7}"/>
              </a:ext>
            </a:extLst>
          </p:cNvPr>
          <p:cNvSpPr>
            <a:spLocks noGrp="1"/>
          </p:cNvSpPr>
          <p:nvPr/>
        </p:nvSpPr>
        <p:spPr>
          <a:xfrm>
            <a:off x="4846320" y="165506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30F</a:t>
            </a:r>
            <a:endParaRPr sz="600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A601253A-71F2-428F-A1DC-6F4172E6429E}"/>
              </a:ext>
            </a:extLst>
          </p:cNvPr>
          <p:cNvSpPr>
            <a:spLocks noGrp="1"/>
          </p:cNvSpPr>
          <p:nvPr/>
        </p:nvSpPr>
        <p:spPr>
          <a:xfrm>
            <a:off x="5157216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513F8F"/>
          </a:solidFill>
        </p:spPr>
        <p:txBody>
          <a:bodyPr/>
          <a:lstStyle/>
          <a:p>
            <a:endParaRPr/>
          </a:p>
        </p:txBody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44B229C3-8480-4227-AF1A-7F144BAEA305}"/>
              </a:ext>
            </a:extLst>
          </p:cNvPr>
          <p:cNvSpPr>
            <a:spLocks noGrp="1"/>
          </p:cNvSpPr>
          <p:nvPr/>
        </p:nvSpPr>
        <p:spPr>
          <a:xfrm>
            <a:off x="5157216" y="16550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650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F45BC5C7-1011-4AB3-AD4A-0F8F7FBA5023}"/>
              </a:ext>
            </a:extLst>
          </p:cNvPr>
          <p:cNvSpPr>
            <a:spLocks noGrp="1"/>
          </p:cNvSpPr>
          <p:nvPr/>
        </p:nvSpPr>
        <p:spPr>
          <a:xfrm>
            <a:off x="5468112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1D4EE462-A324-4CAB-8369-A70D1860263F}"/>
              </a:ext>
            </a:extLst>
          </p:cNvPr>
          <p:cNvSpPr>
            <a:spLocks noGrp="1"/>
          </p:cNvSpPr>
          <p:nvPr/>
        </p:nvSpPr>
        <p:spPr>
          <a:xfrm>
            <a:off x="5779008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E4E2EE"/>
          </a:solidFill>
        </p:spPr>
        <p:txBody>
          <a:bodyPr/>
          <a:lstStyle/>
          <a:p>
            <a:endParaRPr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C06C2853-58C0-4D34-ADFC-42A05F06D2EA}"/>
              </a:ext>
            </a:extLst>
          </p:cNvPr>
          <p:cNvSpPr>
            <a:spLocks noGrp="1"/>
          </p:cNvSpPr>
          <p:nvPr/>
        </p:nvSpPr>
        <p:spPr>
          <a:xfrm>
            <a:off x="5779008" y="16550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2</a:t>
            </a:r>
            <a:endParaRPr sz="65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2062B93A-9E03-4DB0-AD92-5772E898425C}"/>
              </a:ext>
            </a:extLst>
          </p:cNvPr>
          <p:cNvSpPr>
            <a:spLocks noGrp="1"/>
          </p:cNvSpPr>
          <p:nvPr/>
        </p:nvSpPr>
        <p:spPr>
          <a:xfrm>
            <a:off x="6089904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0FBD44F6-E906-4066-8B8D-F36287AAA414}"/>
              </a:ext>
            </a:extLst>
          </p:cNvPr>
          <p:cNvSpPr>
            <a:spLocks noGrp="1"/>
          </p:cNvSpPr>
          <p:nvPr/>
        </p:nvSpPr>
        <p:spPr>
          <a:xfrm>
            <a:off x="6400800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CAA7E7DB-7A8B-41B1-85E1-084BB60A1062}"/>
              </a:ext>
            </a:extLst>
          </p:cNvPr>
          <p:cNvSpPr>
            <a:spLocks noGrp="1"/>
          </p:cNvSpPr>
          <p:nvPr/>
        </p:nvSpPr>
        <p:spPr>
          <a:xfrm>
            <a:off x="6711696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1591C020-4106-4A6B-9DBC-9B42E1D430E1}"/>
              </a:ext>
            </a:extLst>
          </p:cNvPr>
          <p:cNvSpPr>
            <a:spLocks noGrp="1"/>
          </p:cNvSpPr>
          <p:nvPr/>
        </p:nvSpPr>
        <p:spPr>
          <a:xfrm>
            <a:off x="7022592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7B4A931F-1B0A-41D3-8227-8C304B3697E2}"/>
              </a:ext>
            </a:extLst>
          </p:cNvPr>
          <p:cNvSpPr>
            <a:spLocks noGrp="1"/>
          </p:cNvSpPr>
          <p:nvPr/>
        </p:nvSpPr>
        <p:spPr>
          <a:xfrm>
            <a:off x="7333488" y="165506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FCA63D41-8DA4-4C9A-83DD-21269851E174}"/>
              </a:ext>
            </a:extLst>
          </p:cNvPr>
          <p:cNvSpPr>
            <a:spLocks noGrp="1"/>
          </p:cNvSpPr>
          <p:nvPr/>
        </p:nvSpPr>
        <p:spPr>
          <a:xfrm>
            <a:off x="4846320" y="189280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30O</a:t>
            </a:r>
            <a:endParaRPr sz="60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9201E0F4-A2B7-4F60-AD32-2F02645FCA04}"/>
              </a:ext>
            </a:extLst>
          </p:cNvPr>
          <p:cNvSpPr>
            <a:spLocks noGrp="1"/>
          </p:cNvSpPr>
          <p:nvPr/>
        </p:nvSpPr>
        <p:spPr>
          <a:xfrm>
            <a:off x="5157216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96FE4E17-213A-4E12-A386-D761D1F22EED}"/>
              </a:ext>
            </a:extLst>
          </p:cNvPr>
          <p:cNvSpPr>
            <a:spLocks noGrp="1"/>
          </p:cNvSpPr>
          <p:nvPr/>
        </p:nvSpPr>
        <p:spPr>
          <a:xfrm>
            <a:off x="5468112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4E3C8D"/>
          </a:solidFill>
        </p:spPr>
        <p:txBody>
          <a:bodyPr/>
          <a:lstStyle/>
          <a:p>
            <a:endParaRPr/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7400FA1D-5050-4BB3-A670-2BDA496238FA}"/>
              </a:ext>
            </a:extLst>
          </p:cNvPr>
          <p:cNvSpPr>
            <a:spLocks noGrp="1"/>
          </p:cNvSpPr>
          <p:nvPr/>
        </p:nvSpPr>
        <p:spPr>
          <a:xfrm>
            <a:off x="5468112" y="189280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650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384AAF11-07B0-4CB0-95D5-77E5553CA69E}"/>
              </a:ext>
            </a:extLst>
          </p:cNvPr>
          <p:cNvSpPr>
            <a:spLocks noGrp="1"/>
          </p:cNvSpPr>
          <p:nvPr/>
        </p:nvSpPr>
        <p:spPr>
          <a:xfrm>
            <a:off x="5779008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9999F016-D808-42A0-958E-5BD0FEA8D822}"/>
              </a:ext>
            </a:extLst>
          </p:cNvPr>
          <p:cNvSpPr>
            <a:spLocks noGrp="1"/>
          </p:cNvSpPr>
          <p:nvPr/>
        </p:nvSpPr>
        <p:spPr>
          <a:xfrm>
            <a:off x="6089904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97001FEE-5FFC-4B2B-AC04-89F93BF6572C}"/>
              </a:ext>
            </a:extLst>
          </p:cNvPr>
          <p:cNvSpPr>
            <a:spLocks noGrp="1"/>
          </p:cNvSpPr>
          <p:nvPr/>
        </p:nvSpPr>
        <p:spPr>
          <a:xfrm>
            <a:off x="6400800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42AF4A3B-4BDB-481A-B43A-5BB3300E00D5}"/>
              </a:ext>
            </a:extLst>
          </p:cNvPr>
          <p:cNvSpPr>
            <a:spLocks noGrp="1"/>
          </p:cNvSpPr>
          <p:nvPr/>
        </p:nvSpPr>
        <p:spPr>
          <a:xfrm>
            <a:off x="6711696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EDECF4"/>
          </a:solidFill>
        </p:spPr>
        <p:txBody>
          <a:bodyPr/>
          <a:lstStyle/>
          <a:p>
            <a:endParaRPr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66278D48-3A61-46F6-B840-0BBBA9032703}"/>
              </a:ext>
            </a:extLst>
          </p:cNvPr>
          <p:cNvSpPr>
            <a:spLocks noGrp="1"/>
          </p:cNvSpPr>
          <p:nvPr/>
        </p:nvSpPr>
        <p:spPr>
          <a:xfrm>
            <a:off x="6711696" y="189280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91B504F6-E8AD-4AD9-A976-F9F624092BBF}"/>
              </a:ext>
            </a:extLst>
          </p:cNvPr>
          <p:cNvSpPr>
            <a:spLocks noGrp="1"/>
          </p:cNvSpPr>
          <p:nvPr/>
        </p:nvSpPr>
        <p:spPr>
          <a:xfrm>
            <a:off x="7022592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0822D845-EADD-4C57-A3E9-15DD57B499CF}"/>
              </a:ext>
            </a:extLst>
          </p:cNvPr>
          <p:cNvSpPr>
            <a:spLocks noGrp="1"/>
          </p:cNvSpPr>
          <p:nvPr/>
        </p:nvSpPr>
        <p:spPr>
          <a:xfrm>
            <a:off x="7333488" y="189280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7" name="Text 135">
            <a:extLst>
              <a:ext uri="{FF2B5EF4-FFF2-40B4-BE49-F238E27FC236}">
                <a16:creationId xmlns:a16="http://schemas.microsoft.com/office/drawing/2014/main" id="{01F34C41-A16F-47C3-96EF-E013AF389479}"/>
              </a:ext>
            </a:extLst>
          </p:cNvPr>
          <p:cNvSpPr>
            <a:spLocks noGrp="1"/>
          </p:cNvSpPr>
          <p:nvPr/>
        </p:nvSpPr>
        <p:spPr>
          <a:xfrm>
            <a:off x="4846320" y="213055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30P</a:t>
            </a:r>
            <a:endParaRPr sz="600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56F34E00-241D-4183-8418-829173B6FFF3}"/>
              </a:ext>
            </a:extLst>
          </p:cNvPr>
          <p:cNvSpPr>
            <a:spLocks noGrp="1"/>
          </p:cNvSpPr>
          <p:nvPr/>
        </p:nvSpPr>
        <p:spPr>
          <a:xfrm>
            <a:off x="5157216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8B500C6E-265E-44B8-A71C-13FFB911142C}"/>
              </a:ext>
            </a:extLst>
          </p:cNvPr>
          <p:cNvSpPr>
            <a:spLocks noGrp="1"/>
          </p:cNvSpPr>
          <p:nvPr/>
        </p:nvSpPr>
        <p:spPr>
          <a:xfrm>
            <a:off x="5468112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CE4FFC49-0692-434F-B7AF-2D8529EA6773}"/>
              </a:ext>
            </a:extLst>
          </p:cNvPr>
          <p:cNvSpPr>
            <a:spLocks noGrp="1"/>
          </p:cNvSpPr>
          <p:nvPr/>
        </p:nvSpPr>
        <p:spPr>
          <a:xfrm>
            <a:off x="5779008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4C3A8C"/>
          </a:solidFill>
        </p:spPr>
        <p:txBody>
          <a:bodyPr/>
          <a:lstStyle/>
          <a:p>
            <a:endParaRPr/>
          </a:p>
        </p:txBody>
      </p:sp>
      <p:sp>
        <p:nvSpPr>
          <p:cNvPr id="141" name="Text 139">
            <a:extLst>
              <a:ext uri="{FF2B5EF4-FFF2-40B4-BE49-F238E27FC236}">
                <a16:creationId xmlns:a16="http://schemas.microsoft.com/office/drawing/2014/main" id="{C5F86A1E-A2F3-4484-BD8C-F1FACE9E020F}"/>
              </a:ext>
            </a:extLst>
          </p:cNvPr>
          <p:cNvSpPr>
            <a:spLocks noGrp="1"/>
          </p:cNvSpPr>
          <p:nvPr/>
        </p:nvSpPr>
        <p:spPr>
          <a:xfrm>
            <a:off x="5779008" y="213055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48</a:t>
            </a:r>
            <a:endParaRPr sz="650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78B1EAB5-0EB1-47E2-8701-914C2334DA43}"/>
              </a:ext>
            </a:extLst>
          </p:cNvPr>
          <p:cNvSpPr>
            <a:spLocks noGrp="1"/>
          </p:cNvSpPr>
          <p:nvPr/>
        </p:nvSpPr>
        <p:spPr>
          <a:xfrm>
            <a:off x="6089904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B6F4D744-C129-4724-A608-FE16212F9CEB}"/>
              </a:ext>
            </a:extLst>
          </p:cNvPr>
          <p:cNvSpPr>
            <a:spLocks noGrp="1"/>
          </p:cNvSpPr>
          <p:nvPr/>
        </p:nvSpPr>
        <p:spPr>
          <a:xfrm>
            <a:off x="6400800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A05BA652-3232-47E4-8858-BD4616BBAF00}"/>
              </a:ext>
            </a:extLst>
          </p:cNvPr>
          <p:cNvSpPr>
            <a:spLocks noGrp="1"/>
          </p:cNvSpPr>
          <p:nvPr/>
        </p:nvSpPr>
        <p:spPr>
          <a:xfrm>
            <a:off x="6711696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464019C8-7671-46B6-B38D-E3A13918944E}"/>
              </a:ext>
            </a:extLst>
          </p:cNvPr>
          <p:cNvSpPr>
            <a:spLocks noGrp="1"/>
          </p:cNvSpPr>
          <p:nvPr/>
        </p:nvSpPr>
        <p:spPr>
          <a:xfrm>
            <a:off x="7022592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2F250BA3-E2DF-4F10-9E38-906FF2874D19}"/>
              </a:ext>
            </a:extLst>
          </p:cNvPr>
          <p:cNvSpPr>
            <a:spLocks noGrp="1"/>
          </p:cNvSpPr>
          <p:nvPr/>
        </p:nvSpPr>
        <p:spPr>
          <a:xfrm>
            <a:off x="7333488" y="213055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7" name="Text 145">
            <a:extLst>
              <a:ext uri="{FF2B5EF4-FFF2-40B4-BE49-F238E27FC236}">
                <a16:creationId xmlns:a16="http://schemas.microsoft.com/office/drawing/2014/main" id="{302827F5-347A-4CB6-9819-39D05108964D}"/>
              </a:ext>
            </a:extLst>
          </p:cNvPr>
          <p:cNvSpPr>
            <a:spLocks noGrp="1"/>
          </p:cNvSpPr>
          <p:nvPr/>
        </p:nvSpPr>
        <p:spPr>
          <a:xfrm>
            <a:off x="4846320" y="236829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30S</a:t>
            </a:r>
            <a:endParaRPr sz="600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A56C9362-5306-4153-8A1F-793A581FBA9E}"/>
              </a:ext>
            </a:extLst>
          </p:cNvPr>
          <p:cNvSpPr>
            <a:spLocks noGrp="1"/>
          </p:cNvSpPr>
          <p:nvPr/>
        </p:nvSpPr>
        <p:spPr>
          <a:xfrm>
            <a:off x="5157216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79EFB00B-9985-4254-ACB0-4CF5A7D2B623}"/>
              </a:ext>
            </a:extLst>
          </p:cNvPr>
          <p:cNvSpPr>
            <a:spLocks noGrp="1"/>
          </p:cNvSpPr>
          <p:nvPr/>
        </p:nvSpPr>
        <p:spPr>
          <a:xfrm>
            <a:off x="5468112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87CB724A-9F6E-4A84-97A0-B6A4DA0443F2}"/>
              </a:ext>
            </a:extLst>
          </p:cNvPr>
          <p:cNvSpPr>
            <a:spLocks noGrp="1"/>
          </p:cNvSpPr>
          <p:nvPr/>
        </p:nvSpPr>
        <p:spPr>
          <a:xfrm>
            <a:off x="5779008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BC0E0E35-B111-45BE-9F84-3A64AE1EF67C}"/>
              </a:ext>
            </a:extLst>
          </p:cNvPr>
          <p:cNvSpPr>
            <a:spLocks noGrp="1"/>
          </p:cNvSpPr>
          <p:nvPr/>
        </p:nvSpPr>
        <p:spPr>
          <a:xfrm>
            <a:off x="6089904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513F8F"/>
          </a:solidFill>
        </p:spPr>
        <p:txBody>
          <a:bodyPr/>
          <a:lstStyle/>
          <a:p>
            <a:endParaRPr/>
          </a:p>
        </p:txBody>
      </p:sp>
      <p:sp>
        <p:nvSpPr>
          <p:cNvPr id="152" name="Text 150">
            <a:extLst>
              <a:ext uri="{FF2B5EF4-FFF2-40B4-BE49-F238E27FC236}">
                <a16:creationId xmlns:a16="http://schemas.microsoft.com/office/drawing/2014/main" id="{070E437E-C034-4D78-B594-7408F975EF27}"/>
              </a:ext>
            </a:extLst>
          </p:cNvPr>
          <p:cNvSpPr>
            <a:spLocks noGrp="1"/>
          </p:cNvSpPr>
          <p:nvPr/>
        </p:nvSpPr>
        <p:spPr>
          <a:xfrm>
            <a:off x="6089904" y="236829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46</a:t>
            </a:r>
            <a:endParaRPr sz="650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11D6FC48-B4A6-40EC-9895-470AB4CCF15C}"/>
              </a:ext>
            </a:extLst>
          </p:cNvPr>
          <p:cNvSpPr>
            <a:spLocks noGrp="1"/>
          </p:cNvSpPr>
          <p:nvPr/>
        </p:nvSpPr>
        <p:spPr>
          <a:xfrm>
            <a:off x="6400800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1B66D545-F8B8-48DC-89D4-3C539C9E38E9}"/>
              </a:ext>
            </a:extLst>
          </p:cNvPr>
          <p:cNvSpPr>
            <a:spLocks noGrp="1"/>
          </p:cNvSpPr>
          <p:nvPr/>
        </p:nvSpPr>
        <p:spPr>
          <a:xfrm>
            <a:off x="6711696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7D46470C-2304-4C6E-847C-38D46C148BB1}"/>
              </a:ext>
            </a:extLst>
          </p:cNvPr>
          <p:cNvSpPr>
            <a:spLocks noGrp="1"/>
          </p:cNvSpPr>
          <p:nvPr/>
        </p:nvSpPr>
        <p:spPr>
          <a:xfrm>
            <a:off x="7022592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F7F3FFD4-F2A8-4471-A35C-3AF9662758EA}"/>
              </a:ext>
            </a:extLst>
          </p:cNvPr>
          <p:cNvSpPr>
            <a:spLocks noGrp="1"/>
          </p:cNvSpPr>
          <p:nvPr/>
        </p:nvSpPr>
        <p:spPr>
          <a:xfrm>
            <a:off x="7333488" y="2368296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E4E2EE"/>
          </a:solidFill>
        </p:spPr>
        <p:txBody>
          <a:bodyPr/>
          <a:lstStyle/>
          <a:p>
            <a:endParaRPr/>
          </a:p>
        </p:txBody>
      </p:sp>
      <p:sp>
        <p:nvSpPr>
          <p:cNvPr id="157" name="Text 155">
            <a:extLst>
              <a:ext uri="{FF2B5EF4-FFF2-40B4-BE49-F238E27FC236}">
                <a16:creationId xmlns:a16="http://schemas.microsoft.com/office/drawing/2014/main" id="{C6641CAB-9C78-4545-93F9-CAD073B76B89}"/>
              </a:ext>
            </a:extLst>
          </p:cNvPr>
          <p:cNvSpPr>
            <a:spLocks noGrp="1"/>
          </p:cNvSpPr>
          <p:nvPr/>
        </p:nvSpPr>
        <p:spPr>
          <a:xfrm>
            <a:off x="7333488" y="236829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2</a:t>
            </a:r>
            <a:endParaRPr sz="650"/>
          </a:p>
        </p:txBody>
      </p:sp>
      <p:sp>
        <p:nvSpPr>
          <p:cNvPr id="158" name="Text 156">
            <a:extLst>
              <a:ext uri="{FF2B5EF4-FFF2-40B4-BE49-F238E27FC236}">
                <a16:creationId xmlns:a16="http://schemas.microsoft.com/office/drawing/2014/main" id="{52EFEABB-8FE6-4BFE-A39C-25277B235951}"/>
              </a:ext>
            </a:extLst>
          </p:cNvPr>
          <p:cNvSpPr>
            <a:spLocks noGrp="1"/>
          </p:cNvSpPr>
          <p:nvPr/>
        </p:nvSpPr>
        <p:spPr>
          <a:xfrm>
            <a:off x="4846320" y="260604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60F</a:t>
            </a:r>
            <a:endParaRPr sz="600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0116E3FB-6340-4CCF-982A-BC3B739C9C97}"/>
              </a:ext>
            </a:extLst>
          </p:cNvPr>
          <p:cNvSpPr>
            <a:spLocks noGrp="1"/>
          </p:cNvSpPr>
          <p:nvPr/>
        </p:nvSpPr>
        <p:spPr>
          <a:xfrm>
            <a:off x="5157216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F582F70F-DFD0-4148-8643-6CA7E84CFF8D}"/>
              </a:ext>
            </a:extLst>
          </p:cNvPr>
          <p:cNvSpPr>
            <a:spLocks noGrp="1"/>
          </p:cNvSpPr>
          <p:nvPr/>
        </p:nvSpPr>
        <p:spPr>
          <a:xfrm>
            <a:off x="5468112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49ECDD2F-8D3E-49C6-B7EB-39F73D80EEFE}"/>
              </a:ext>
            </a:extLst>
          </p:cNvPr>
          <p:cNvSpPr>
            <a:spLocks noGrp="1"/>
          </p:cNvSpPr>
          <p:nvPr/>
        </p:nvSpPr>
        <p:spPr>
          <a:xfrm>
            <a:off x="5779008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EDECF4"/>
          </a:solidFill>
        </p:spPr>
        <p:txBody>
          <a:bodyPr/>
          <a:lstStyle/>
          <a:p>
            <a:endParaRPr/>
          </a:p>
        </p:txBody>
      </p:sp>
      <p:sp>
        <p:nvSpPr>
          <p:cNvPr id="162" name="Text 160">
            <a:extLst>
              <a:ext uri="{FF2B5EF4-FFF2-40B4-BE49-F238E27FC236}">
                <a16:creationId xmlns:a16="http://schemas.microsoft.com/office/drawing/2014/main" id="{A72FFDBA-2445-48B7-8155-050E9B3312AC}"/>
              </a:ext>
            </a:extLst>
          </p:cNvPr>
          <p:cNvSpPr>
            <a:spLocks noGrp="1"/>
          </p:cNvSpPr>
          <p:nvPr/>
        </p:nvSpPr>
        <p:spPr>
          <a:xfrm>
            <a:off x="5779008" y="260604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1</a:t>
            </a:r>
            <a:endParaRPr sz="650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905B054D-E5DC-471E-9F0A-4362F09DA65B}"/>
              </a:ext>
            </a:extLst>
          </p:cNvPr>
          <p:cNvSpPr>
            <a:spLocks noGrp="1"/>
          </p:cNvSpPr>
          <p:nvPr/>
        </p:nvSpPr>
        <p:spPr>
          <a:xfrm>
            <a:off x="6089904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F525ABB9-98E4-406A-AA21-89E323550410}"/>
              </a:ext>
            </a:extLst>
          </p:cNvPr>
          <p:cNvSpPr>
            <a:spLocks noGrp="1"/>
          </p:cNvSpPr>
          <p:nvPr/>
        </p:nvSpPr>
        <p:spPr>
          <a:xfrm>
            <a:off x="6400800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4E3C8D"/>
          </a:solidFill>
        </p:spPr>
        <p:txBody>
          <a:bodyPr/>
          <a:lstStyle/>
          <a:p>
            <a:endParaRPr/>
          </a:p>
        </p:txBody>
      </p:sp>
      <p:sp>
        <p:nvSpPr>
          <p:cNvPr id="165" name="Text 163">
            <a:extLst>
              <a:ext uri="{FF2B5EF4-FFF2-40B4-BE49-F238E27FC236}">
                <a16:creationId xmlns:a16="http://schemas.microsoft.com/office/drawing/2014/main" id="{426A0170-24AF-42B0-848B-A023C45DBB13}"/>
              </a:ext>
            </a:extLst>
          </p:cNvPr>
          <p:cNvSpPr>
            <a:spLocks noGrp="1"/>
          </p:cNvSpPr>
          <p:nvPr/>
        </p:nvSpPr>
        <p:spPr>
          <a:xfrm>
            <a:off x="6400800" y="260604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47</a:t>
            </a:r>
            <a:endParaRPr sz="650"/>
          </a:p>
        </p:txBody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0F0710BF-C58E-402A-912C-D8DDB09D36D4}"/>
              </a:ext>
            </a:extLst>
          </p:cNvPr>
          <p:cNvSpPr>
            <a:spLocks noGrp="1"/>
          </p:cNvSpPr>
          <p:nvPr/>
        </p:nvSpPr>
        <p:spPr>
          <a:xfrm>
            <a:off x="6711696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40D86A61-DC06-48FE-9080-096E8DE3C311}"/>
              </a:ext>
            </a:extLst>
          </p:cNvPr>
          <p:cNvSpPr>
            <a:spLocks noGrp="1"/>
          </p:cNvSpPr>
          <p:nvPr/>
        </p:nvSpPr>
        <p:spPr>
          <a:xfrm>
            <a:off x="7022592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D32974DB-C013-439B-99AC-42C044867C01}"/>
              </a:ext>
            </a:extLst>
          </p:cNvPr>
          <p:cNvSpPr>
            <a:spLocks noGrp="1"/>
          </p:cNvSpPr>
          <p:nvPr/>
        </p:nvSpPr>
        <p:spPr>
          <a:xfrm>
            <a:off x="7333488" y="2606040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9" name="Text 167">
            <a:extLst>
              <a:ext uri="{FF2B5EF4-FFF2-40B4-BE49-F238E27FC236}">
                <a16:creationId xmlns:a16="http://schemas.microsoft.com/office/drawing/2014/main" id="{C7CC90FD-EA15-4269-BEB3-57EE0CAEBBF4}"/>
              </a:ext>
            </a:extLst>
          </p:cNvPr>
          <p:cNvSpPr>
            <a:spLocks noGrp="1"/>
          </p:cNvSpPr>
          <p:nvPr/>
        </p:nvSpPr>
        <p:spPr>
          <a:xfrm>
            <a:off x="4846320" y="284378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60O</a:t>
            </a:r>
            <a:endParaRPr sz="600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2CFD303C-FD41-4712-B4A4-FA4140333318}"/>
              </a:ext>
            </a:extLst>
          </p:cNvPr>
          <p:cNvSpPr>
            <a:spLocks noGrp="1"/>
          </p:cNvSpPr>
          <p:nvPr/>
        </p:nvSpPr>
        <p:spPr>
          <a:xfrm>
            <a:off x="5157216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49D8156C-F3C9-45F2-B063-61C6C20B9E76}"/>
              </a:ext>
            </a:extLst>
          </p:cNvPr>
          <p:cNvSpPr>
            <a:spLocks noGrp="1"/>
          </p:cNvSpPr>
          <p:nvPr/>
        </p:nvSpPr>
        <p:spPr>
          <a:xfrm>
            <a:off x="5468112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165F85B2-E29C-433C-A213-7AD110A47A08}"/>
              </a:ext>
            </a:extLst>
          </p:cNvPr>
          <p:cNvSpPr>
            <a:spLocks noGrp="1"/>
          </p:cNvSpPr>
          <p:nvPr/>
        </p:nvSpPr>
        <p:spPr>
          <a:xfrm>
            <a:off x="5779008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A41D2278-E55B-4B3A-8661-0A3E87D7F9D2}"/>
              </a:ext>
            </a:extLst>
          </p:cNvPr>
          <p:cNvSpPr>
            <a:spLocks noGrp="1"/>
          </p:cNvSpPr>
          <p:nvPr/>
        </p:nvSpPr>
        <p:spPr>
          <a:xfrm>
            <a:off x="6089904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D271118D-8635-4CE7-B612-26AD7A0050D1}"/>
              </a:ext>
            </a:extLst>
          </p:cNvPr>
          <p:cNvSpPr>
            <a:spLocks noGrp="1"/>
          </p:cNvSpPr>
          <p:nvPr/>
        </p:nvSpPr>
        <p:spPr>
          <a:xfrm>
            <a:off x="6400800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061F3815-FF36-4B70-BC2E-8402E6D26BE7}"/>
              </a:ext>
            </a:extLst>
          </p:cNvPr>
          <p:cNvSpPr>
            <a:spLocks noGrp="1"/>
          </p:cNvSpPr>
          <p:nvPr/>
        </p:nvSpPr>
        <p:spPr>
          <a:xfrm>
            <a:off x="6711696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4C3A8C"/>
          </a:solidFill>
        </p:spPr>
        <p:txBody>
          <a:bodyPr/>
          <a:lstStyle/>
          <a:p>
            <a:endParaRPr/>
          </a:p>
        </p:txBody>
      </p:sp>
      <p:sp>
        <p:nvSpPr>
          <p:cNvPr id="176" name="Text 174">
            <a:extLst>
              <a:ext uri="{FF2B5EF4-FFF2-40B4-BE49-F238E27FC236}">
                <a16:creationId xmlns:a16="http://schemas.microsoft.com/office/drawing/2014/main" id="{F89991BB-1543-4B63-A59C-CB5AC3F5B6D0}"/>
              </a:ext>
            </a:extLst>
          </p:cNvPr>
          <p:cNvSpPr>
            <a:spLocks noGrp="1"/>
          </p:cNvSpPr>
          <p:nvPr/>
        </p:nvSpPr>
        <p:spPr>
          <a:xfrm>
            <a:off x="6711696" y="284378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48</a:t>
            </a:r>
            <a:endParaRPr sz="650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5207DAC2-F418-4ED4-8EF2-0BDA1B4A3F34}"/>
              </a:ext>
            </a:extLst>
          </p:cNvPr>
          <p:cNvSpPr>
            <a:spLocks noGrp="1"/>
          </p:cNvSpPr>
          <p:nvPr/>
        </p:nvSpPr>
        <p:spPr>
          <a:xfrm>
            <a:off x="7022592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B562FDB5-008A-4AA7-AE74-F2E73966D7C9}"/>
              </a:ext>
            </a:extLst>
          </p:cNvPr>
          <p:cNvSpPr>
            <a:spLocks noGrp="1"/>
          </p:cNvSpPr>
          <p:nvPr/>
        </p:nvSpPr>
        <p:spPr>
          <a:xfrm>
            <a:off x="7333488" y="2843784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9" name="Text 177">
            <a:extLst>
              <a:ext uri="{FF2B5EF4-FFF2-40B4-BE49-F238E27FC236}">
                <a16:creationId xmlns:a16="http://schemas.microsoft.com/office/drawing/2014/main" id="{13271C1F-9213-4264-B27C-5A2A551D1399}"/>
              </a:ext>
            </a:extLst>
          </p:cNvPr>
          <p:cNvSpPr>
            <a:spLocks noGrp="1"/>
          </p:cNvSpPr>
          <p:nvPr/>
        </p:nvSpPr>
        <p:spPr>
          <a:xfrm>
            <a:off x="4846320" y="30815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60P</a:t>
            </a:r>
            <a:endParaRPr sz="600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0C20C002-6189-4B4E-BA46-EE01B738CE40}"/>
              </a:ext>
            </a:extLst>
          </p:cNvPr>
          <p:cNvSpPr>
            <a:spLocks noGrp="1"/>
          </p:cNvSpPr>
          <p:nvPr/>
        </p:nvSpPr>
        <p:spPr>
          <a:xfrm>
            <a:off x="5157216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46F3D990-7336-45CE-B704-554120718772}"/>
              </a:ext>
            </a:extLst>
          </p:cNvPr>
          <p:cNvSpPr>
            <a:spLocks noGrp="1"/>
          </p:cNvSpPr>
          <p:nvPr/>
        </p:nvSpPr>
        <p:spPr>
          <a:xfrm>
            <a:off x="5468112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79D1A0D5-A938-4292-896A-7AC7939582A5}"/>
              </a:ext>
            </a:extLst>
          </p:cNvPr>
          <p:cNvSpPr>
            <a:spLocks noGrp="1"/>
          </p:cNvSpPr>
          <p:nvPr/>
        </p:nvSpPr>
        <p:spPr>
          <a:xfrm>
            <a:off x="5779008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D1CCE1"/>
          </a:solidFill>
        </p:spPr>
        <p:txBody>
          <a:bodyPr/>
          <a:lstStyle/>
          <a:p>
            <a:endParaRPr/>
          </a:p>
        </p:txBody>
      </p:sp>
      <p:sp>
        <p:nvSpPr>
          <p:cNvPr id="183" name="Text 181">
            <a:extLst>
              <a:ext uri="{FF2B5EF4-FFF2-40B4-BE49-F238E27FC236}">
                <a16:creationId xmlns:a16="http://schemas.microsoft.com/office/drawing/2014/main" id="{98951D92-0DE3-45E2-B718-5C541331D323}"/>
              </a:ext>
            </a:extLst>
          </p:cNvPr>
          <p:cNvSpPr>
            <a:spLocks noGrp="1"/>
          </p:cNvSpPr>
          <p:nvPr/>
        </p:nvSpPr>
        <p:spPr>
          <a:xfrm>
            <a:off x="5779008" y="308152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5</a:t>
            </a:r>
            <a:endParaRPr sz="650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855A64B8-95AB-4C05-8C0C-5EA8F29FB877}"/>
              </a:ext>
            </a:extLst>
          </p:cNvPr>
          <p:cNvSpPr>
            <a:spLocks noGrp="1"/>
          </p:cNvSpPr>
          <p:nvPr/>
        </p:nvSpPr>
        <p:spPr>
          <a:xfrm>
            <a:off x="6089904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3CB22355-F556-4AF2-BDEC-4AF2DE193D59}"/>
              </a:ext>
            </a:extLst>
          </p:cNvPr>
          <p:cNvSpPr>
            <a:spLocks noGrp="1"/>
          </p:cNvSpPr>
          <p:nvPr/>
        </p:nvSpPr>
        <p:spPr>
          <a:xfrm>
            <a:off x="6400800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6CDE4BF5-AA47-429A-ACC1-92C8D98643C1}"/>
              </a:ext>
            </a:extLst>
          </p:cNvPr>
          <p:cNvSpPr>
            <a:spLocks noGrp="1"/>
          </p:cNvSpPr>
          <p:nvPr/>
        </p:nvSpPr>
        <p:spPr>
          <a:xfrm>
            <a:off x="6711696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909B936A-8F4F-4B81-9379-81FA09E571C6}"/>
              </a:ext>
            </a:extLst>
          </p:cNvPr>
          <p:cNvSpPr>
            <a:spLocks noGrp="1"/>
          </p:cNvSpPr>
          <p:nvPr/>
        </p:nvSpPr>
        <p:spPr>
          <a:xfrm>
            <a:off x="7022592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574793"/>
          </a:solidFill>
        </p:spPr>
        <p:txBody>
          <a:bodyPr/>
          <a:lstStyle/>
          <a:p>
            <a:endParaRPr/>
          </a:p>
        </p:txBody>
      </p:sp>
      <p:sp>
        <p:nvSpPr>
          <p:cNvPr id="188" name="Text 186">
            <a:extLst>
              <a:ext uri="{FF2B5EF4-FFF2-40B4-BE49-F238E27FC236}">
                <a16:creationId xmlns:a16="http://schemas.microsoft.com/office/drawing/2014/main" id="{FE51FB55-8C0D-4A62-A11B-5618D48B7A3D}"/>
              </a:ext>
            </a:extLst>
          </p:cNvPr>
          <p:cNvSpPr>
            <a:spLocks noGrp="1"/>
          </p:cNvSpPr>
          <p:nvPr/>
        </p:nvSpPr>
        <p:spPr>
          <a:xfrm>
            <a:off x="7022592" y="308152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43</a:t>
            </a:r>
            <a:endParaRPr sz="650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28E5DE2E-62D1-42CA-84D3-A7726A74AAFB}"/>
              </a:ext>
            </a:extLst>
          </p:cNvPr>
          <p:cNvSpPr>
            <a:spLocks noGrp="1"/>
          </p:cNvSpPr>
          <p:nvPr/>
        </p:nvSpPr>
        <p:spPr>
          <a:xfrm>
            <a:off x="7333488" y="3081528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0" name="Text 188">
            <a:extLst>
              <a:ext uri="{FF2B5EF4-FFF2-40B4-BE49-F238E27FC236}">
                <a16:creationId xmlns:a16="http://schemas.microsoft.com/office/drawing/2014/main" id="{549382C2-90A4-4B83-A100-D876BC89552C}"/>
              </a:ext>
            </a:extLst>
          </p:cNvPr>
          <p:cNvSpPr>
            <a:spLocks noGrp="1"/>
          </p:cNvSpPr>
          <p:nvPr/>
        </p:nvSpPr>
        <p:spPr>
          <a:xfrm>
            <a:off x="4846320" y="331927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60S</a:t>
            </a:r>
            <a:endParaRPr sz="600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B2C188B3-E394-49B0-949A-A90E7109F2C5}"/>
              </a:ext>
            </a:extLst>
          </p:cNvPr>
          <p:cNvSpPr>
            <a:spLocks noGrp="1"/>
          </p:cNvSpPr>
          <p:nvPr/>
        </p:nvSpPr>
        <p:spPr>
          <a:xfrm>
            <a:off x="5157216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3FA828C3-CD1A-45B6-9327-A6DE5C161B85}"/>
              </a:ext>
            </a:extLst>
          </p:cNvPr>
          <p:cNvSpPr>
            <a:spLocks noGrp="1"/>
          </p:cNvSpPr>
          <p:nvPr/>
        </p:nvSpPr>
        <p:spPr>
          <a:xfrm>
            <a:off x="5468112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EA3FF065-0394-4988-A816-9163460B61D7}"/>
              </a:ext>
            </a:extLst>
          </p:cNvPr>
          <p:cNvSpPr>
            <a:spLocks noGrp="1"/>
          </p:cNvSpPr>
          <p:nvPr/>
        </p:nvSpPr>
        <p:spPr>
          <a:xfrm>
            <a:off x="5779008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18AB07A5-C348-44C8-AB9F-9FD32FF763D5}"/>
              </a:ext>
            </a:extLst>
          </p:cNvPr>
          <p:cNvSpPr>
            <a:spLocks noGrp="1"/>
          </p:cNvSpPr>
          <p:nvPr/>
        </p:nvSpPr>
        <p:spPr>
          <a:xfrm>
            <a:off x="6089904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719F5A90-5D99-4979-B27D-6DD811F7F04A}"/>
              </a:ext>
            </a:extLst>
          </p:cNvPr>
          <p:cNvSpPr>
            <a:spLocks noGrp="1"/>
          </p:cNvSpPr>
          <p:nvPr/>
        </p:nvSpPr>
        <p:spPr>
          <a:xfrm>
            <a:off x="6400800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317392A4-12BB-4922-A4F5-E2290C523AC8}"/>
              </a:ext>
            </a:extLst>
          </p:cNvPr>
          <p:cNvSpPr>
            <a:spLocks noGrp="1"/>
          </p:cNvSpPr>
          <p:nvPr/>
        </p:nvSpPr>
        <p:spPr>
          <a:xfrm>
            <a:off x="6711696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0BC46E8D-EDCF-4CE4-8964-2DBFBD80F307}"/>
              </a:ext>
            </a:extLst>
          </p:cNvPr>
          <p:cNvSpPr>
            <a:spLocks noGrp="1"/>
          </p:cNvSpPr>
          <p:nvPr/>
        </p:nvSpPr>
        <p:spPr>
          <a:xfrm>
            <a:off x="7022592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1A875AF8-BB92-4ED2-BB75-FA242917ED59}"/>
              </a:ext>
            </a:extLst>
          </p:cNvPr>
          <p:cNvSpPr>
            <a:spLocks noGrp="1"/>
          </p:cNvSpPr>
          <p:nvPr/>
        </p:nvSpPr>
        <p:spPr>
          <a:xfrm>
            <a:off x="7333488" y="3319272"/>
            <a:ext cx="292608" cy="219456"/>
          </a:xfrm>
          <a:prstGeom prst="roundRect">
            <a:avLst>
              <a:gd name="adj" fmla="val 25000"/>
            </a:avLst>
          </a:prstGeom>
          <a:solidFill>
            <a:srgbClr val="4C3A8C"/>
          </a:solidFill>
        </p:spPr>
        <p:txBody>
          <a:bodyPr/>
          <a:lstStyle/>
          <a:p>
            <a:endParaRPr/>
          </a:p>
        </p:txBody>
      </p:sp>
      <p:sp>
        <p:nvSpPr>
          <p:cNvPr id="199" name="Text 197">
            <a:extLst>
              <a:ext uri="{FF2B5EF4-FFF2-40B4-BE49-F238E27FC236}">
                <a16:creationId xmlns:a16="http://schemas.microsoft.com/office/drawing/2014/main" id="{2D978679-A002-4B99-8CD1-055CE1E891E3}"/>
              </a:ext>
            </a:extLst>
          </p:cNvPr>
          <p:cNvSpPr>
            <a:spLocks noGrp="1"/>
          </p:cNvSpPr>
          <p:nvPr/>
        </p:nvSpPr>
        <p:spPr>
          <a:xfrm>
            <a:off x="7333488" y="331927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48</a:t>
            </a:r>
            <a:endParaRPr sz="650"/>
          </a:p>
        </p:txBody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38725013-B20F-4B21-BB94-87BFE9F9FB6C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201" name="Text 199">
            <a:extLst>
              <a:ext uri="{FF2B5EF4-FFF2-40B4-BE49-F238E27FC236}">
                <a16:creationId xmlns:a16="http://schemas.microsoft.com/office/drawing/2014/main" id="{7D6854BE-ABE3-400C-9D63-7E8D9B07E023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그림에서 계산한 값과 Table 2 비교</a:t>
            </a:r>
            <a:endParaRPr sz="1200"/>
          </a:p>
        </p:txBody>
      </p:sp>
      <p:sp>
        <p:nvSpPr>
          <p:cNvPr id="202" name="Text 200">
            <a:extLst>
              <a:ext uri="{FF2B5EF4-FFF2-40B4-BE49-F238E27FC236}">
                <a16:creationId xmlns:a16="http://schemas.microsoft.com/office/drawing/2014/main" id="{3CC7D12F-D69C-4660-B325-9F76ED4C7E87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확인: Fig. 5(b) SVM 366/384 = 95.31%, Fig. 5(c) XGBoost 373/384 = 97.14%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Table 2의 96.35%, 95.57%와 불일치한다. 논문 표와 그림의 원래 값을 각각 보존한다.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그림에서 RF·XGBoost의 대표 오류는 60° 회내 → 30° 회내이다.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500458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CA247B-2D91-4AD1-8973-412C91CAFDCB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오분류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D79D71-0133-4BAB-BFD7-9EAB960BEAC5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오분류 패턴의 구조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B00E8C-EA5B-4196-8878-3849AE06280E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Fig. 5 원본과 결과 해석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3F7C32-FE52-4BD2-A2DC-1822F5E832DB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47</a:t>
            </a:r>
            <a:endParaRPr sz="9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438504"/>
            <a:ext cx="8058150" cy="251414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658A8F7-AEBC-4A9D-B313-4AD1D09979EB}"/>
              </a:ext>
            </a:extLst>
          </p:cNvPr>
          <p:cNvSpPr>
            <a:spLocks noGrp="1"/>
          </p:cNvSpPr>
          <p:nvPr/>
        </p:nvSpPr>
        <p:spPr>
          <a:xfrm>
            <a:off x="638175" y="4057650"/>
            <a:ext cx="790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8758B"/>
                </a:solidFill>
                <a:latin typeface="Malgun Gothic"/>
                <a:ea typeface="Malgun Gothic"/>
                <a:cs typeface="Malgun Gothic"/>
              </a:rPr>
              <a:t>논문 해석: 같은 동작에서 두 각도 사이의 혼동이 주요 오류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D6A3F9-F15B-4777-A625-F6A82F5F9821}"/>
              </a:ext>
            </a:extLst>
          </p:cNvPr>
          <p:cNvSpPr>
            <a:spLocks noGrp="1"/>
          </p:cNvSpPr>
          <p:nvPr/>
        </p:nvSpPr>
        <p:spPr>
          <a:xfrm>
            <a:off x="638175" y="4410075"/>
            <a:ext cx="7905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0B25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추가 집계: 같은 동작의 각도 오류는 RF 8/13, XGBoost 8/11, SVM 8/18건이다.</a:t>
            </a:r>
          </a:p>
        </p:txBody>
      </p:sp>
    </p:spTree>
    <p:extLst>
      <p:ext uri="{BB962C8B-B14F-4D97-AF65-F5344CB8AC3E}">
        <p14:creationId xmlns:p14="http://schemas.microsoft.com/office/powerpoint/2010/main" val="614669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067993-8B18-4502-835F-48EE08A201A7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해석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185091-5A69-4024-B268-73D4DBDFCEB3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왜 각도 구분이 더 어려운가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810582-A93E-4990-89BA-29C87D2F04A0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결과를 설명하는 논리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52DA0F-4B37-4B41-82B1-6E8A64A862AC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48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6CFE78-5AE5-4823-AB56-41067408D7D4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54F502-E1D6-4A54-854F-264DCFD8A679}"/>
              </a:ext>
            </a:extLst>
          </p:cNvPr>
          <p:cNvSpPr>
            <a:spLocks noGrp="1"/>
          </p:cNvSpPr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신호 수준의 이유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803F7C-7FD4-4022-AB7D-52900D6C18C1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각도 변화가 동작 변화보다 작은 근활성 차이를 만들 수 있다고 해석한다.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활성 진폭과 근육 동원 패턴의 미세한 차이가 구분을 어렵게 할 가능성이 있다.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4D681B-10DF-470D-BD14-0856164BB096}"/>
              </a:ext>
            </a:extLst>
          </p:cNvPr>
          <p:cNvSpPr>
            <a:spLocks noGrp="1"/>
          </p:cNvSpPr>
          <p:nvPr/>
        </p:nvSpPr>
        <p:spPr>
          <a:xfrm>
            <a:off x="4663440" y="137160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83D8BF-0E97-4EF2-BAD4-C2506BC1F0FA}"/>
              </a:ext>
            </a:extLst>
          </p:cNvPr>
          <p:cNvSpPr>
            <a:spLocks noGrp="1"/>
          </p:cNvSpPr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수준의 이유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62DDA1-47D4-4D3D-9311-98C7A365B93E}"/>
              </a:ext>
            </a:extLst>
          </p:cNvPr>
          <p:cNvSpPr>
            <a:spLocks noGrp="1"/>
          </p:cNvSpPr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특징은 진폭과 파형 복잡도를 요약한다.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ZC·SSC도 주파수 관련 정보를 간접 반영한다.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주파수·시간–주파수 특징을 추가해 개선 여부를 실험으로 확인한다.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7D8DACF-7400-48A3-8AE3-9E2B19E1A36D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B6FAE8-EC00-4279-B7E1-88B4079B8E46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논문이 제시한 개선 방향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21713FC-E697-4288-8741-532B3A991ACA}"/>
              </a:ext>
            </a:extLst>
          </p:cNvPr>
          <p:cNvSpPr>
            <a:spLocks noGrp="1"/>
          </p:cNvSpPr>
          <p:nvPr/>
        </p:nvSpPr>
        <p:spPr>
          <a:xfrm>
            <a:off x="731520" y="4014216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논문은 주파수·시간–주파수 특징이 각도 변화에 대한 민감도를 높일 가능성을 제안한다.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해당 특징을 추가한 비교 실험 결과는 이 논문에 제시되지 않았다.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실습 확장: MNF·MDF 등을 추가하고 각도 오분류의 변화를 측정한다.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1241832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EF6D94-0DD8-4AEE-AE42-E505682B4EEC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해석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68A4ED-5901-440D-92F3-5BFD25A5E249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동작별 성능 차이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3A93F2-A67D-487B-BCA8-35C359EBCD17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논문의 정성적 해석과 모델별 차이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91C195-BD22-4DB6-B60F-5AC7DFA44CBE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49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2B0C61-1062-493B-868F-66316F67363A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4308FA-AA54-436E-8A10-3EDA66F99E7C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동작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266965A-E2EC-4CE0-A7A9-0E044E7A1710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A69A5B-27FE-4AB2-880B-62E972A03935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논문의 설명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52FB951-991B-4989-9327-B456B2C2490B}"/>
              </a:ext>
            </a:extLst>
          </p:cNvPr>
          <p:cNvSpPr>
            <a:spLocks noGrp="1"/>
          </p:cNvSpPr>
          <p:nvPr/>
        </p:nvSpPr>
        <p:spPr>
          <a:xfrm>
            <a:off x="384048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ACB0E8-F7C9-4133-970E-2B582F2AE805}"/>
              </a:ext>
            </a:extLst>
          </p:cNvPr>
          <p:cNvSpPr>
            <a:spLocks noGrp="1"/>
          </p:cNvSpPr>
          <p:nvPr/>
        </p:nvSpPr>
        <p:spPr>
          <a:xfrm>
            <a:off x="3840480" y="1435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해석 범위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790E8C8-A889-4BE8-A3D5-3A1EC8E66DD1}"/>
              </a:ext>
            </a:extLst>
          </p:cNvPr>
          <p:cNvSpPr>
            <a:spLocks noGrp="1"/>
          </p:cNvSpPr>
          <p:nvPr/>
        </p:nvSpPr>
        <p:spPr>
          <a:xfrm>
            <a:off x="585216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F4BA40-FFCB-4185-80BE-DEBF46B438D7}"/>
              </a:ext>
            </a:extLst>
          </p:cNvPr>
          <p:cNvSpPr>
            <a:spLocks noGrp="1"/>
          </p:cNvSpPr>
          <p:nvPr/>
        </p:nvSpPr>
        <p:spPr>
          <a:xfrm>
            <a:off x="5852160" y="143560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정확도 경향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220822E-6137-42EC-AA4D-BF99131B57BD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7498080" cy="443484"/>
          </a:xfrm>
          <a:prstGeom prst="roundRect">
            <a:avLst>
              <a:gd name="adj" fmla="val 1237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7A4786-F443-4E4F-81D1-8A3E832BD3FB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손 펴기 (open)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2EFB26-55FB-4351-A543-D3320E628A50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크고 뚜렷한 근활성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81D1AA9-279D-4E56-84FC-D93D0913BA42}"/>
              </a:ext>
            </a:extLst>
          </p:cNvPr>
          <p:cNvSpPr>
            <a:spLocks noGrp="1"/>
          </p:cNvSpPr>
          <p:nvPr/>
        </p:nvSpPr>
        <p:spPr>
          <a:xfrm>
            <a:off x="3950208" y="1837944"/>
            <a:ext cx="179222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Discussion의 정성적 해석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A581C3-67B1-4362-B9B7-B0335263B7B4}"/>
              </a:ext>
            </a:extLst>
          </p:cNvPr>
          <p:cNvSpPr>
            <a:spLocks noGrp="1"/>
          </p:cNvSpPr>
          <p:nvPr/>
        </p:nvSpPr>
        <p:spPr>
          <a:xfrm>
            <a:off x="5961888" y="1837944"/>
            <a:ext cx="197510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높음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E2BE8B0-3E1F-4E86-9112-BC05591DAAE5}"/>
              </a:ext>
            </a:extLst>
          </p:cNvPr>
          <p:cNvSpPr>
            <a:spLocks noGrp="1"/>
          </p:cNvSpPr>
          <p:nvPr/>
        </p:nvSpPr>
        <p:spPr>
          <a:xfrm>
            <a:off x="658368" y="231800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주먹 쥐기 (fist)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F367E93-F72F-47DD-855D-36B2B5934CA3}"/>
              </a:ext>
            </a:extLst>
          </p:cNvPr>
          <p:cNvSpPr>
            <a:spLocks noGrp="1"/>
          </p:cNvSpPr>
          <p:nvPr/>
        </p:nvSpPr>
        <p:spPr>
          <a:xfrm>
            <a:off x="2304288" y="231800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개별 원인 설명 없음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911290-AEB3-4BA8-A71A-EC8A605C5F89}"/>
              </a:ext>
            </a:extLst>
          </p:cNvPr>
          <p:cNvSpPr>
            <a:spLocks noGrp="1"/>
          </p:cNvSpPr>
          <p:nvPr/>
        </p:nvSpPr>
        <p:spPr>
          <a:xfrm>
            <a:off x="3950208" y="2318004"/>
            <a:ext cx="179222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Fig. 5의 모델별 결과 참고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D5AAA83-658D-4012-B922-A2473150D408}"/>
              </a:ext>
            </a:extLst>
          </p:cNvPr>
          <p:cNvSpPr>
            <a:spLocks noGrp="1"/>
          </p:cNvSpPr>
          <p:nvPr/>
        </p:nvSpPr>
        <p:spPr>
          <a:xfrm>
            <a:off x="5961888" y="2318004"/>
            <a:ext cx="197510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모델별 결과 참고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322C24-998F-436F-9DD3-034A911443E8}"/>
              </a:ext>
            </a:extLst>
          </p:cNvPr>
          <p:cNvSpPr>
            <a:spLocks noGrp="1"/>
          </p:cNvSpPr>
          <p:nvPr/>
        </p:nvSpPr>
        <p:spPr>
          <a:xfrm>
            <a:off x="548640" y="2734056"/>
            <a:ext cx="7498080" cy="443484"/>
          </a:xfrm>
          <a:prstGeom prst="roundRect">
            <a:avLst>
              <a:gd name="adj" fmla="val 1237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A28106E-4C9C-47E0-A75B-D4E19D257F28}"/>
              </a:ext>
            </a:extLst>
          </p:cNvPr>
          <p:cNvSpPr>
            <a:spLocks noGrp="1"/>
          </p:cNvSpPr>
          <p:nvPr/>
        </p:nvSpPr>
        <p:spPr>
          <a:xfrm>
            <a:off x="658368" y="279806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회외 (supination)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8CD4770-D735-4CCA-BBA1-442A61D53B7A}"/>
              </a:ext>
            </a:extLst>
          </p:cNvPr>
          <p:cNvSpPr>
            <a:spLocks noGrp="1"/>
          </p:cNvSpPr>
          <p:nvPr/>
        </p:nvSpPr>
        <p:spPr>
          <a:xfrm>
            <a:off x="2304288" y="279806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개별 원인 설명 없음</a:t>
            </a:r>
            <a:endParaRPr sz="1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9010A6-E44A-48A6-A875-6ACF42222CB9}"/>
              </a:ext>
            </a:extLst>
          </p:cNvPr>
          <p:cNvSpPr>
            <a:spLocks noGrp="1"/>
          </p:cNvSpPr>
          <p:nvPr/>
        </p:nvSpPr>
        <p:spPr>
          <a:xfrm>
            <a:off x="3950208" y="2798064"/>
            <a:ext cx="179222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Fig. 5의 모델별 결과 참고</a:t>
            </a:r>
            <a:endParaRPr sz="10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1DBA74-C1A1-4FE8-89F7-DFEB8AE4ED87}"/>
              </a:ext>
            </a:extLst>
          </p:cNvPr>
          <p:cNvSpPr>
            <a:spLocks noGrp="1"/>
          </p:cNvSpPr>
          <p:nvPr/>
        </p:nvSpPr>
        <p:spPr>
          <a:xfrm>
            <a:off x="5961888" y="2798064"/>
            <a:ext cx="197510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모델별 차이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75ADD00-48B3-4EAD-80F0-5DBAC1E7C85B}"/>
              </a:ext>
            </a:extLst>
          </p:cNvPr>
          <p:cNvSpPr>
            <a:spLocks noGrp="1"/>
          </p:cNvSpPr>
          <p:nvPr/>
        </p:nvSpPr>
        <p:spPr>
          <a:xfrm>
            <a:off x="658368" y="327812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회내 (pronation)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5E42BE8-152D-46B3-A902-27803369AE11}"/>
              </a:ext>
            </a:extLst>
          </p:cNvPr>
          <p:cNvSpPr>
            <a:spLocks noGrp="1"/>
          </p:cNvSpPr>
          <p:nvPr/>
        </p:nvSpPr>
        <p:spPr>
          <a:xfrm>
            <a:off x="2304288" y="3278124"/>
            <a:ext cx="142646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미세한 근협응 필요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57DE971-FC6D-461C-9BD6-94AD5888A5DB}"/>
              </a:ext>
            </a:extLst>
          </p:cNvPr>
          <p:cNvSpPr>
            <a:spLocks noGrp="1"/>
          </p:cNvSpPr>
          <p:nvPr/>
        </p:nvSpPr>
        <p:spPr>
          <a:xfrm>
            <a:off x="3950208" y="3278124"/>
            <a:ext cx="179222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Discussion의 정성적 해석</a:t>
            </a:r>
            <a:endParaRPr sz="1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AABFEDA-D95A-4FA5-ACF0-9CD4BF0701D1}"/>
              </a:ext>
            </a:extLst>
          </p:cNvPr>
          <p:cNvSpPr>
            <a:spLocks noGrp="1"/>
          </p:cNvSpPr>
          <p:nvPr/>
        </p:nvSpPr>
        <p:spPr>
          <a:xfrm>
            <a:off x="5961888" y="3278124"/>
            <a:ext cx="1975104" cy="3520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상대적으로 낮음</a:t>
            </a:r>
            <a:endParaRPr sz="10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B3B2D6A-0E94-4385-96A8-FA7A55AA4AF2}"/>
              </a:ext>
            </a:extLst>
          </p:cNvPr>
          <p:cNvSpPr>
            <a:spLocks noGrp="1"/>
          </p:cNvSpPr>
          <p:nvPr/>
        </p:nvSpPr>
        <p:spPr>
          <a:xfrm>
            <a:off x="548640" y="3803904"/>
            <a:ext cx="8046720" cy="813816"/>
          </a:xfrm>
          <a:prstGeom prst="roundRect">
            <a:avLst>
              <a:gd name="adj" fmla="val 6742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3DF312A-09AC-4286-8D7B-955A935CB9B2}"/>
              </a:ext>
            </a:extLst>
          </p:cNvPr>
          <p:cNvSpPr>
            <a:spLocks noGrp="1"/>
          </p:cNvSpPr>
          <p:nvPr/>
        </p:nvSpPr>
        <p:spPr>
          <a:xfrm>
            <a:off x="731520" y="390448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이 관찰이 실무에 주는 시사점</a:t>
            </a:r>
            <a:endParaRPr sz="12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3BC11B8-598F-4EB6-BC97-024F37A3A1CD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open과 pronation에 대한 논문의 해석을 중심으로 읽되, 동작별 순위는 모델에 따라 달라진다.</a:t>
            </a:r>
            <a:endParaRPr sz="975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975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근활성 원인 설명은 해석 가설이며, 실제 응용에서는 동작별 오류율을 별도로 검증한다.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478085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B9C445-34D6-4D4D-878F-091D47A6B08A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정리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EC19F2-C0BC-4FBD-BAFC-7100ACD76B3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논문이 스스로 밝힌 한계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0DB08C-AECC-4839-AB34-2A802173603D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다섯 가지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5F2A24-4614-42B9-95D1-87865EF838EB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50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1FE74F-A231-498B-A61D-FEF91640E067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57C050-B1CA-4EC5-A635-864D48A8C7E8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한계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CEB8C3-C95E-446A-8B67-942A6AD072B9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17D961-5904-4E84-BEDD-37CB3F3296B0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5851053-9C11-454B-999C-92A49ADD9016}"/>
              </a:ext>
            </a:extLst>
          </p:cNvPr>
          <p:cNvSpPr>
            <a:spLocks noGrp="1"/>
          </p:cNvSpPr>
          <p:nvPr/>
        </p:nvSpPr>
        <p:spPr>
          <a:xfrm>
            <a:off x="4206240" y="1371600"/>
            <a:ext cx="43891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8EE7AD-05A5-4CB5-B525-D39B9A95F0C9}"/>
              </a:ext>
            </a:extLst>
          </p:cNvPr>
          <p:cNvSpPr>
            <a:spLocks noGrp="1"/>
          </p:cNvSpPr>
          <p:nvPr/>
        </p:nvSpPr>
        <p:spPr>
          <a:xfrm>
            <a:off x="4206240" y="1435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함의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32DF660-06AC-4ACB-A08A-031E073A2EE0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E680C1-095A-41FC-9C43-2109C30D35D7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 8명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6F1677-50E7-45CB-A42E-2208F3E39C17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17922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예비 연구로는 충분하나 다양성이 부족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47496F-AE4D-4832-854E-C5032063455B}"/>
              </a:ext>
            </a:extLst>
          </p:cNvPr>
          <p:cNvSpPr>
            <a:spLocks noGrp="1"/>
          </p:cNvSpPr>
          <p:nvPr/>
        </p:nvSpPr>
        <p:spPr>
          <a:xfrm>
            <a:off x="4315968" y="1837944"/>
            <a:ext cx="41696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연령·근육 해부·신체 조건 전반의 일반화 제약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4E7AB16-DF34-49CC-8CD6-5D256109D711}"/>
              </a:ext>
            </a:extLst>
          </p:cNvPr>
          <p:cNvSpPr>
            <a:spLocks noGrp="1"/>
          </p:cNvSpPr>
          <p:nvPr/>
        </p:nvSpPr>
        <p:spPr>
          <a:xfrm>
            <a:off x="658368" y="2306117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정적 4동작·2각도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A064E0B-9D07-4E1E-BB66-A7BEBCE099F4}"/>
              </a:ext>
            </a:extLst>
          </p:cNvPr>
          <p:cNvSpPr>
            <a:spLocks noGrp="1"/>
          </p:cNvSpPr>
          <p:nvPr/>
        </p:nvSpPr>
        <p:spPr>
          <a:xfrm>
            <a:off x="2304288" y="2306117"/>
            <a:ext cx="17922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통제된 기준선 확보를 위한 의도적 제한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26950E5-5E0A-4A40-971D-F83471573909}"/>
              </a:ext>
            </a:extLst>
          </p:cNvPr>
          <p:cNvSpPr>
            <a:spLocks noGrp="1"/>
          </p:cNvSpPr>
          <p:nvPr/>
        </p:nvSpPr>
        <p:spPr>
          <a:xfrm>
            <a:off x="4315968" y="2306117"/>
            <a:ext cx="41696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동적·연속 움직임은 미반영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3FC3B3D-390E-4419-8F08-32A102767CB3}"/>
              </a:ext>
            </a:extLst>
          </p:cNvPr>
          <p:cNvSpPr>
            <a:spLocks noGrp="1"/>
          </p:cNvSpPr>
          <p:nvPr/>
        </p:nvSpPr>
        <p:spPr>
          <a:xfrm>
            <a:off x="548640" y="2710282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F3CC20-C707-427D-AFCF-61C8D861E3F7}"/>
              </a:ext>
            </a:extLst>
          </p:cNvPr>
          <p:cNvSpPr>
            <a:spLocks noGrp="1"/>
          </p:cNvSpPr>
          <p:nvPr/>
        </p:nvSpPr>
        <p:spPr>
          <a:xfrm>
            <a:off x="658368" y="2774290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특징만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7379BC-45EE-4D7D-9B31-98C215A0B89C}"/>
              </a:ext>
            </a:extLst>
          </p:cNvPr>
          <p:cNvSpPr>
            <a:spLocks noGrp="1"/>
          </p:cNvSpPr>
          <p:nvPr/>
        </p:nvSpPr>
        <p:spPr>
          <a:xfrm>
            <a:off x="2304288" y="2774290"/>
            <a:ext cx="17922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낮은 계산 비용 유지가 목적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249634-C08F-4183-B4FF-E37619C4294F}"/>
              </a:ext>
            </a:extLst>
          </p:cNvPr>
          <p:cNvSpPr>
            <a:spLocks noGrp="1"/>
          </p:cNvSpPr>
          <p:nvPr/>
        </p:nvSpPr>
        <p:spPr>
          <a:xfrm>
            <a:off x="4315968" y="2774290"/>
            <a:ext cx="41696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각도 판별 민감도에 한계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CED3D64-BDA0-434B-B4D8-0FC0C2F29C52}"/>
              </a:ext>
            </a:extLst>
          </p:cNvPr>
          <p:cNvSpPr>
            <a:spLocks noGrp="1"/>
          </p:cNvSpPr>
          <p:nvPr/>
        </p:nvSpPr>
        <p:spPr>
          <a:xfrm>
            <a:off x="658368" y="3242462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통제된 실험실 조건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AC9645B-FE6D-490F-BA8A-D19E7D7ED0BD}"/>
              </a:ext>
            </a:extLst>
          </p:cNvPr>
          <p:cNvSpPr>
            <a:spLocks noGrp="1"/>
          </p:cNvSpPr>
          <p:nvPr/>
        </p:nvSpPr>
        <p:spPr>
          <a:xfrm>
            <a:off x="2304288" y="3242462"/>
            <a:ext cx="17922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전극 이동·발한·장기 피로 미고려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BC4B7F2-4BE5-4669-ABB6-3E341AB5E58C}"/>
              </a:ext>
            </a:extLst>
          </p:cNvPr>
          <p:cNvSpPr>
            <a:spLocks noGrp="1"/>
          </p:cNvSpPr>
          <p:nvPr/>
        </p:nvSpPr>
        <p:spPr>
          <a:xfrm>
            <a:off x="4315968" y="3242462"/>
            <a:ext cx="41696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실사용 신호 품질 저하를 반영하지 못함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550CE67-E205-4F4A-BD08-4E57774A16D6}"/>
              </a:ext>
            </a:extLst>
          </p:cNvPr>
          <p:cNvSpPr>
            <a:spLocks noGrp="1"/>
          </p:cNvSpPr>
          <p:nvPr/>
        </p:nvSpPr>
        <p:spPr>
          <a:xfrm>
            <a:off x="548640" y="3646627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9E98D8-A277-4DE7-8910-843C1C98AA36}"/>
              </a:ext>
            </a:extLst>
          </p:cNvPr>
          <p:cNvSpPr>
            <a:spLocks noGrp="1"/>
          </p:cNvSpPr>
          <p:nvPr/>
        </p:nvSpPr>
        <p:spPr>
          <a:xfrm>
            <a:off x="658368" y="3710635"/>
            <a:ext cx="14264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고전 ML만 평가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5AD7A14-F956-4213-B796-639F82FB020B}"/>
              </a:ext>
            </a:extLst>
          </p:cNvPr>
          <p:cNvSpPr>
            <a:spLocks noGrp="1"/>
          </p:cNvSpPr>
          <p:nvPr/>
        </p:nvSpPr>
        <p:spPr>
          <a:xfrm>
            <a:off x="2304288" y="3710635"/>
            <a:ext cx="179222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딥러닝과의 직접 비교 부재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1587284-8EC3-43BA-821B-5A09D87472DC}"/>
              </a:ext>
            </a:extLst>
          </p:cNvPr>
          <p:cNvSpPr>
            <a:spLocks noGrp="1"/>
          </p:cNvSpPr>
          <p:nvPr/>
        </p:nvSpPr>
        <p:spPr>
          <a:xfrm>
            <a:off x="4315968" y="3710635"/>
            <a:ext cx="4169664" cy="3401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정확도–효율 절충을 확인할 수 없다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CD26129-732D-40C4-B41B-EFFD692ED94C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한계를 다섯 개나 명시하면 약해 보일 것 같지만, 실제로는 저자가 자기 연구의 범위를 정확히 안다는 신호로 읽힌다.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75502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B89E1-0903-4483-AC9E-4CB954C0F212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정리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75E328-D8E3-4BC3-9257-CE87BCFCD2E1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trial-wise 검증의 한계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EEF251-2D0F-4407-BE44-D915B5C74A8E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보고된 정확도를 해석하는 범위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86A9F1-B34E-4354-B7E6-96EA87248569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51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F997D5-4615-4953-8E7C-70D0A3CB291B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BF0E4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51452A-2D8D-4F37-8461-4F72E1645C09}"/>
              </a:ext>
            </a:extLst>
          </p:cNvPr>
          <p:cNvSpPr>
            <a:spLocks noGrp="1"/>
          </p:cNvSpPr>
          <p:nvPr/>
        </p:nvSpPr>
        <p:spPr>
          <a:xfrm>
            <a:off x="731520" y="1444752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15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같은 피험자의 시행이 학습셋과 테스트셋에 모두 포함될 수 있다.</a:t>
            </a:r>
            <a:endParaRPr sz="1150"/>
          </a:p>
          <a:p>
            <a:pPr marL="0" indent="0">
              <a:lnSpc>
                <a:spcPts val="1600"/>
              </a:lnSpc>
              <a:buNone/>
            </a:pPr>
            <a:r>
              <a:rPr sz="1150" b="1">
                <a:solidFill>
                  <a:srgbClr val="B5651D"/>
                </a:solidFill>
                <a:latin typeface="Malgun Gothic"/>
                <a:ea typeface="Malgun Gothic"/>
                <a:cs typeface="Malgun Gothic"/>
              </a:rPr>
              <a:t>따라서 보고된 성능은 수집 데이터셋 내부의 성능이지, 처음 보는 사람에 대한 일반화 성능이 아니다.</a:t>
            </a:r>
            <a:endParaRPr sz="11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6EAF851-7077-46B0-BA19-BDA36F067A57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BD958A-FE73-4DA7-BD5C-98968C59FBD7}"/>
              </a:ext>
            </a:extLst>
          </p:cNvPr>
          <p:cNvSpPr>
            <a:spLocks noGrp="1"/>
          </p:cNvSpPr>
          <p:nvPr/>
        </p:nvSpPr>
        <p:spPr>
          <a:xfrm>
            <a:off x="731520" y="23957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논문의 trial-wise 평가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2A2222-0D69-4826-AE8C-47DA373C4006}"/>
              </a:ext>
            </a:extLst>
          </p:cNvPr>
          <p:cNvSpPr>
            <a:spLocks noGrp="1"/>
          </p:cNvSpPr>
          <p:nvPr/>
        </p:nvSpPr>
        <p:spPr>
          <a:xfrm>
            <a:off x="731520" y="27249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시행(trial) 단위로 무작위 분할한다.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같은 피험자가 서로 다른 폴드에 포함될 수 있다.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Table 4는 5-fold 예측의 피험자별 집계이다.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 독립 일반화의 근거는 아니다.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E32D63-E70E-4D6C-B9BC-478DDBF5349D}"/>
              </a:ext>
            </a:extLst>
          </p:cNvPr>
          <p:cNvSpPr>
            <a:spLocks noGrp="1"/>
          </p:cNvSpPr>
          <p:nvPr/>
        </p:nvSpPr>
        <p:spPr>
          <a:xfrm>
            <a:off x="4663440" y="228600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DA6710C-03EF-4824-A32D-1956A4FEF4EC}"/>
              </a:ext>
            </a:extLst>
          </p:cNvPr>
          <p:cNvSpPr>
            <a:spLocks noGrp="1"/>
          </p:cNvSpPr>
          <p:nvPr/>
        </p:nvSpPr>
        <p:spPr>
          <a:xfrm>
            <a:off x="4846320" y="23957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향후 과제: LOSO 검증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0266CF-55A8-4AA1-87B9-835F3DA48A9F}"/>
              </a:ext>
            </a:extLst>
          </p:cNvPr>
          <p:cNvSpPr>
            <a:spLocks noGrp="1"/>
          </p:cNvSpPr>
          <p:nvPr/>
        </p:nvSpPr>
        <p:spPr>
          <a:xfrm>
            <a:off x="4846320" y="2724912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LOSO: 한 피험자를 제외하고 학습한 뒤 평가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평가 대상 피험자를 바꾸어 반복한다.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 Discussion이 제안한 피험자 독립 검증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이 논문에는 LOSO 결과가 제시되지 않았다.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17ACAE2-70C7-4E47-9230-654F50840D10}"/>
              </a:ext>
            </a:extLst>
          </p:cNvPr>
          <p:cNvSpPr>
            <a:spLocks noGrp="1"/>
          </p:cNvSpPr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논문의 trial-wise 결과와 향후 LOSO 평가를 구분하고, 분할 단위와 피험자 공유 가능성을 명시한다.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376959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3EC093-C016-448E-8DAF-C82D6BBC41F8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PART 4 · 정리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D625B-F8F3-4E03-9400-8DB456C9CE63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향후 연구 방향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84FF94-8C7F-4A92-B54E-0DCEF91FCC77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논문이 남긴 다음 과제들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28CC20-DFD3-415A-AB25-549FE5597C43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52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4F3F7C6-713F-47A6-9D6D-66E4C7202BF9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5A3ADD-04FC-46E7-8BF2-7F1C8FB38E26}"/>
              </a:ext>
            </a:extLst>
          </p:cNvPr>
          <p:cNvSpPr>
            <a:spLocks noGrp="1"/>
          </p:cNvSpPr>
          <p:nvPr/>
        </p:nvSpPr>
        <p:spPr>
          <a:xfrm>
            <a:off x="548640" y="1435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방향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41C5A6-216D-412F-9F72-D6DEA79A4276}"/>
              </a:ext>
            </a:extLst>
          </p:cNvPr>
          <p:cNvSpPr>
            <a:spLocks noGrp="1"/>
          </p:cNvSpPr>
          <p:nvPr/>
        </p:nvSpPr>
        <p:spPr>
          <a:xfrm>
            <a:off x="2194560" y="137160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9C2B91-8CC2-4167-B24E-7E974EA65725}"/>
              </a:ext>
            </a:extLst>
          </p:cNvPr>
          <p:cNvSpPr>
            <a:spLocks noGrp="1"/>
          </p:cNvSpPr>
          <p:nvPr/>
        </p:nvSpPr>
        <p:spPr>
          <a:xfrm>
            <a:off x="2194560" y="1435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51468C-D22C-48EA-91B1-7B3ED3CB3017}"/>
              </a:ext>
            </a:extLst>
          </p:cNvPr>
          <p:cNvSpPr>
            <a:spLocks noGrp="1"/>
          </p:cNvSpPr>
          <p:nvPr/>
        </p:nvSpPr>
        <p:spPr>
          <a:xfrm>
            <a:off x="4297680" y="1371600"/>
            <a:ext cx="42062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FA2289-185A-4E12-B510-2BDD5D904242}"/>
              </a:ext>
            </a:extLst>
          </p:cNvPr>
          <p:cNvSpPr>
            <a:spLocks noGrp="1"/>
          </p:cNvSpPr>
          <p:nvPr/>
        </p:nvSpPr>
        <p:spPr>
          <a:xfrm>
            <a:off x="4297680" y="143560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기대 효과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792B36E-5DEC-466E-A85F-D3C717FAE8B1}"/>
              </a:ext>
            </a:extLst>
          </p:cNvPr>
          <p:cNvSpPr>
            <a:spLocks noGrp="1"/>
          </p:cNvSpPr>
          <p:nvPr/>
        </p:nvSpPr>
        <p:spPr>
          <a:xfrm>
            <a:off x="548640" y="1773936"/>
            <a:ext cx="795528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7E1515-1712-4494-885F-68B231B13B44}"/>
              </a:ext>
            </a:extLst>
          </p:cNvPr>
          <p:cNvSpPr>
            <a:spLocks noGrp="1"/>
          </p:cNvSpPr>
          <p:nvPr/>
        </p:nvSpPr>
        <p:spPr>
          <a:xfrm>
            <a:off x="658368" y="1837944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 확대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6FB00F-6D66-4D23-A04C-A387C5474A8B}"/>
              </a:ext>
            </a:extLst>
          </p:cNvPr>
          <p:cNvSpPr>
            <a:spLocks noGrp="1"/>
          </p:cNvSpPr>
          <p:nvPr/>
        </p:nvSpPr>
        <p:spPr>
          <a:xfrm>
            <a:off x="2304288" y="1837944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더 크고 다양한 코호트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BFB39F2-0F74-49AF-83E0-3178B5896A0A}"/>
              </a:ext>
            </a:extLst>
          </p:cNvPr>
          <p:cNvSpPr>
            <a:spLocks noGrp="1"/>
          </p:cNvSpPr>
          <p:nvPr/>
        </p:nvSpPr>
        <p:spPr>
          <a:xfrm>
            <a:off x="4407408" y="1837944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연령·해부·신체 조건 전반의 일반화 확보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CE9AB3-B8A0-4A00-97BA-ECAD5B9F0DEF}"/>
              </a:ext>
            </a:extLst>
          </p:cNvPr>
          <p:cNvSpPr>
            <a:spLocks noGrp="1"/>
          </p:cNvSpPr>
          <p:nvPr/>
        </p:nvSpPr>
        <p:spPr>
          <a:xfrm>
            <a:off x="658368" y="2228088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동적 움직임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F0AE2AE-1B1E-47CA-A763-219DD4EC805C}"/>
              </a:ext>
            </a:extLst>
          </p:cNvPr>
          <p:cNvSpPr>
            <a:spLocks noGrp="1"/>
          </p:cNvSpPr>
          <p:nvPr/>
        </p:nvSpPr>
        <p:spPr>
          <a:xfrm>
            <a:off x="2304288" y="2228088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연속적 동작과 각도로 확장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CAB0AE-150D-4D04-8EDE-8BB7916C6945}"/>
              </a:ext>
            </a:extLst>
          </p:cNvPr>
          <p:cNvSpPr>
            <a:spLocks noGrp="1"/>
          </p:cNvSpPr>
          <p:nvPr/>
        </p:nvSpPr>
        <p:spPr>
          <a:xfrm>
            <a:off x="4407408" y="2228088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실제 운동 행동에 근접</a:t>
            </a:r>
            <a:endParaRPr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9A8712-19B7-4594-874C-9C522EC8F368}"/>
              </a:ext>
            </a:extLst>
          </p:cNvPr>
          <p:cNvSpPr>
            <a:spLocks noGrp="1"/>
          </p:cNvSpPr>
          <p:nvPr/>
        </p:nvSpPr>
        <p:spPr>
          <a:xfrm>
            <a:off x="548640" y="2554224"/>
            <a:ext cx="795528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8654F5-E819-4D14-8F47-A2A8BC01D73E}"/>
              </a:ext>
            </a:extLst>
          </p:cNvPr>
          <p:cNvSpPr>
            <a:spLocks noGrp="1"/>
          </p:cNvSpPr>
          <p:nvPr/>
        </p:nvSpPr>
        <p:spPr>
          <a:xfrm>
            <a:off x="658368" y="2618232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 확장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621DC4-C0B8-424D-B8FB-B3E1845E6FE8}"/>
              </a:ext>
            </a:extLst>
          </p:cNvPr>
          <p:cNvSpPr>
            <a:spLocks noGrp="1"/>
          </p:cNvSpPr>
          <p:nvPr/>
        </p:nvSpPr>
        <p:spPr>
          <a:xfrm>
            <a:off x="2304288" y="2618232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주파수·시간–주파수 특징 추가</a:t>
            </a:r>
            <a:endParaRPr sz="1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8C9D76A-1FC4-4C09-AC74-799B69334762}"/>
              </a:ext>
            </a:extLst>
          </p:cNvPr>
          <p:cNvSpPr>
            <a:spLocks noGrp="1"/>
          </p:cNvSpPr>
          <p:nvPr/>
        </p:nvSpPr>
        <p:spPr>
          <a:xfrm>
            <a:off x="4407408" y="2618232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각도 판별 민감도 향상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B7E7648-9BBD-44CC-A07B-F892A97AEF67}"/>
              </a:ext>
            </a:extLst>
          </p:cNvPr>
          <p:cNvSpPr>
            <a:spLocks noGrp="1"/>
          </p:cNvSpPr>
          <p:nvPr/>
        </p:nvSpPr>
        <p:spPr>
          <a:xfrm>
            <a:off x="658368" y="3008376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딥러닝 비교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870E131-2D5E-4F8B-8728-BEAA0CC8EB74}"/>
              </a:ext>
            </a:extLst>
          </p:cNvPr>
          <p:cNvSpPr>
            <a:spLocks noGrp="1"/>
          </p:cNvSpPr>
          <p:nvPr/>
        </p:nvSpPr>
        <p:spPr>
          <a:xfrm>
            <a:off x="2304288" y="3008376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같은 데이터로 CNN/RNN 평가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F80B2C7-ED98-45EB-AFD6-97FF42D24474}"/>
              </a:ext>
            </a:extLst>
          </p:cNvPr>
          <p:cNvSpPr>
            <a:spLocks noGrp="1"/>
          </p:cNvSpPr>
          <p:nvPr/>
        </p:nvSpPr>
        <p:spPr>
          <a:xfrm>
            <a:off x="4407408" y="3008376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정확도–효율 절충의 정량화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5782A06-8416-4A46-A115-3632890B0E0B}"/>
              </a:ext>
            </a:extLst>
          </p:cNvPr>
          <p:cNvSpPr>
            <a:spLocks noGrp="1"/>
          </p:cNvSpPr>
          <p:nvPr/>
        </p:nvSpPr>
        <p:spPr>
          <a:xfrm>
            <a:off x="548640" y="3334512"/>
            <a:ext cx="795528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7794B0-8936-4233-B38E-DB462EF48FCB}"/>
              </a:ext>
            </a:extLst>
          </p:cNvPr>
          <p:cNvSpPr>
            <a:spLocks noGrp="1"/>
          </p:cNvSpPr>
          <p:nvPr/>
        </p:nvSpPr>
        <p:spPr>
          <a:xfrm>
            <a:off x="658368" y="3398520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LOSO 검증</a:t>
            </a:r>
            <a:endParaRPr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03902E4-DE31-4233-A7FC-6018335FF8A7}"/>
              </a:ext>
            </a:extLst>
          </p:cNvPr>
          <p:cNvSpPr>
            <a:spLocks noGrp="1"/>
          </p:cNvSpPr>
          <p:nvPr/>
        </p:nvSpPr>
        <p:spPr>
          <a:xfrm>
            <a:off x="2304288" y="3398520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피험자 독립 검증 · 더 크고 다양한 코호트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A4054C5-C5F9-481B-8E95-2041EFF02E67}"/>
              </a:ext>
            </a:extLst>
          </p:cNvPr>
          <p:cNvSpPr>
            <a:spLocks noGrp="1"/>
          </p:cNvSpPr>
          <p:nvPr/>
        </p:nvSpPr>
        <p:spPr>
          <a:xfrm>
            <a:off x="4407408" y="3398520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새 피험자에 대한 일반화 평가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26A339F-1801-40C1-9BB8-2DB099A63743}"/>
              </a:ext>
            </a:extLst>
          </p:cNvPr>
          <p:cNvSpPr>
            <a:spLocks noGrp="1"/>
          </p:cNvSpPr>
          <p:nvPr/>
        </p:nvSpPr>
        <p:spPr>
          <a:xfrm>
            <a:off x="658368" y="3788664"/>
            <a:ext cx="14264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실환경 강건성</a:t>
            </a:r>
            <a:endParaRPr sz="1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13B3B24-8896-4A2F-8701-837283740BD4}"/>
              </a:ext>
            </a:extLst>
          </p:cNvPr>
          <p:cNvSpPr>
            <a:spLocks noGrp="1"/>
          </p:cNvSpPr>
          <p:nvPr/>
        </p:nvSpPr>
        <p:spPr>
          <a:xfrm>
            <a:off x="2304288" y="3788664"/>
            <a:ext cx="188366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전극 이동·피로·환경 변동 평가</a:t>
            </a:r>
            <a:endParaRPr sz="1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138ADAB-A4A5-4B2C-8150-3F5D24357C4A}"/>
              </a:ext>
            </a:extLst>
          </p:cNvPr>
          <p:cNvSpPr>
            <a:spLocks noGrp="1"/>
          </p:cNvSpPr>
          <p:nvPr/>
        </p:nvSpPr>
        <p:spPr>
          <a:xfrm>
            <a:off x="4407408" y="3788664"/>
            <a:ext cx="3986784" cy="262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현장 적용 가능성 검증</a:t>
            </a:r>
            <a:endParaRPr sz="10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E9CE9AD-438C-43C6-B331-C88701AB3D9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이 여섯 항목이 곧 후속 논문의 목차가 된다. 좋은 논문은 다음 연구의 설계도를 함께 남긴다.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18498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12D38C-D572-4D90-A2DD-4860FC36CBFF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실습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9D09BC-2A4F-4CBA-916C-AE277344AB46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재현 실습 과제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2634A4-37CA-4AB7-9DB4-9DFBACB305C9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 명시 사항을 구현하고 추가 가정을 기록한다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C3CC25-8E8D-42F7-97F4-36D355CA2F71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53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1FAF0D-F99E-4CC1-B7DD-EC94254F0920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B14F44-2F6E-40A4-A87A-B581C14AC821}"/>
              </a:ext>
            </a:extLst>
          </p:cNvPr>
          <p:cNvSpPr>
            <a:spLocks noGrp="1"/>
          </p:cNvSpPr>
          <p:nvPr/>
        </p:nvSpPr>
        <p:spPr>
          <a:xfrm>
            <a:off x="685800" y="144475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1단계</a:t>
            </a:r>
            <a:endParaRPr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EF5A30-EDCA-42AC-BB83-66EC3083E82F}"/>
              </a:ext>
            </a:extLst>
          </p:cNvPr>
          <p:cNvSpPr>
            <a:spLocks noGrp="1"/>
          </p:cNvSpPr>
          <p:nvPr/>
        </p:nvSpPr>
        <p:spPr>
          <a:xfrm>
            <a:off x="2011680" y="144475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 준비: 피험자·시행 ID와 8클래스 라벨 확인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E4C2A4-852A-44B3-A6CA-08C2025F4AE3}"/>
              </a:ext>
            </a:extLst>
          </p:cNvPr>
          <p:cNvSpPr>
            <a:spLocks noGrp="1"/>
          </p:cNvSpPr>
          <p:nvPr/>
        </p:nvSpPr>
        <p:spPr>
          <a:xfrm>
            <a:off x="685800" y="194767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2단계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2582B5-0FE5-4EFE-BACB-F8395DC58905}"/>
              </a:ext>
            </a:extLst>
          </p:cNvPr>
          <p:cNvSpPr>
            <a:spLocks noGrp="1"/>
          </p:cNvSpPr>
          <p:nvPr/>
        </p:nvSpPr>
        <p:spPr>
          <a:xfrm>
            <a:off x="2011680" y="194767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전처리: 60 Hz 노치와 20–450 Hz 4차 Butterworth</a:t>
            </a:r>
            <a:endParaRPr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3116C0-28BE-4D5F-B1D5-4B76BAC1F03C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2358AA-8144-42B1-AD41-7CF2859019F4}"/>
              </a:ext>
            </a:extLst>
          </p:cNvPr>
          <p:cNvSpPr>
            <a:spLocks noGrp="1"/>
          </p:cNvSpPr>
          <p:nvPr/>
        </p:nvSpPr>
        <p:spPr>
          <a:xfrm>
            <a:off x="685800" y="245059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3단계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327FEE6-BBF8-47E2-8B29-A1B3F14879BF}"/>
              </a:ext>
            </a:extLst>
          </p:cNvPr>
          <p:cNvSpPr>
            <a:spLocks noGrp="1"/>
          </p:cNvSpPr>
          <p:nvPr/>
        </p:nvSpPr>
        <p:spPr>
          <a:xfrm>
            <a:off x="2011680" y="245059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특징: 200 ms·50% 오버랩, 윈도우당 25차원 계산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F2C14F-C829-4C72-B601-5473E64BF86B}"/>
              </a:ext>
            </a:extLst>
          </p:cNvPr>
          <p:cNvSpPr>
            <a:spLocks noGrp="1"/>
          </p:cNvSpPr>
          <p:nvPr/>
        </p:nvSpPr>
        <p:spPr>
          <a:xfrm>
            <a:off x="685800" y="295351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4단계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F0BF13E-B545-4D9D-A42B-516EC7C0CE73}"/>
              </a:ext>
            </a:extLst>
          </p:cNvPr>
          <p:cNvSpPr>
            <a:spLocks noGrp="1"/>
          </p:cNvSpPr>
          <p:nvPr/>
        </p:nvSpPr>
        <p:spPr>
          <a:xfrm>
            <a:off x="2011680" y="295351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모델: StandardScaler 표준화 후 SVM · RF · XGBoost 비교</a:t>
            </a:r>
            <a:endParaRPr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672047-6ECA-4779-A990-C4CBFB3C0860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1A2566-0960-4B12-AC1A-C8BF9EEA552A}"/>
              </a:ext>
            </a:extLst>
          </p:cNvPr>
          <p:cNvSpPr>
            <a:spLocks noGrp="1"/>
          </p:cNvSpPr>
          <p:nvPr/>
        </p:nvSpPr>
        <p:spPr>
          <a:xfrm>
            <a:off x="685800" y="345643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5단계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F6B0EA2-B7F0-4032-9B14-9279E3689BF0}"/>
              </a:ext>
            </a:extLst>
          </p:cNvPr>
          <p:cNvSpPr>
            <a:spLocks noGrp="1"/>
          </p:cNvSpPr>
          <p:nvPr/>
        </p:nvSpPr>
        <p:spPr>
          <a:xfrm>
            <a:off x="2011680" y="345643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검증: trial-wise hold-out / 5-fold 조건과 한계 기록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BEBE3F-5364-4FE2-9C53-46F24A2C3B3F}"/>
              </a:ext>
            </a:extLst>
          </p:cNvPr>
          <p:cNvSpPr>
            <a:spLocks noGrp="1"/>
          </p:cNvSpPr>
          <p:nvPr/>
        </p:nvSpPr>
        <p:spPr>
          <a:xfrm>
            <a:off x="685800" y="3959352"/>
            <a:ext cx="118872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6단계</a:t>
            </a:r>
            <a:endParaRPr sz="1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B82C9A-9CEB-41D1-9EA5-7612333559FD}"/>
              </a:ext>
            </a:extLst>
          </p:cNvPr>
          <p:cNvSpPr>
            <a:spLocks noGrp="1"/>
          </p:cNvSpPr>
          <p:nvPr/>
        </p:nvSpPr>
        <p:spPr>
          <a:xfrm>
            <a:off x="2011680" y="3959352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분석: 논문 보고값과 직접 실행 결과를 구분해 비교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709083-D7A0-42D1-BB40-AE741250BCA5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논문에 없는 구간 시작점·입력 표본 구성·표준화 fit 범위는 재현 가정으로 기록하고 원자료와 함께 확인한다.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078668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1C072C-3AC2-45AA-90BD-8461F2CEED89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실습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9CD960-620B-4EFA-B3E5-B3BD4EF7C946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심화 도전 과제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D2C12D-091E-450F-A31F-E9B701CB7A0D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논문의 향후 방향과 수업용 추가 실험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D529B6-7A5B-4F24-8460-66DC11C0725F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54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2948AD-D2C1-4EB6-A045-F0E0F6C0FE40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731925-4295-4157-ADE7-F8C17F50B4B5}"/>
              </a:ext>
            </a:extLst>
          </p:cNvPr>
          <p:cNvSpPr>
            <a:spLocks noGrp="1"/>
          </p:cNvSpPr>
          <p:nvPr/>
        </p:nvSpPr>
        <p:spPr>
          <a:xfrm>
            <a:off x="731520" y="14904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LOSO 검증</a:t>
            </a:r>
            <a:endParaRPr sz="10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94BEB5-BE4F-4F54-8CFB-58CD942471AF}"/>
              </a:ext>
            </a:extLst>
          </p:cNvPr>
          <p:cNvSpPr>
            <a:spLocks noGrp="1"/>
          </p:cNvSpPr>
          <p:nvPr/>
        </p:nvSpPr>
        <p:spPr>
          <a:xfrm>
            <a:off x="2560320" y="14996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한 피험자를 제외하고 학습·평가를 반복해 새 피험자 성능 측정</a:t>
            </a:r>
            <a:endParaRPr sz="9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9EADCE-0B75-47A2-B137-CD69C008F3FE}"/>
              </a:ext>
            </a:extLst>
          </p:cNvPr>
          <p:cNvSpPr>
            <a:spLocks noGrp="1"/>
          </p:cNvSpPr>
          <p:nvPr/>
        </p:nvSpPr>
        <p:spPr>
          <a:xfrm>
            <a:off x="7498080" y="14996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★★★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7A1F42A-F1FB-4B4F-AE52-8E8F608F2A92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68926B-1E7D-4488-B2ED-B7599830095C}"/>
              </a:ext>
            </a:extLst>
          </p:cNvPr>
          <p:cNvSpPr>
            <a:spLocks noGrp="1"/>
          </p:cNvSpPr>
          <p:nvPr/>
        </p:nvSpPr>
        <p:spPr>
          <a:xfrm>
            <a:off x="731520" y="20391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주파수 특징 추가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B483DB-7843-4D6B-8775-C59C492C6634}"/>
              </a:ext>
            </a:extLst>
          </p:cNvPr>
          <p:cNvSpPr>
            <a:spLocks noGrp="1"/>
          </p:cNvSpPr>
          <p:nvPr/>
        </p:nvSpPr>
        <p:spPr>
          <a:xfrm>
            <a:off x="2560320" y="204825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MNF·MDF를 특징에 넣고 각도 오분류가 줄어드는지 측정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F5C52C-61AD-43DC-B818-B5C784DABDFC}"/>
              </a:ext>
            </a:extLst>
          </p:cNvPr>
          <p:cNvSpPr>
            <a:spLocks noGrp="1"/>
          </p:cNvSpPr>
          <p:nvPr/>
        </p:nvSpPr>
        <p:spPr>
          <a:xfrm>
            <a:off x="7498080" y="20482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F0CB787-55BB-4965-AC0B-2A6BB1475272}"/>
              </a:ext>
            </a:extLst>
          </p:cNvPr>
          <p:cNvSpPr>
            <a:spLocks noGrp="1"/>
          </p:cNvSpPr>
          <p:nvPr/>
        </p:nvSpPr>
        <p:spPr>
          <a:xfrm>
            <a:off x="548640" y="246888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898C0E-E500-4E62-B1BD-0FBAA484346A}"/>
              </a:ext>
            </a:extLst>
          </p:cNvPr>
          <p:cNvSpPr>
            <a:spLocks noGrp="1"/>
          </p:cNvSpPr>
          <p:nvPr/>
        </p:nvSpPr>
        <p:spPr>
          <a:xfrm>
            <a:off x="731520" y="25877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채널 어블레이션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D47107-7911-4B37-B2B2-F1B1A0DE39ED}"/>
              </a:ext>
            </a:extLst>
          </p:cNvPr>
          <p:cNvSpPr>
            <a:spLocks noGrp="1"/>
          </p:cNvSpPr>
          <p:nvPr/>
        </p:nvSpPr>
        <p:spPr>
          <a:xfrm>
            <a:off x="2560320" y="25968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상완 2채널을 제외했을 때 각도 분류 성능 변화를 측정</a:t>
            </a:r>
            <a:endParaRPr sz="9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8DE569-4E95-441F-994F-503CFEC196DA}"/>
              </a:ext>
            </a:extLst>
          </p:cNvPr>
          <p:cNvSpPr>
            <a:spLocks noGrp="1"/>
          </p:cNvSpPr>
          <p:nvPr/>
        </p:nvSpPr>
        <p:spPr>
          <a:xfrm>
            <a:off x="7498080" y="25968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16F5F86-4B9C-4243-AB32-5076E2F9AF64}"/>
              </a:ext>
            </a:extLst>
          </p:cNvPr>
          <p:cNvSpPr>
            <a:spLocks noGrp="1"/>
          </p:cNvSpPr>
          <p:nvPr/>
        </p:nvSpPr>
        <p:spPr>
          <a:xfrm>
            <a:off x="548640" y="301752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E07E87-E345-4FF9-B9BA-09B2D372032B}"/>
              </a:ext>
            </a:extLst>
          </p:cNvPr>
          <p:cNvSpPr>
            <a:spLocks noGrp="1"/>
          </p:cNvSpPr>
          <p:nvPr/>
        </p:nvSpPr>
        <p:spPr>
          <a:xfrm>
            <a:off x="731520" y="31363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딥러닝 비교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32ACA2-7667-4287-9527-93E3A951BD3A}"/>
              </a:ext>
            </a:extLst>
          </p:cNvPr>
          <p:cNvSpPr>
            <a:spLocks noGrp="1"/>
          </p:cNvSpPr>
          <p:nvPr/>
        </p:nvSpPr>
        <p:spPr>
          <a:xfrm>
            <a:off x="2560320" y="3145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1D-CNN을 추가해 정확도와 학습 시간을 함께 비교</a:t>
            </a:r>
            <a:endParaRPr sz="9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8C8A23B-41E9-4752-89F5-0D9A9D83A972}"/>
              </a:ext>
            </a:extLst>
          </p:cNvPr>
          <p:cNvSpPr>
            <a:spLocks noGrp="1"/>
          </p:cNvSpPr>
          <p:nvPr/>
        </p:nvSpPr>
        <p:spPr>
          <a:xfrm>
            <a:off x="7498080" y="31455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★★★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B27850B-2C44-4CD7-AC13-DCD23A0EDD81}"/>
              </a:ext>
            </a:extLst>
          </p:cNvPr>
          <p:cNvSpPr>
            <a:spLocks noGrp="1"/>
          </p:cNvSpPr>
          <p:nvPr/>
        </p:nvSpPr>
        <p:spPr>
          <a:xfrm>
            <a:off x="548640" y="356616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DF7925-51D6-4B02-A376-6EBF18FEE0BB}"/>
              </a:ext>
            </a:extLst>
          </p:cNvPr>
          <p:cNvSpPr>
            <a:spLocks noGrp="1"/>
          </p:cNvSpPr>
          <p:nvPr/>
        </p:nvSpPr>
        <p:spPr>
          <a:xfrm>
            <a:off x="731520" y="368503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계층적 분류</a:t>
            </a:r>
            <a:endParaRPr sz="10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61D57B6-9EC9-49F4-B1C1-CDB175458F19}"/>
              </a:ext>
            </a:extLst>
          </p:cNvPr>
          <p:cNvSpPr>
            <a:spLocks noGrp="1"/>
          </p:cNvSpPr>
          <p:nvPr/>
        </p:nvSpPr>
        <p:spPr>
          <a:xfrm>
            <a:off x="2560320" y="36941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동작과 각도를 두 단계로 나눠 예측하고 8클래스 단일 분류와 비교</a:t>
            </a:r>
            <a:endParaRPr sz="9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07EE461-8B33-4F82-AD4B-CE6DBC823D60}"/>
              </a:ext>
            </a:extLst>
          </p:cNvPr>
          <p:cNvSpPr>
            <a:spLocks noGrp="1"/>
          </p:cNvSpPr>
          <p:nvPr/>
        </p:nvSpPr>
        <p:spPr>
          <a:xfrm>
            <a:off x="7498080" y="36941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★★★</a:t>
            </a:r>
            <a:endParaRPr sz="9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E7937B7-75AF-4ABB-B1C6-4C514DAAC8DF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8046720" cy="493776"/>
          </a:xfrm>
          <a:prstGeom prst="roundRect">
            <a:avLst>
              <a:gd name="adj" fmla="val 11111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8A1DDD9-7ACE-4DDA-B7B9-DA5A2E960540}"/>
              </a:ext>
            </a:extLst>
          </p:cNvPr>
          <p:cNvSpPr>
            <a:spLocks noGrp="1"/>
          </p:cNvSpPr>
          <p:nvPr/>
        </p:nvSpPr>
        <p:spPr>
          <a:xfrm>
            <a:off x="731520" y="42336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윈도우 길이 실험</a:t>
            </a:r>
            <a:endParaRPr sz="10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1BF1F32-0102-4B55-93FD-5954492954EB}"/>
              </a:ext>
            </a:extLst>
          </p:cNvPr>
          <p:cNvSpPr>
            <a:spLocks noGrp="1"/>
          </p:cNvSpPr>
          <p:nvPr/>
        </p:nvSpPr>
        <p:spPr>
          <a:xfrm>
            <a:off x="2560320" y="42428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100 / 200 / 300 ms에 따른 성능과 지연의 절충 분석</a:t>
            </a:r>
            <a:endParaRPr sz="9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7F5F4BA-5D58-4EF7-AC0A-E0C9CD7C2DEF}"/>
              </a:ext>
            </a:extLst>
          </p:cNvPr>
          <p:cNvSpPr>
            <a:spLocks noGrp="1"/>
          </p:cNvSpPr>
          <p:nvPr/>
        </p:nvSpPr>
        <p:spPr>
          <a:xfrm>
            <a:off x="7498080" y="4242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난이도 ★★</a:t>
            </a:r>
            <a:endParaRPr sz="9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7EFC4B-04A5-4572-B7F0-C67ACB4F698C}"/>
              </a:ext>
            </a:extLst>
          </p:cNvPr>
          <p:cNvSpPr>
            <a:spLocks noGrp="1"/>
          </p:cNvSpPr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LOSO·특징 확장·딥러닝 비교는 논문의 향후 방향이다. 채널·계층적 분류·윈도우 실험은 수업용 확장이다.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6245174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F07E66-615A-4834-986C-F2EA4BDB0C97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마무리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8EB68D-0621-4E2C-B663-1B8135463B7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Step 2 체크리스트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3B9E6E-C4E0-448D-B09F-BFE7D8A31D9B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제출 전 스스로 확인할 것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C49B8A-82E5-4BCD-A4BF-CE42DAA2EA7F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55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6D262E-457F-459B-9CEF-35B40C3E4997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8046720" cy="2788920"/>
          </a:xfrm>
          <a:prstGeom prst="roundRect">
            <a:avLst>
              <a:gd name="adj" fmla="val 1967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5E414E-7A35-4E72-A766-4E434F6B4B86}"/>
              </a:ext>
            </a:extLst>
          </p:cNvPr>
          <p:cNvSpPr>
            <a:spLocks noGrp="1"/>
          </p:cNvSpPr>
          <p:nvPr/>
        </p:nvSpPr>
        <p:spPr>
          <a:xfrm>
            <a:off x="731520" y="144475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제출 전 확인 사항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7A16BF-46DE-48A1-8A89-D30D0023CF32}"/>
              </a:ext>
            </a:extLst>
          </p:cNvPr>
          <p:cNvSpPr>
            <a:spLocks noGrp="1"/>
          </p:cNvSpPr>
          <p:nvPr/>
        </p:nvSpPr>
        <p:spPr>
          <a:xfrm>
            <a:off x="731520" y="1773936"/>
            <a:ext cx="7680960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8클래스 구성과 채널 배치의 대응 관계를 설명할 수 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윈도우당 5특징 × 5채널 = 25D 계산을 설명할 수 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ZC의 th=0.01과 SSC 식의 차이를 반영했는가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표준화 fit 범위를 실습 가정으로 기록하고 학습셋에만 적용했는가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세 모델의 hold-out과 5-fold 결과를 같은 조건에서 비교했는가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통계적으로 유의하지 않음을 동등성으로 해석하지 않았는가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논문 보고값·직접 계산값·재현 가정을 구분했는가</a:t>
            </a:r>
            <a:endParaRPr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trial-wise의 한계와 향후 LOSO 검증을 구분했는가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177645-FF0E-44DB-B061-B2D0199AE55A}"/>
              </a:ext>
            </a:extLst>
          </p:cNvPr>
          <p:cNvSpPr>
            <a:spLocks noGrp="1"/>
          </p:cNvSpPr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가장 흔한 과대해석: 96%라는 수치를 처음 보는 사람에게도 작동한다는 근거로 쓰는 것. 그렇지 않다.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100315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F51882-1341-42D8-9E11-C262463CE001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spc="1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2 · 마무리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7DE887-776E-48AB-865E-D24C1AD8A3BA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정리와 다음 단계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45513B-654D-46A9-83EB-85ECC9BC2119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Step 3으로 넘어가기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2AA235-0876-44C6-B575-A21EFD366D7A}"/>
              </a:ext>
            </a:extLst>
          </p:cNvPr>
          <p:cNvSpPr>
            <a:spLocks noGrp="1"/>
          </p:cNvSpPr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56</a:t>
            </a:r>
            <a:endParaRPr sz="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82F246-A636-47D9-B4B1-DA2592FBE9F7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4937760" cy="2331720"/>
          </a:xfrm>
          <a:prstGeom prst="roundRect">
            <a:avLst>
              <a:gd name="adj" fmla="val 2353"/>
            </a:avLst>
          </a:prstGeom>
          <a:solidFill>
            <a:srgbClr val="F2F5F7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9DFF9B-905E-4719-830B-B085B3ECF674}"/>
              </a:ext>
            </a:extLst>
          </p:cNvPr>
          <p:cNvSpPr>
            <a:spLocks noGrp="1"/>
          </p:cNvSpPr>
          <p:nvPr/>
        </p:nvSpPr>
        <p:spPr>
          <a:xfrm>
            <a:off x="731520" y="14447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Step 2에서 익힌 것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7D9B9A-599B-484C-8B09-CB2CB7AA3D4B}"/>
              </a:ext>
            </a:extLst>
          </p:cNvPr>
          <p:cNvSpPr>
            <a:spLocks noGrp="1"/>
          </p:cNvSpPr>
          <p:nvPr/>
        </p:nvSpPr>
        <p:spPr>
          <a:xfrm>
            <a:off x="731520" y="1755648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다차원 의도를 하나의 클래스 집합으로 설계하는 방법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시간영역 특징 5종의 구현과 차원 계산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SVM · RF · XGBoost의 원리와 하이퍼파라미터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hold-out과 층화 교차검증의 역할 분담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통계 검정으로 성능 차이를 판단하는 절차</a:t>
            </a:r>
            <a:endParaRPr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분할 단위가 결과 해석을 좌우한다는 원칙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E8ED6B-D231-4E17-B9EB-C3DD5B116A2A}"/>
              </a:ext>
            </a:extLst>
          </p:cNvPr>
          <p:cNvSpPr>
            <a:spLocks noGrp="1"/>
          </p:cNvSpPr>
          <p:nvPr/>
        </p:nvSpPr>
        <p:spPr>
          <a:xfrm>
            <a:off x="5760720" y="1325880"/>
            <a:ext cx="2834640" cy="2331720"/>
          </a:xfrm>
          <a:prstGeom prst="roundRect">
            <a:avLst>
              <a:gd name="adj" fmla="val 2353"/>
            </a:avLst>
          </a:prstGeom>
          <a:solidFill>
            <a:srgbClr val="E3EFF3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6DFC6D0-220B-42F4-9A7E-87F1EF6E1E27}"/>
              </a:ext>
            </a:extLst>
          </p:cNvPr>
          <p:cNvSpPr>
            <a:spLocks noGrp="1"/>
          </p:cNvSpPr>
          <p:nvPr/>
        </p:nvSpPr>
        <p:spPr>
          <a:xfrm>
            <a:off x="5943600" y="144475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Step 3으로 이어지는 것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F99A71-5442-4F8D-8B18-063CB31E5101}"/>
              </a:ext>
            </a:extLst>
          </p:cNvPr>
          <p:cNvSpPr>
            <a:spLocks noGrp="1"/>
          </p:cNvSpPr>
          <p:nvPr/>
        </p:nvSpPr>
        <p:spPr>
          <a:xfrm>
            <a:off x="5943600" y="1755648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데이터 누수 방지 원칙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어블레이션 실험 설계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혼동행렬 기반 오류 분석</a:t>
            </a:r>
            <a:endParaRPr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0B2545"/>
                </a:solidFill>
                <a:latin typeface="Malgun Gothic"/>
                <a:ea typeface="Malgun Gothic"/>
                <a:cs typeface="Malgun Gothic"/>
              </a:rPr>
              <a:t>계산 비용까지 함께 보고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FD9799B-6F0F-4C5D-AE82-50229DA5D12E}"/>
              </a:ext>
            </a:extLst>
          </p:cNvPr>
          <p:cNvSpPr>
            <a:spLocks noGrp="1"/>
          </p:cNvSpPr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EBFEB7-026D-4681-9D37-CAAA65E29EA9}"/>
              </a:ext>
            </a:extLst>
          </p:cNvPr>
          <p:cNvSpPr>
            <a:spLocks noGrp="1"/>
          </p:cNvSpPr>
          <p:nvPr/>
        </p:nvSpPr>
        <p:spPr>
          <a:xfrm>
            <a:off x="777240" y="3950208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3 예고 — 건설현장 크랙 탐지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4FB921-05AD-493F-B209-0FE12FB39978}"/>
              </a:ext>
            </a:extLst>
          </p:cNvPr>
          <p:cNvSpPr>
            <a:spLocks noGrp="1"/>
          </p:cNvSpPr>
          <p:nvPr/>
        </p:nvSpPr>
        <p:spPr>
          <a:xfrm>
            <a:off x="777240" y="425196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B8CBD6"/>
                </a:solidFill>
                <a:latin typeface="Malgun Gothic"/>
                <a:ea typeface="Malgun Gothic"/>
                <a:cs typeface="Malgun Gothic"/>
              </a:rPr>
              <a:t>생체신호를 떠나 이미지로. 시계열에서 익힌 전처리·분할·평가의 원칙이 컴퓨터 비전에서 어떻게 다시 나타나는지 확인한다.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787541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871;p8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3820" cy="5143230"/>
          </a:xfrm>
          <a:prstGeom prst="rect">
            <a:avLst/>
          </a:prstGeom>
          <a:ln>
            <a:noFill/>
          </a:ln>
        </p:spPr>
      </p:pic>
      <p:sp>
        <p:nvSpPr>
          <p:cNvPr id="140" name="CustomShape 1">
            <a:extLst>
              <a:ext uri="{FF2B5EF4-FFF2-40B4-BE49-F238E27FC236}">
                <a16:creationId xmlns:a16="http://schemas.microsoft.com/office/drawing/2014/main" id="{0877C4FB-95EF-23EC-F478-7A00E0331363}"/>
              </a:ext>
            </a:extLst>
          </p:cNvPr>
          <p:cNvSpPr>
            <a:spLocks noGrp="1"/>
          </p:cNvSpPr>
          <p:nvPr/>
        </p:nvSpPr>
        <p:spPr>
          <a:xfrm>
            <a:off x="3800266" y="1220966"/>
            <a:ext cx="5219910" cy="707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530" tIns="45630" rIns="91530" bIns="45630"/>
          <a:lstStyle/>
          <a:p>
            <a:pPr algn="ctr">
              <a:lnSpc>
                <a:spcPct val="100000"/>
              </a:lnSpc>
              <a:buNone/>
            </a:pPr>
            <a:r>
              <a:rPr sz="4005" b="1" spc="-1">
                <a:solidFill>
                  <a:srgbClr val="FFFFFF"/>
                </a:solidFill>
                <a:latin typeface="HY견고딕"/>
                <a:ea typeface="HY견고딕"/>
                <a:cs typeface="HY견고딕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013E9-8E74-7C2D-60BA-34BEA517D45F}"/>
              </a:ext>
            </a:extLst>
          </p:cNvPr>
          <p:cNvSpPr>
            <a:spLocks noGrp="1"/>
          </p:cNvSpPr>
          <p:nvPr/>
        </p:nvSpPr>
        <p:spPr>
          <a:xfrm>
            <a:off x="4770436" y="3876675"/>
            <a:ext cx="358457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bg1"/>
                </a:solidFill>
                <a:hlinkClick r:id="rId4"/>
              </a:rPr>
              <a:t>Http://dil.cu.ac.kr/</a:t>
            </a:r>
            <a:r>
              <a:rPr sz="1350">
                <a:solidFill>
                  <a:schemeClr val="bg1"/>
                </a:solidFill>
              </a:rPr>
              <a:t> 데이터 지능 연구실</a:t>
            </a:r>
          </a:p>
        </p:txBody>
      </p:sp>
      <p:pic>
        <p:nvPicPr>
          <p:cNvPr id="146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975" y="2037364"/>
            <a:ext cx="3619499" cy="181230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E24B2-CE09-C44F-9363-2B82CBF01D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21040" y="4709160"/>
            <a:ext cx="365760" cy="228600"/>
          </a:xfrm>
        </p:spPr>
        <p:txBody>
          <a:bodyPr/>
          <a:lstStyle/>
          <a:p>
            <a:pPr>
              <a:defRPr sz="9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fld id="{7095D6D1-097E-45BD-BB54-88CCC5BD276E}" type="slidenum">
              <a:rPr sz="9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506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5740</Words>
  <Application>Microsoft Office PowerPoint</Application>
  <DocSecurity>0</DocSecurity>
  <PresentationFormat>화면 슬라이드 쇼(16:9)</PresentationFormat>
  <Paragraphs>1126</Paragraphs>
  <Slides>57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HY견고딕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2026-10-06T06:30:34Z</dcterms:created>
  <dcterms:modified xsi:type="dcterms:W3CDTF">2026-10-06T07:25:09Z</dcterms:modified>
</cp:coreProperties>
</file>